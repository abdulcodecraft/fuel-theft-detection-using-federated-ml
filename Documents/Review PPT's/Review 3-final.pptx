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4"/>
  </p:notesMasterIdLst>
  <p:sldIdLst>
    <p:sldId id="274" r:id="rId2"/>
    <p:sldId id="328" r:id="rId3"/>
    <p:sldId id="301" r:id="rId4"/>
    <p:sldId id="302" r:id="rId5"/>
    <p:sldId id="329" r:id="rId6"/>
    <p:sldId id="330" r:id="rId7"/>
    <p:sldId id="354" r:id="rId8"/>
    <p:sldId id="331" r:id="rId9"/>
    <p:sldId id="338" r:id="rId10"/>
    <p:sldId id="332" r:id="rId11"/>
    <p:sldId id="343" r:id="rId12"/>
    <p:sldId id="355" r:id="rId13"/>
    <p:sldId id="339" r:id="rId14"/>
    <p:sldId id="333" r:id="rId15"/>
    <p:sldId id="337" r:id="rId16"/>
    <p:sldId id="356" r:id="rId17"/>
    <p:sldId id="334" r:id="rId18"/>
    <p:sldId id="346" r:id="rId19"/>
    <p:sldId id="357" r:id="rId20"/>
    <p:sldId id="353" r:id="rId21"/>
    <p:sldId id="336" r:id="rId22"/>
    <p:sldId id="33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24" autoAdjust="0"/>
  </p:normalViewPr>
  <p:slideViewPr>
    <p:cSldViewPr showGuides="1">
      <p:cViewPr varScale="1">
        <p:scale>
          <a:sx n="75" d="100"/>
          <a:sy n="75" d="100"/>
        </p:scale>
        <p:origin x="893" y="43"/>
      </p:cViewPr>
      <p:guideLst>
        <p:guide orient="horz" pos="2160"/>
        <p:guide pos="3840"/>
      </p:guideLst>
    </p:cSldViewPr>
  </p:slideViewPr>
  <p:outlineViewPr>
    <p:cViewPr>
      <p:scale>
        <a:sx n="33" d="100"/>
        <a:sy n="33" d="100"/>
      </p:scale>
      <p:origin x="0" y="628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F18F4-4478-476C-92A9-11F1BF174B06}"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F1FD7-3F19-4D08-9235-8C3EFB5EBC0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24933317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0911202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5397799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69478233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AI: Chapter 4: Informed Search and Exploration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30619767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AI: Chapter 4: Informed Search and Exploration</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09132306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AI: Chapter 4: Informed Search and Exploration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880922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86839717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3002887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59338156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97019594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AI: Chapter 4: Informed Search and Exploration</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dirty="0"/>
          </a:p>
        </p:txBody>
      </p:sp>
    </p:spTree>
    <p:extLst>
      <p:ext uri="{BB962C8B-B14F-4D97-AF65-F5344CB8AC3E}">
        <p14:creationId xmlns:p14="http://schemas.microsoft.com/office/powerpoint/2010/main" val="38588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p:bld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1322179"/>
          </a:xfrm>
        </p:spPr>
        <p:txBody>
          <a:bodyPr>
            <a:noAutofit/>
          </a:bodyPr>
          <a:lstStyle/>
          <a:p>
            <a:pPr algn="ctr"/>
            <a:br>
              <a:rPr lang="en-US" sz="6600" b="1" dirty="0">
                <a:latin typeface="CommercialScript BT" panose="03030803040807090C04" pitchFamily="66" charset="2"/>
                <a:cs typeface="Times New Roman" panose="02020603050405020304" pitchFamily="18" charset="0"/>
              </a:rPr>
            </a:br>
            <a:r>
              <a:rPr lang="en-US" sz="6600" b="1" dirty="0">
                <a:latin typeface="CommercialScript BT" panose="03030803040807090C04" pitchFamily="66" charset="2"/>
                <a:cs typeface="Times New Roman" panose="02020603050405020304" pitchFamily="18" charset="0"/>
              </a:rPr>
              <a:t>   </a:t>
            </a:r>
            <a:r>
              <a:rPr lang="en-US" b="1" dirty="0">
                <a:latin typeface="Commercial Script Com" panose="02000503020000020002" pitchFamily="2" charset="0"/>
                <a:cs typeface="Times New Roman" panose="02020603050405020304" pitchFamily="18" charset="0"/>
              </a:rPr>
              <a:t>Loyola</a:t>
            </a:r>
            <a:r>
              <a:rPr lang="en-US" b="1"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Institute of Technology    and Science</a:t>
            </a:r>
            <a:br>
              <a:rPr lang="en-US" sz="3800" dirty="0"/>
            </a:br>
            <a:endParaRPr lang="en-US" sz="3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81200" y="3124200"/>
            <a:ext cx="8229600" cy="1752600"/>
          </a:xfrm>
        </p:spPr>
        <p:txBody>
          <a:bodyPr>
            <a:normAutofit/>
          </a:bodyPr>
          <a:lstStyle/>
          <a:p>
            <a:pPr algn="ctr">
              <a:buNone/>
            </a:pPr>
            <a:r>
              <a:rPr lang="en-US" sz="4200" b="1" dirty="0">
                <a:latin typeface="Bookman Old Style" panose="02050604050505020204" pitchFamily="18" charset="0"/>
                <a:cs typeface="Times New Roman" panose="02020603050405020304" pitchFamily="18" charset="0"/>
              </a:rPr>
              <a:t>DEPARTMENT OF CSE</a:t>
            </a:r>
          </a:p>
          <a:p>
            <a:pPr algn="ctr">
              <a:buNone/>
            </a:pPr>
            <a:r>
              <a:rPr lang="en-US" sz="2800" b="1" dirty="0">
                <a:latin typeface="Bookman Old Style" panose="02050604050505020204" pitchFamily="18" charset="0"/>
              </a:rPr>
              <a:t>CS3811-PROJECT WORK</a:t>
            </a:r>
            <a:endParaRPr lang="en-US" sz="4200" b="1" dirty="0">
              <a:latin typeface="Bookman Old Style" panose="02050604050505020204" pitchFamily="18" charset="0"/>
            </a:endParaRPr>
          </a:p>
          <a:p>
            <a:pPr>
              <a:buNone/>
            </a:pP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t>1</a:t>
            </a:fld>
            <a:endParaRPr lang="en-US" dirty="0"/>
          </a:p>
        </p:txBody>
      </p:sp>
      <p:pic>
        <p:nvPicPr>
          <p:cNvPr id="1026" name="Picture 2" descr="F:\BMRC\BMRC 2015\Loyola.png"/>
          <p:cNvPicPr>
            <a:picLocks noChangeAspect="1" noChangeArrowheads="1"/>
          </p:cNvPicPr>
          <p:nvPr/>
        </p:nvPicPr>
        <p:blipFill>
          <a:blip r:embed="rId2"/>
          <a:srcRect/>
          <a:stretch>
            <a:fillRect/>
          </a:stretch>
        </p:blipFill>
        <p:spPr bwMode="auto">
          <a:xfrm>
            <a:off x="2057400" y="532374"/>
            <a:ext cx="838200" cy="1066801"/>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83324"/>
            <a:ext cx="9525000" cy="1512236"/>
          </a:xfrm>
        </p:spPr>
        <p:txBody>
          <a:bodyPr/>
          <a:lstStyle/>
          <a:p>
            <a:pPr algn="ctr"/>
            <a:r>
              <a:rPr lang="en-US" altLang="en-US" sz="2400" b="1" dirty="0">
                <a:solidFill>
                  <a:srgbClr val="000000"/>
                </a:solidFill>
                <a:latin typeface="Bookman Old Style" panose="02050604050505020204" pitchFamily="18" charset="0"/>
                <a:ea typeface="Alegreya Sans SC" panose="00000500000000000000" charset="0"/>
                <a:sym typeface="Alegreya Sans SC" panose="00000500000000000000" charset="0"/>
              </a:rPr>
              <a:t>Federated Machine Learning for Secure and Adaptive </a:t>
            </a:r>
            <a:br>
              <a:rPr lang="en-US" altLang="en-US" sz="2400" b="1" dirty="0">
                <a:solidFill>
                  <a:srgbClr val="000000"/>
                </a:solidFill>
                <a:latin typeface="Bookman Old Style" panose="02050604050505020204" pitchFamily="18" charset="0"/>
                <a:ea typeface="Alegreya Sans SC" panose="00000500000000000000" charset="0"/>
                <a:sym typeface="Alegreya Sans SC" panose="00000500000000000000" charset="0"/>
              </a:rPr>
            </a:br>
            <a:r>
              <a:rPr lang="en-US" altLang="en-US" sz="2400" b="1" dirty="0">
                <a:solidFill>
                  <a:srgbClr val="000000"/>
                </a:solidFill>
                <a:latin typeface="Bookman Old Style" panose="02050604050505020204" pitchFamily="18" charset="0"/>
                <a:ea typeface="Alegreya Sans SC" panose="00000500000000000000" charset="0"/>
                <a:sym typeface="Alegreya Sans SC" panose="00000500000000000000" charset="0"/>
              </a:rPr>
              <a:t>Fuels Theft Detection in Vehicles</a:t>
            </a:r>
          </a:p>
        </p:txBody>
      </p:sp>
      <p:sp>
        <p:nvSpPr>
          <p:cNvPr id="3" name="Content Placeholder 2"/>
          <p:cNvSpPr>
            <a:spLocks noGrp="1"/>
          </p:cNvSpPr>
          <p:nvPr>
            <p:ph idx="1"/>
          </p:nvPr>
        </p:nvSpPr>
        <p:spPr>
          <a:xfrm>
            <a:off x="1676400" y="4572000"/>
            <a:ext cx="7619999" cy="1219200"/>
          </a:xfrm>
        </p:spPr>
        <p:txBody>
          <a:bodyPr>
            <a:normAutofit fontScale="92500" lnSpcReduction="20000"/>
          </a:bodyPr>
          <a:lstStyle/>
          <a:p>
            <a:pPr marL="0" indent="0" algn="ctr">
              <a:buNone/>
            </a:pPr>
            <a:r>
              <a:rPr lang="en-US" sz="2000" b="1" dirty="0">
                <a:latin typeface="Times New Roman" panose="02020603050405020304" pitchFamily="18" charset="0"/>
                <a:cs typeface="Times New Roman" panose="02020603050405020304" pitchFamily="18" charset="0"/>
              </a:rPr>
              <a:t>GUIDED BY</a:t>
            </a:r>
          </a:p>
          <a:p>
            <a:pPr marL="0" indent="0" algn="ctr">
              <a:buNone/>
            </a:pPr>
            <a:r>
              <a:rPr lang="en-US" sz="2000" b="1" dirty="0">
                <a:latin typeface="Times New Roman" panose="02020603050405020304" pitchFamily="18" charset="0"/>
                <a:cs typeface="Times New Roman" panose="02020603050405020304" pitchFamily="18" charset="0"/>
              </a:rPr>
              <a:t>Mrs. A. MERRY IDA, M.E.,(</a:t>
            </a:r>
            <a:r>
              <a:rPr lang="en-US" sz="2000" b="1" dirty="0" err="1">
                <a:latin typeface="Times New Roman" panose="02020603050405020304" pitchFamily="18" charset="0"/>
                <a:cs typeface="Times New Roman" panose="02020603050405020304" pitchFamily="18" charset="0"/>
              </a:rPr>
              <a:t>Ph.D</a:t>
            </a:r>
            <a:r>
              <a:rPr lang="en-US" sz="2000" b="1" dirty="0">
                <a:latin typeface="Times New Roman" panose="02020603050405020304" pitchFamily="18" charset="0"/>
                <a:cs typeface="Times New Roman" panose="02020603050405020304" pitchFamily="18" charset="0"/>
              </a:rPr>
              <a:t>)</a:t>
            </a:r>
          </a:p>
          <a:p>
            <a:pPr marL="0" indent="0" algn="ctr">
              <a:buNone/>
            </a:pPr>
            <a:r>
              <a:rPr lang="en-US" sz="2000" dirty="0">
                <a:latin typeface="Times New Roman" panose="02020603050405020304" pitchFamily="18" charset="0"/>
                <a:cs typeface="Times New Roman" panose="02020603050405020304" pitchFamily="18" charset="0"/>
              </a:rPr>
              <a:t>ASSISTANT PROFESSOR, COMPUTER SCIENCE AND ENGINEERING</a:t>
            </a:r>
          </a:p>
          <a:p>
            <a:pPr marL="0" indent="0" algn="ctr">
              <a:buNone/>
            </a:pPr>
            <a:endParaRPr lang="en-US" dirty="0"/>
          </a:p>
          <a:p>
            <a:pPr algn="ct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t>2</a:t>
            </a:fld>
            <a:endParaRPr lang="en-US" dirty="0"/>
          </a:p>
        </p:txBody>
      </p:sp>
      <p:sp>
        <p:nvSpPr>
          <p:cNvPr id="5" name="Content Placeholder 2"/>
          <p:cNvSpPr txBox="1"/>
          <p:nvPr/>
        </p:nvSpPr>
        <p:spPr>
          <a:xfrm>
            <a:off x="3276600" y="2057400"/>
            <a:ext cx="6855461" cy="1752600"/>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ABDUL RAHMAN A (961222104001)</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BALA SUBRAMANIAN M (961222104301)</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SARAVANAN G (961222104048)</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JENIN RAJ K (961222104023)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2819400" y="381001"/>
            <a:ext cx="6798734" cy="999067"/>
          </a:xfrm>
        </p:spPr>
        <p:txBody>
          <a:bodyPr>
            <a:normAutofit/>
          </a:bodyPr>
          <a:lstStyle/>
          <a:p>
            <a:pPr algn="ctr"/>
            <a:r>
              <a:rPr lang="en-US" sz="4000" dirty="0"/>
              <a:t> </a:t>
            </a:r>
            <a:r>
              <a:rPr lang="en-US" sz="4000" b="1" dirty="0">
                <a:latin typeface="Bookman Old Style" panose="02050604050505020204" pitchFamily="18" charset="0"/>
              </a:rPr>
              <a:t>CONTENT</a:t>
            </a:r>
          </a:p>
        </p:txBody>
      </p:sp>
      <p:sp>
        <p:nvSpPr>
          <p:cNvPr id="201731" name="Rectangle 3"/>
          <p:cNvSpPr>
            <a:spLocks noGrp="1" noChangeArrowheads="1"/>
          </p:cNvSpPr>
          <p:nvPr>
            <p:ph idx="1"/>
          </p:nvPr>
        </p:nvSpPr>
        <p:spPr>
          <a:xfrm>
            <a:off x="1219200" y="1752601"/>
            <a:ext cx="8280401" cy="4487334"/>
          </a:xfrm>
        </p:spPr>
        <p:txBody>
          <a:bodyPr>
            <a:normAutofit fontScale="92500" lnSpcReduction="10000"/>
          </a:bodyPr>
          <a:lstStyle/>
          <a:p>
            <a:pPr lvl="0">
              <a:buFont typeface="Wingdings" panose="05000000000000000000" pitchFamily="2" charset="2"/>
              <a:buChar char="§"/>
            </a:pPr>
            <a:r>
              <a:rPr lang="en-US" b="1" dirty="0">
                <a:latin typeface="Bookman Old Style" panose="02050604050505020204" pitchFamily="18" charset="0"/>
              </a:rPr>
              <a:t>Abstract</a:t>
            </a:r>
          </a:p>
          <a:p>
            <a:pPr lvl="0">
              <a:buFont typeface="Wingdings" panose="05000000000000000000" pitchFamily="2" charset="2"/>
              <a:buChar char="§"/>
            </a:pPr>
            <a:r>
              <a:rPr lang="en-US" b="1" dirty="0">
                <a:latin typeface="Bookman Old Style" panose="02050604050505020204" pitchFamily="18" charset="0"/>
              </a:rPr>
              <a:t>Justification for carrying out the project work</a:t>
            </a:r>
          </a:p>
          <a:p>
            <a:pPr lvl="0">
              <a:buFont typeface="Wingdings" panose="05000000000000000000" pitchFamily="2" charset="2"/>
              <a:buChar char="§"/>
            </a:pPr>
            <a:r>
              <a:rPr lang="en-US" b="1" dirty="0">
                <a:latin typeface="Bookman Old Style" panose="02050604050505020204" pitchFamily="18" charset="0"/>
              </a:rPr>
              <a:t>Literature review</a:t>
            </a:r>
          </a:p>
          <a:p>
            <a:pPr lvl="0">
              <a:buFont typeface="Wingdings" panose="05000000000000000000" pitchFamily="2" charset="2"/>
              <a:buChar char="§"/>
            </a:pPr>
            <a:r>
              <a:rPr lang="en-US" b="1" dirty="0">
                <a:latin typeface="Bookman Old Style" panose="02050604050505020204" pitchFamily="18" charset="0"/>
              </a:rPr>
              <a:t>Existing System</a:t>
            </a:r>
          </a:p>
          <a:p>
            <a:pPr lvl="0">
              <a:buFont typeface="Wingdings" panose="05000000000000000000" pitchFamily="2" charset="2"/>
              <a:buChar char="§"/>
            </a:pPr>
            <a:r>
              <a:rPr lang="en-US" b="1" dirty="0">
                <a:latin typeface="Bookman Old Style" panose="02050604050505020204" pitchFamily="18" charset="0"/>
              </a:rPr>
              <a:t>Proposed System</a:t>
            </a:r>
          </a:p>
          <a:p>
            <a:pPr lvl="0">
              <a:buFont typeface="Wingdings" panose="05000000000000000000" pitchFamily="2" charset="2"/>
              <a:buChar char="§"/>
            </a:pPr>
            <a:r>
              <a:rPr lang="en-US" b="1" dirty="0">
                <a:latin typeface="Bookman Old Style" panose="02050604050505020204" pitchFamily="18" charset="0"/>
              </a:rPr>
              <a:t>Tools for Implementation</a:t>
            </a:r>
          </a:p>
          <a:p>
            <a:pPr lvl="0">
              <a:buFont typeface="Wingdings" panose="05000000000000000000" pitchFamily="2" charset="2"/>
              <a:buChar char="§"/>
            </a:pPr>
            <a:r>
              <a:rPr lang="en-US" b="1" dirty="0">
                <a:latin typeface="Bookman Old Style" panose="02050604050505020204" pitchFamily="18" charset="0"/>
              </a:rPr>
              <a:t>Modules </a:t>
            </a:r>
          </a:p>
          <a:p>
            <a:pPr lvl="0">
              <a:buFont typeface="Wingdings" panose="05000000000000000000" pitchFamily="2" charset="2"/>
              <a:buChar char="§"/>
            </a:pPr>
            <a:r>
              <a:rPr lang="en-US" b="1" dirty="0">
                <a:latin typeface="Bookman Old Style" panose="02050604050505020204" pitchFamily="18" charset="0"/>
              </a:rPr>
              <a:t>Output/Results</a:t>
            </a:r>
          </a:p>
          <a:p>
            <a:pPr lvl="0">
              <a:buFont typeface="Wingdings" panose="05000000000000000000" pitchFamily="2" charset="2"/>
              <a:buChar char="§"/>
            </a:pPr>
            <a:r>
              <a:rPr lang="en-US" b="1" dirty="0">
                <a:latin typeface="Bookman Old Style" panose="02050604050505020204" pitchFamily="18" charset="0"/>
              </a:rPr>
              <a:t>References</a:t>
            </a:r>
            <a:endParaRPr lang="en-US" sz="2400" dirty="0">
              <a:latin typeface="Bookman Old Style" panose="02050604050505020204" pitchFamily="18" charset="0"/>
            </a:endParaRPr>
          </a:p>
        </p:txBody>
      </p:sp>
      <p:sp>
        <p:nvSpPr>
          <p:cNvPr id="6" name="Slide Number Placeholder 5"/>
          <p:cNvSpPr>
            <a:spLocks noGrp="1"/>
          </p:cNvSpPr>
          <p:nvPr>
            <p:ph type="sldNum" sz="quarter" idx="12"/>
          </p:nvPr>
        </p:nvSpPr>
        <p:spPr/>
        <p:txBody>
          <a:bodyPr/>
          <a:lstStyle/>
          <a:p>
            <a:fld id="{C19C4A2A-81EA-4717-8712-5819200252CC}" type="slidenum">
              <a:rPr lang="en-US"/>
              <a:t>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fade">
                                      <p:cBhvr>
                                        <p:cTn id="7" dur="500"/>
                                        <p:tgtEl>
                                          <p:spTgt spid="201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1731">
                                            <p:txEl>
                                              <p:pRg st="1" end="1"/>
                                            </p:txEl>
                                          </p:spTgt>
                                        </p:tgtEl>
                                        <p:attrNameLst>
                                          <p:attrName>style.visibility</p:attrName>
                                        </p:attrNameLst>
                                      </p:cBhvr>
                                      <p:to>
                                        <p:strVal val="visible"/>
                                      </p:to>
                                    </p:set>
                                    <p:animEffect transition="in" filter="fade">
                                      <p:cBhvr>
                                        <p:cTn id="12" dur="500"/>
                                        <p:tgtEl>
                                          <p:spTgt spid="2017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1731">
                                            <p:txEl>
                                              <p:pRg st="2" end="2"/>
                                            </p:txEl>
                                          </p:spTgt>
                                        </p:tgtEl>
                                        <p:attrNameLst>
                                          <p:attrName>style.visibility</p:attrName>
                                        </p:attrNameLst>
                                      </p:cBhvr>
                                      <p:to>
                                        <p:strVal val="visible"/>
                                      </p:to>
                                    </p:set>
                                    <p:animEffect transition="in" filter="fade">
                                      <p:cBhvr>
                                        <p:cTn id="17" dur="500"/>
                                        <p:tgtEl>
                                          <p:spTgt spid="2017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1731">
                                            <p:txEl>
                                              <p:pRg st="3" end="3"/>
                                            </p:txEl>
                                          </p:spTgt>
                                        </p:tgtEl>
                                        <p:attrNameLst>
                                          <p:attrName>style.visibility</p:attrName>
                                        </p:attrNameLst>
                                      </p:cBhvr>
                                      <p:to>
                                        <p:strVal val="visible"/>
                                      </p:to>
                                    </p:set>
                                    <p:animEffect transition="in" filter="fade">
                                      <p:cBhvr>
                                        <p:cTn id="22" dur="500"/>
                                        <p:tgtEl>
                                          <p:spTgt spid="2017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1731">
                                            <p:txEl>
                                              <p:pRg st="4" end="4"/>
                                            </p:txEl>
                                          </p:spTgt>
                                        </p:tgtEl>
                                        <p:attrNameLst>
                                          <p:attrName>style.visibility</p:attrName>
                                        </p:attrNameLst>
                                      </p:cBhvr>
                                      <p:to>
                                        <p:strVal val="visible"/>
                                      </p:to>
                                    </p:set>
                                    <p:animEffect transition="in" filter="fade">
                                      <p:cBhvr>
                                        <p:cTn id="27" dur="500"/>
                                        <p:tgtEl>
                                          <p:spTgt spid="2017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1731">
                                            <p:txEl>
                                              <p:pRg st="5" end="5"/>
                                            </p:txEl>
                                          </p:spTgt>
                                        </p:tgtEl>
                                        <p:attrNameLst>
                                          <p:attrName>style.visibility</p:attrName>
                                        </p:attrNameLst>
                                      </p:cBhvr>
                                      <p:to>
                                        <p:strVal val="visible"/>
                                      </p:to>
                                    </p:set>
                                    <p:animEffect transition="in" filter="fade">
                                      <p:cBhvr>
                                        <p:cTn id="32" dur="500"/>
                                        <p:tgtEl>
                                          <p:spTgt spid="2017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1731">
                                            <p:txEl>
                                              <p:pRg st="6" end="6"/>
                                            </p:txEl>
                                          </p:spTgt>
                                        </p:tgtEl>
                                        <p:attrNameLst>
                                          <p:attrName>style.visibility</p:attrName>
                                        </p:attrNameLst>
                                      </p:cBhvr>
                                      <p:to>
                                        <p:strVal val="visible"/>
                                      </p:to>
                                    </p:set>
                                    <p:animEffect transition="in" filter="fade">
                                      <p:cBhvr>
                                        <p:cTn id="37" dur="500"/>
                                        <p:tgtEl>
                                          <p:spTgt spid="2017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1731">
                                            <p:txEl>
                                              <p:pRg st="7" end="7"/>
                                            </p:txEl>
                                          </p:spTgt>
                                        </p:tgtEl>
                                        <p:attrNameLst>
                                          <p:attrName>style.visibility</p:attrName>
                                        </p:attrNameLst>
                                      </p:cBhvr>
                                      <p:to>
                                        <p:strVal val="visible"/>
                                      </p:to>
                                    </p:set>
                                    <p:animEffect transition="in" filter="fade">
                                      <p:cBhvr>
                                        <p:cTn id="42" dur="500"/>
                                        <p:tgtEl>
                                          <p:spTgt spid="2017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1731">
                                            <p:txEl>
                                              <p:pRg st="8" end="8"/>
                                            </p:txEl>
                                          </p:spTgt>
                                        </p:tgtEl>
                                        <p:attrNameLst>
                                          <p:attrName>style.visibility</p:attrName>
                                        </p:attrNameLst>
                                      </p:cBhvr>
                                      <p:to>
                                        <p:strVal val="visible"/>
                                      </p:to>
                                    </p:set>
                                    <p:animEffect transition="in" filter="fade">
                                      <p:cBhvr>
                                        <p:cTn id="47" dur="500"/>
                                        <p:tgtEl>
                                          <p:spTgt spid="2017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2696633" y="381000"/>
            <a:ext cx="6798734" cy="990600"/>
          </a:xfrm>
        </p:spPr>
        <p:txBody>
          <a:bodyPr>
            <a:normAutofit/>
          </a:bodyPr>
          <a:lstStyle/>
          <a:p>
            <a:pPr lvl="0" algn="ctr"/>
            <a:r>
              <a:rPr lang="en-US" b="1" dirty="0">
                <a:latin typeface="Bookman Old Style" panose="02050604050505020204" pitchFamily="18" charset="0"/>
              </a:rPr>
              <a:t>ABSTRACT </a:t>
            </a:r>
          </a:p>
        </p:txBody>
      </p:sp>
      <p:sp>
        <p:nvSpPr>
          <p:cNvPr id="204803" name="Rectangle 3"/>
          <p:cNvSpPr>
            <a:spLocks noGrp="1" noChangeArrowheads="1"/>
          </p:cNvSpPr>
          <p:nvPr>
            <p:ph idx="1"/>
          </p:nvPr>
        </p:nvSpPr>
        <p:spPr>
          <a:xfrm>
            <a:off x="533400" y="1600200"/>
            <a:ext cx="11277600" cy="4038600"/>
          </a:xfrm>
        </p:spPr>
        <p:txBody>
          <a:bodyPr>
            <a:noAutofit/>
          </a:bodyPr>
          <a:lstStyle/>
          <a:p>
            <a:r>
              <a:rPr lang="en-US" sz="2400" b="1" dirty="0">
                <a:latin typeface="Times New Roman" panose="02020603050405020304" pitchFamily="18" charset="0"/>
                <a:cs typeface="Times New Roman" panose="02020603050405020304" pitchFamily="18" charset="0"/>
              </a:rPr>
              <a:t>Problem Statement:</a:t>
            </a:r>
            <a:r>
              <a:rPr lang="en-US" sz="2400" dirty="0">
                <a:latin typeface="Times New Roman" panose="02020603050405020304" pitchFamily="18" charset="0"/>
                <a:cs typeface="Times New Roman" panose="02020603050405020304" pitchFamily="18" charset="0"/>
              </a:rPr>
              <a:t> Fuel theft is a major economic issue, particularly for commercial fleets, as traditional detection methods are limited.</a:t>
            </a:r>
          </a:p>
          <a:p>
            <a:r>
              <a:rPr lang="en-US" sz="2400" b="1" dirty="0">
                <a:latin typeface="Times New Roman" panose="02020603050405020304" pitchFamily="18" charset="0"/>
                <a:cs typeface="Times New Roman" panose="02020603050405020304" pitchFamily="18" charset="0"/>
              </a:rPr>
              <a:t>Proposed Solution:</a:t>
            </a:r>
            <a:r>
              <a:rPr lang="en-US" sz="2400" dirty="0">
                <a:latin typeface="Times New Roman" panose="02020603050405020304" pitchFamily="18" charset="0"/>
                <a:cs typeface="Times New Roman" panose="02020603050405020304" pitchFamily="18" charset="0"/>
              </a:rPr>
              <a:t> This project introduces a new hybrid system that uses Internet of Things (IoT) sensors and federated machine learning.</a:t>
            </a:r>
          </a:p>
          <a:p>
            <a:r>
              <a:rPr lang="en-US" altLang="en-US" sz="2400" b="1" dirty="0">
                <a:latin typeface="Times New Roman" panose="02020603050405020304" pitchFamily="18" charset="0"/>
                <a:cs typeface="Times New Roman" panose="02020603050405020304" pitchFamily="18" charset="0"/>
              </a:rPr>
              <a:t>Project Goal:</a:t>
            </a:r>
            <a:r>
              <a:rPr lang="en-US" altLang="en-US" sz="2400" dirty="0">
                <a:latin typeface="Times New Roman" panose="02020603050405020304" pitchFamily="18" charset="0"/>
                <a:cs typeface="Times New Roman" panose="02020603050405020304" pitchFamily="18" charset="0"/>
              </a:rPr>
              <a:t> The aim is to create a secure, privacy-friendly, and flexible solution for detecting fuel theft in real-time.</a:t>
            </a:r>
          </a:p>
          <a:p>
            <a:r>
              <a:rPr lang="en-US" sz="2400" b="1" dirty="0">
                <a:latin typeface="Times New Roman" panose="02020603050405020304" pitchFamily="18" charset="0"/>
                <a:cs typeface="Times New Roman" panose="02020603050405020304" pitchFamily="18" charset="0"/>
              </a:rPr>
              <a:t>Methodology:</a:t>
            </a:r>
            <a:r>
              <a:rPr lang="en-US" sz="2400" dirty="0">
                <a:latin typeface="Times New Roman" panose="02020603050405020304" pitchFamily="18" charset="0"/>
                <a:cs typeface="Times New Roman" panose="02020603050405020304" pitchFamily="18" charset="0"/>
              </a:rPr>
              <a:t> The system will learn consumption patterns and spot anomalies, avoiding a reliance on fixed thresholds which are often unreliable.</a:t>
            </a:r>
          </a:p>
          <a:p>
            <a:r>
              <a:rPr lang="en-US" sz="2400" b="1" dirty="0">
                <a:latin typeface="Times New Roman" panose="02020603050405020304" pitchFamily="18" charset="0"/>
                <a:cs typeface="Times New Roman" panose="02020603050405020304" pitchFamily="18" charset="0"/>
              </a:rPr>
              <a:t>Key Advantage:</a:t>
            </a:r>
            <a:r>
              <a:rPr lang="en-US" sz="2400" dirty="0">
                <a:latin typeface="Times New Roman" panose="02020603050405020304" pitchFamily="18" charset="0"/>
                <a:cs typeface="Times New Roman" panose="02020603050405020304" pitchFamily="18" charset="0"/>
              </a:rPr>
              <a:t> By learning consumption patterns and detecting anomalies, the system will offer a more effective solution for real-time fuel theft detection.</a:t>
            </a:r>
            <a:endParaRPr lang="en-US" sz="2400" dirty="0">
              <a:solidFill>
                <a:srgbClr val="000000"/>
              </a:solidFill>
              <a:latin typeface="Times New Roman" panose="02020603050405020304" pitchFamily="18" charset="0"/>
              <a:ea typeface="Aileron"/>
              <a:cs typeface="Times New Roman" panose="02020603050405020304" pitchFamily="18" charset="0"/>
              <a:sym typeface="Aileron"/>
            </a:endParaRPr>
          </a:p>
        </p:txBody>
      </p:sp>
      <p:sp>
        <p:nvSpPr>
          <p:cNvPr id="6" name="Slide Number Placeholder 5"/>
          <p:cNvSpPr>
            <a:spLocks noGrp="1"/>
          </p:cNvSpPr>
          <p:nvPr>
            <p:ph type="sldNum" sz="quarter" idx="12"/>
          </p:nvPr>
        </p:nvSpPr>
        <p:spPr/>
        <p:txBody>
          <a:bodyPr/>
          <a:lstStyle/>
          <a:p>
            <a:fld id="{6A9AC29F-A1C5-4BC9-A32D-14C260CBCCDC}" type="slidenum">
              <a:rPr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fade">
                                      <p:cBhvr>
                                        <p:cTn id="7" dur="500"/>
                                        <p:tgtEl>
                                          <p:spTgt spid="204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03">
                                            <p:txEl>
                                              <p:pRg st="1" end="1"/>
                                            </p:txEl>
                                          </p:spTgt>
                                        </p:tgtEl>
                                        <p:attrNameLst>
                                          <p:attrName>style.visibility</p:attrName>
                                        </p:attrNameLst>
                                      </p:cBhvr>
                                      <p:to>
                                        <p:strVal val="visible"/>
                                      </p:to>
                                    </p:set>
                                    <p:animEffect transition="in" filter="fade">
                                      <p:cBhvr>
                                        <p:cTn id="12" dur="500"/>
                                        <p:tgtEl>
                                          <p:spTgt spid="2048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4803">
                                            <p:txEl>
                                              <p:pRg st="2" end="2"/>
                                            </p:txEl>
                                          </p:spTgt>
                                        </p:tgtEl>
                                        <p:attrNameLst>
                                          <p:attrName>style.visibility</p:attrName>
                                        </p:attrNameLst>
                                      </p:cBhvr>
                                      <p:to>
                                        <p:strVal val="visible"/>
                                      </p:to>
                                    </p:set>
                                    <p:animEffect transition="in" filter="fade">
                                      <p:cBhvr>
                                        <p:cTn id="17" dur="500"/>
                                        <p:tgtEl>
                                          <p:spTgt spid="2048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4803">
                                            <p:txEl>
                                              <p:pRg st="3" end="3"/>
                                            </p:txEl>
                                          </p:spTgt>
                                        </p:tgtEl>
                                        <p:attrNameLst>
                                          <p:attrName>style.visibility</p:attrName>
                                        </p:attrNameLst>
                                      </p:cBhvr>
                                      <p:to>
                                        <p:strVal val="visible"/>
                                      </p:to>
                                    </p:set>
                                    <p:animEffect transition="in" filter="fade">
                                      <p:cBhvr>
                                        <p:cTn id="22" dur="500"/>
                                        <p:tgtEl>
                                          <p:spTgt spid="2048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4803">
                                            <p:txEl>
                                              <p:pRg st="4" end="4"/>
                                            </p:txEl>
                                          </p:spTgt>
                                        </p:tgtEl>
                                        <p:attrNameLst>
                                          <p:attrName>style.visibility</p:attrName>
                                        </p:attrNameLst>
                                      </p:cBhvr>
                                      <p:to>
                                        <p:strVal val="visible"/>
                                      </p:to>
                                    </p:set>
                                    <p:animEffect transition="in" filter="fade">
                                      <p:cBhvr>
                                        <p:cTn id="27" dur="500"/>
                                        <p:tgtEl>
                                          <p:spTgt spid="2048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Bookman Old Style" panose="02050604050505020204" pitchFamily="18" charset="0"/>
              </a:rPr>
              <a:t>JUSTIFICATION FOR CARRYING OUT THE PROJECT WORK</a:t>
            </a:r>
          </a:p>
        </p:txBody>
      </p:sp>
      <p:sp>
        <p:nvSpPr>
          <p:cNvPr id="3" name="Content Placeholder 2"/>
          <p:cNvSpPr>
            <a:spLocks noGrp="1"/>
          </p:cNvSpPr>
          <p:nvPr>
            <p:ph idx="1"/>
          </p:nvPr>
        </p:nvSpPr>
        <p:spPr>
          <a:xfrm>
            <a:off x="685800" y="1600200"/>
            <a:ext cx="9753600" cy="4983162"/>
          </a:xfrm>
        </p:spPr>
        <p:txBody>
          <a:bodyPr/>
          <a:lstStyle/>
          <a:p>
            <a:r>
              <a:rPr lang="en-US" sz="2400" dirty="0">
                <a:latin typeface="Times New Roman" panose="02020603050405020304" pitchFamily="18" charset="0"/>
                <a:cs typeface="Times New Roman" panose="02020603050405020304" pitchFamily="18" charset="0"/>
              </a:rPr>
              <a:t>The project aims to revolutionize college transportation by ensuring student safety and punctuality through real-time bus tracking and proximity notifications.</a:t>
            </a:r>
          </a:p>
          <a:p>
            <a:r>
              <a:rPr lang="en-US" sz="2400" dirty="0">
                <a:latin typeface="Times New Roman" panose="02020603050405020304" pitchFamily="18" charset="0"/>
                <a:cs typeface="Times New Roman" panose="02020603050405020304" pitchFamily="18" charset="0"/>
              </a:rPr>
              <a:t>Leveraging Google API's advanced features, the Android app enhances accuracy and efficiency, optimizing route planning and minimizing travel times.</a:t>
            </a:r>
          </a:p>
          <a:p>
            <a:r>
              <a:rPr lang="en-US" sz="2400" dirty="0">
                <a:latin typeface="Times New Roman" panose="02020603050405020304" pitchFamily="18" charset="0"/>
                <a:cs typeface="Times New Roman" panose="02020603050405020304" pitchFamily="18" charset="0"/>
              </a:rPr>
              <a:t>With this technology, we empower students to make informed travel decisions and administrators to manage transportation resources effectively.</a:t>
            </a:r>
          </a:p>
          <a:p>
            <a:r>
              <a:rPr lang="en-US" sz="2400" dirty="0">
                <a:latin typeface="Times New Roman" panose="02020603050405020304" pitchFamily="18" charset="0"/>
                <a:cs typeface="Times New Roman" panose="02020603050405020304" pitchFamily="18" charset="0"/>
              </a:rPr>
              <a:t>This project aligns with our commitment to innovation and providing a seamless transportation experience for all stakeholders.</a:t>
            </a:r>
          </a:p>
        </p:txBody>
      </p:sp>
      <p:sp>
        <p:nvSpPr>
          <p:cNvPr id="4" name="Slide Number Placeholder 3"/>
          <p:cNvSpPr>
            <a:spLocks noGrp="1"/>
          </p:cNvSpPr>
          <p:nvPr>
            <p:ph type="sldNum" sz="quarter" idx="12"/>
          </p:nvPr>
        </p:nvSpPr>
        <p:spPr/>
        <p:txBody>
          <a:bodyPr/>
          <a:lstStyle/>
          <a:p>
            <a:fld id="{B6F15528-21DE-4FAA-801E-634DDDAF4B2B}" type="slidenum">
              <a:rPr lang="en-US" smtClean="0"/>
              <a:t>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LITERATURE REVIEW </a:t>
            </a:r>
            <a:endParaRPr lang="en-US" dirty="0">
              <a:latin typeface="Bookman Old Style" panose="02050604050505020204" pitchFamily="18" charset="0"/>
            </a:endParaRPr>
          </a:p>
        </p:txBody>
      </p:sp>
      <p:sp>
        <p:nvSpPr>
          <p:cNvPr id="3" name="Content Placeholder 2"/>
          <p:cNvSpPr>
            <a:spLocks noGrp="1"/>
          </p:cNvSpPr>
          <p:nvPr>
            <p:ph idx="1"/>
          </p:nvPr>
        </p:nvSpPr>
        <p:spPr>
          <a:xfrm>
            <a:off x="457200" y="1524000"/>
            <a:ext cx="11353800" cy="5319714"/>
          </a:xfrm>
        </p:spPr>
        <p:txBody>
          <a:bodyPr>
            <a:noAutofit/>
          </a:bodyPr>
          <a:lstStyle/>
          <a:p>
            <a:pPr marL="0" indent="0">
              <a:buNone/>
            </a:pPr>
            <a:r>
              <a:rPr lang="en-IN" sz="2000" dirty="0">
                <a:latin typeface="Times New Roman" panose="02020603050405020304" pitchFamily="18" charset="0"/>
                <a:ea typeface="Calibri" panose="020F0502020204030204" pitchFamily="34" charset="0"/>
              </a:rPr>
              <a:t>[1] </a:t>
            </a:r>
            <a:r>
              <a:rPr lang="en-US" sz="2000" dirty="0">
                <a:latin typeface="Times New Roman" panose="02020603050405020304" pitchFamily="18" charset="0"/>
                <a:cs typeface="Times New Roman" panose="02020603050405020304" pitchFamily="18" charset="0"/>
              </a:rPr>
              <a:t>Siva Ramakrishna </a:t>
            </a:r>
            <a:r>
              <a:rPr lang="en-US" sz="2000" dirty="0" err="1">
                <a:latin typeface="Times New Roman" panose="02020603050405020304" pitchFamily="18" charset="0"/>
                <a:cs typeface="Times New Roman" panose="02020603050405020304" pitchFamily="18" charset="0"/>
              </a:rPr>
              <a:t>Pillutla</a:t>
            </a:r>
            <a:r>
              <a:rPr lang="en-US" sz="2000" dirty="0">
                <a:latin typeface="Times New Roman" panose="02020603050405020304" pitchFamily="18" charset="0"/>
                <a:cs typeface="Times New Roman" panose="02020603050405020304" pitchFamily="18" charset="0"/>
              </a:rPr>
              <a:t>, Anamika Lata, Praveen Maurya, Manish Kumar Singh, Rambabu Kusuma, "Design and Implementation of Vehicle Theft Prevention by Operating Fuel Injector", 2025 Third International Conference on Augmented Intelligence and Sustainable Systems (ICAISS). This paper addresses the critical issue of motor vehicle theft in India. The proposed solution is a system that combats theft by integrating fuel injector operation and scalable applications. By leveraging modern technologies such as face detection and GPS tracking, unauthorized vehicle access can be detected and thwarted in real-time. The system is implemented using Raspberry Pi, Arduino Nano, and Wi-Fi modules and includes a mobile application (Blynk App) for control and notifications. The prototype is designed to prevent unauthorized vehicle access and notify users of attempted thefts.</a:t>
            </a:r>
          </a:p>
          <a:p>
            <a:pPr marL="0" indent="0">
              <a:buNone/>
            </a:pPr>
            <a:r>
              <a:rPr lang="en-IN" sz="2000" dirty="0">
                <a:latin typeface="Times New Roman" panose="02020603050405020304" pitchFamily="18" charset="0"/>
                <a:ea typeface="Calibri" panose="020F0502020204030204" pitchFamily="34" charset="0"/>
              </a:rPr>
              <a:t>[2] </a:t>
            </a:r>
            <a:r>
              <a:rPr lang="en-US" sz="2000" dirty="0">
                <a:latin typeface="Times New Roman" panose="02020603050405020304" pitchFamily="18" charset="0"/>
                <a:cs typeface="Times New Roman" panose="02020603050405020304" pitchFamily="18" charset="0"/>
              </a:rPr>
              <a:t>Adhithya Madhavan, Santhosh Sivan J, </a:t>
            </a:r>
            <a:r>
              <a:rPr lang="en-US" sz="2000" dirty="0" err="1">
                <a:latin typeface="Times New Roman" panose="02020603050405020304" pitchFamily="18" charset="0"/>
                <a:cs typeface="Times New Roman" panose="02020603050405020304" pitchFamily="18" charset="0"/>
              </a:rPr>
              <a:t>Ayyarraja</a:t>
            </a:r>
            <a:r>
              <a:rPr lang="en-US" sz="2000" dirty="0">
                <a:latin typeface="Times New Roman" panose="02020603050405020304" pitchFamily="18" charset="0"/>
                <a:cs typeface="Times New Roman" panose="02020603050405020304" pitchFamily="18" charset="0"/>
              </a:rPr>
              <a:t>, Mrs. Sheela A, "Detecting Fuel Theft with Arduino", 2024 Second International Conference on Emerging Trends in Information Technology and Engineering (ICETITE). The paper introduces a Fuel Monitoring System to address the problem of fuel theft from parked cars, especially in areas without security or CCTV. The solution uses embedded system technology for real-time fuel level monitoring. The system strategically combines Arduino micro-controllers with GSM technology to provide timely owner notifications. In the event of fuel theft (when the fuel level decreases and the ignition is OFF), the system activates a buzzer for an audible alert and uses the GSM component to send a text message notification to the vehicle owner. The design is intended to be cost-effective and simple</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LITERATURE REVIEW </a:t>
            </a:r>
            <a:endParaRPr lang="en-US" dirty="0">
              <a:latin typeface="Bookman Old Style" panose="02050604050505020204" pitchFamily="18" charset="0"/>
            </a:endParaRPr>
          </a:p>
        </p:txBody>
      </p:sp>
      <p:sp>
        <p:nvSpPr>
          <p:cNvPr id="3" name="Content Placeholder 2"/>
          <p:cNvSpPr>
            <a:spLocks noGrp="1"/>
          </p:cNvSpPr>
          <p:nvPr>
            <p:ph idx="1"/>
          </p:nvPr>
        </p:nvSpPr>
        <p:spPr>
          <a:xfrm>
            <a:off x="457200" y="1690688"/>
            <a:ext cx="11353800" cy="4481512"/>
          </a:xfrm>
        </p:spPr>
        <p:txBody>
          <a:bodyPr>
            <a:noAutofit/>
          </a:bodyPr>
          <a:lstStyle/>
          <a:p>
            <a:pPr marL="0" indent="0">
              <a:buNone/>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Sangeeta </a:t>
            </a:r>
            <a:r>
              <a:rPr lang="en-US" sz="2000" dirty="0" err="1">
                <a:latin typeface="Times New Roman" panose="02020603050405020304" pitchFamily="18" charset="0"/>
                <a:cs typeface="Times New Roman" panose="02020603050405020304" pitchFamily="18" charset="0"/>
              </a:rPr>
              <a:t>Kurundkar</a:t>
            </a:r>
            <a:r>
              <a:rPr lang="en-US" sz="2000" dirty="0">
                <a:latin typeface="Times New Roman" panose="02020603050405020304" pitchFamily="18" charset="0"/>
                <a:cs typeface="Times New Roman" panose="02020603050405020304" pitchFamily="18" charset="0"/>
              </a:rPr>
              <a:t>, Sakshi Rathod, Ruta </a:t>
            </a:r>
            <a:r>
              <a:rPr lang="en-US" sz="2000" dirty="0" err="1">
                <a:latin typeface="Times New Roman" panose="02020603050405020304" pitchFamily="18" charset="0"/>
                <a:cs typeface="Times New Roman" panose="02020603050405020304" pitchFamily="18" charset="0"/>
              </a:rPr>
              <a:t>Sapate</a:t>
            </a:r>
            <a:r>
              <a:rPr lang="en-US" sz="2000" dirty="0">
                <a:latin typeface="Times New Roman" panose="02020603050405020304" pitchFamily="18" charset="0"/>
                <a:cs typeface="Times New Roman" panose="02020603050405020304" pitchFamily="18" charset="0"/>
              </a:rPr>
              <a:t>, Samruddhi Raut, Shantanu </a:t>
            </a:r>
            <a:r>
              <a:rPr lang="en-US" sz="2000" dirty="0" err="1">
                <a:latin typeface="Times New Roman" panose="02020603050405020304" pitchFamily="18" charset="0"/>
                <a:cs typeface="Times New Roman" panose="02020603050405020304" pitchFamily="18" charset="0"/>
              </a:rPr>
              <a:t>Khopade</a:t>
            </a:r>
            <a:r>
              <a:rPr lang="en-US" sz="2000" dirty="0">
                <a:latin typeface="Times New Roman" panose="02020603050405020304" pitchFamily="18" charset="0"/>
                <a:cs typeface="Times New Roman" panose="02020603050405020304" pitchFamily="18" charset="0"/>
              </a:rPr>
              <a:t>, "Vehicle Fuel Theft Detection System", 2024 International Conference on Sustainable Communication Networks and Application (ICSCNA). This research focuses on implementing a GSM-based vehicle fuel theft detection system to eliminate the common issue of fuel theft from vehicles, which causes significant financial loss. The method employs a level sensor to continuously track the fuel level in the tank. When the sensor detects a drop below a predefined threshold, the microcontroller (central processing unit) activates a buzzer to deter the thief and sends an SMS notice to the vehicle owner via a GSM modem. Crucially, the system is triggered only when the ignition key is withdrawn, ensuring the protection is active when the vehicle is unattended.</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VASANTH KUMAR, T.GIRISHCHOWDARY, PAVAN C, PRAVEEN D B, SATISH KUMAR B, "Vehicle Fuel Theft Detection and Monitoring System", 2024 JETIR May 2024, Volume 11, Issue 5. The primary goal of this article is the improvement of the car alarm security system by focusing on the prevalent issue of vehicle fuel theft. The project aims to digitize standard, analog fuel meters so they can display fuel values digitally (e.g., 1 liter, 1.5 liter). In the proposed system, if the fuel level is reduced during the ignition OFF condition, the owner receives an alert SMS using a GSM module, and a buzzer is used to alert the surroundings about the theft. This system typically utilizes a level sensor, a microcontroller (like Arduino UNO), and a GSM module for its functions.</a:t>
            </a:r>
            <a:endParaRPr lang="en-US" sz="1800"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EXISTING SYSTEM </a:t>
            </a:r>
            <a:endParaRPr lang="en-US" dirty="0">
              <a:latin typeface="Bookman Old Style" panose="02050604050505020204" pitchFamily="18" charset="0"/>
            </a:endParaRPr>
          </a:p>
        </p:txBody>
      </p:sp>
      <p:sp>
        <p:nvSpPr>
          <p:cNvPr id="3" name="Content Placeholder 2"/>
          <p:cNvSpPr>
            <a:spLocks noGrp="1"/>
          </p:cNvSpPr>
          <p:nvPr>
            <p:ph idx="1"/>
          </p:nvPr>
        </p:nvSpPr>
        <p:spPr>
          <a:xfrm>
            <a:off x="609600" y="1600200"/>
            <a:ext cx="11125200" cy="4876800"/>
          </a:xfrm>
        </p:spPr>
        <p:txBody>
          <a:bodyPr>
            <a:normAutofit/>
          </a:bodyPr>
          <a:lstStyle/>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Fixed-Threshold Detection</a:t>
            </a:r>
            <a:r>
              <a:rPr lang="en-US" sz="1800" dirty="0">
                <a:latin typeface="Times New Roman" panose="02020603050405020304" pitchFamily="18" charset="0"/>
                <a:cs typeface="Times New Roman" panose="02020603050405020304" pitchFamily="18" charset="0"/>
              </a:rPr>
              <a:t> : Many current systems rely on fixed thresholds to identify fuel theft. They trigger an alarm when a fuel level drops below a predefined point without considering normal consumption patterns or contextual data. This approach is often flawed because it can lead to false alarms and may not be effective against evolving theft techniques.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Reliance on Hardware for Detection</a:t>
            </a:r>
            <a:r>
              <a:rPr lang="en-US" sz="1800" dirty="0">
                <a:latin typeface="Times New Roman" panose="02020603050405020304" pitchFamily="18" charset="0"/>
                <a:cs typeface="Times New Roman" panose="02020603050405020304" pitchFamily="18" charset="0"/>
              </a:rPr>
              <a:t> : The majority of existing systems are heavily dependent on physical hardware components. These systems typically use an Arduino or similar microcontroller along with sensors like ultrasonic or capacitive to measure fuel levels. They often integrate a GSM module to send SMS alerts and a buzzer for a local audible alarm</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Real-time Alerts</a:t>
            </a:r>
            <a:r>
              <a:rPr lang="en-US" sz="1800" dirty="0">
                <a:latin typeface="Times New Roman" panose="02020603050405020304" pitchFamily="18" charset="0"/>
                <a:cs typeface="Times New Roman" panose="02020603050405020304" pitchFamily="18" charset="0"/>
              </a:rPr>
              <a:t> : A common feature is the ability to provide real-time alerts to the vehicle owner. When a theft event is detected, systems use communication modules like GSM to send instant notifications, such as SMS messages or automated phone calls.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Lack of Privacy-Preserving Features</a:t>
            </a:r>
            <a:r>
              <a:rPr lang="en-US" sz="1800" dirty="0">
                <a:latin typeface="Times New Roman" panose="02020603050405020304" pitchFamily="18" charset="0"/>
                <a:cs typeface="Times New Roman" panose="02020603050405020304" pitchFamily="18" charset="0"/>
              </a:rPr>
              <a:t> : Traditional systems often send raw data, including vehicle location and fuel status, to a central server or mobile application. This creates a security risk and compromises user privacy, as sensitive information could be exposed or compromised if the central system is breached.</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Limited Adaptive Capability</a:t>
            </a:r>
            <a:r>
              <a:rPr lang="en-US" sz="1800" dirty="0">
                <a:latin typeface="Times New Roman" panose="02020603050405020304" pitchFamily="18" charset="0"/>
                <a:cs typeface="Times New Roman" panose="02020603050405020304" pitchFamily="18" charset="0"/>
              </a:rPr>
              <a:t> : Existing systems are generally not designed to learn or adapt to new conditions or consumption patterns. They operate based on predefined rules, making them less effective at identifying new theft methods or differentiating between normal fuel use and an actual theft incident.</a:t>
            </a:r>
          </a:p>
          <a:p>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DISADVANTAGE </a:t>
            </a:r>
            <a:endParaRPr lang="en-US" dirty="0">
              <a:latin typeface="Bookman Old Style" panose="02050604050505020204" pitchFamily="18" charset="0"/>
            </a:endParaRPr>
          </a:p>
        </p:txBody>
      </p:sp>
      <p:sp>
        <p:nvSpPr>
          <p:cNvPr id="3" name="Content Placeholder 2"/>
          <p:cNvSpPr>
            <a:spLocks noGrp="1"/>
          </p:cNvSpPr>
          <p:nvPr>
            <p:ph idx="1"/>
          </p:nvPr>
        </p:nvSpPr>
        <p:spPr>
          <a:xfrm>
            <a:off x="609600" y="1417638"/>
            <a:ext cx="11049000" cy="4983162"/>
          </a:xfrm>
        </p:spPr>
        <p:txBody>
          <a:bodyPr>
            <a:norm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Complexity</a:t>
            </a:r>
            <a:r>
              <a:rPr lang="en-US" sz="2000" dirty="0">
                <a:latin typeface="Times New Roman" panose="02020603050405020304" pitchFamily="18" charset="0"/>
                <a:cs typeface="Times New Roman" panose="02020603050405020304" pitchFamily="18" charset="0"/>
              </a:rPr>
              <a:t> : The integration of </a:t>
            </a:r>
            <a:r>
              <a:rPr lang="en-US" sz="2000" b="1" dirty="0">
                <a:latin typeface="Times New Roman" panose="02020603050405020304" pitchFamily="18" charset="0"/>
                <a:cs typeface="Times New Roman" panose="02020603050405020304" pitchFamily="18" charset="0"/>
              </a:rPr>
              <a:t>federated machine learning</a:t>
            </a:r>
            <a:r>
              <a:rPr lang="en-US" sz="2000" dirty="0">
                <a:latin typeface="Times New Roman" panose="02020603050405020304" pitchFamily="18" charset="0"/>
                <a:cs typeface="Times New Roman" panose="02020603050405020304" pitchFamily="18" charset="0"/>
              </a:rPr>
              <a:t> adds a layer of complexity to the system, requiring sophisticated software and hardware compared to simpler models that use basic sensors and a </a:t>
            </a:r>
            <a:r>
              <a:rPr lang="en-US" sz="2000" b="1" dirty="0">
                <a:latin typeface="Times New Roman" panose="02020603050405020304" pitchFamily="18" charset="0"/>
                <a:cs typeface="Times New Roman" panose="02020603050405020304" pitchFamily="18" charset="0"/>
              </a:rPr>
              <a:t>GSM module</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Initial Development Cost</a:t>
            </a:r>
            <a:r>
              <a:rPr lang="en-US" sz="2000" dirty="0">
                <a:latin typeface="Times New Roman" panose="02020603050405020304" pitchFamily="18" charset="0"/>
                <a:cs typeface="Times New Roman" panose="02020603050405020304" pitchFamily="18" charset="0"/>
              </a:rPr>
              <a:t> : The initial development and implementation of a </a:t>
            </a:r>
            <a:r>
              <a:rPr lang="en-US" sz="2000" b="1" dirty="0">
                <a:latin typeface="Times New Roman" panose="02020603050405020304" pitchFamily="18" charset="0"/>
                <a:cs typeface="Times New Roman" panose="02020603050405020304" pitchFamily="18" charset="0"/>
              </a:rPr>
              <a:t>federated learning</a:t>
            </a:r>
            <a:r>
              <a:rPr lang="en-US" sz="2000" dirty="0">
                <a:latin typeface="Times New Roman" panose="02020603050405020304" pitchFamily="18" charset="0"/>
                <a:cs typeface="Times New Roman" panose="02020603050405020304" pitchFamily="18" charset="0"/>
              </a:rPr>
              <a:t> framework can be more expensive than creating a basic alert system due to the need for advanced algorithms like </a:t>
            </a:r>
            <a:r>
              <a:rPr lang="en-US" sz="2000" b="1" dirty="0">
                <a:latin typeface="Times New Roman" panose="02020603050405020304" pitchFamily="18" charset="0"/>
                <a:cs typeface="Times New Roman" panose="02020603050405020304" pitchFamily="18" charset="0"/>
              </a:rPr>
              <a:t>LSTM Autoencoder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Isolation Forest</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Dependence on Connectivity</a:t>
            </a:r>
            <a:r>
              <a:rPr lang="en-US" sz="2000" dirty="0">
                <a:latin typeface="Times New Roman" panose="02020603050405020304" pitchFamily="18" charset="0"/>
                <a:cs typeface="Times New Roman" panose="02020603050405020304" pitchFamily="18" charset="0"/>
              </a:rPr>
              <a:t> : While some existing systems can operate without constant internet, your system's collaborative learning aspect depends on a network connection to share model updates between devices and the central server.</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Maintenance and Expertise</a:t>
            </a:r>
            <a:r>
              <a:rPr lang="en-US" sz="2000" dirty="0">
                <a:latin typeface="Times New Roman" panose="02020603050405020304" pitchFamily="18" charset="0"/>
                <a:cs typeface="Times New Roman" panose="02020603050405020304" pitchFamily="18" charset="0"/>
              </a:rPr>
              <a:t> : Implementing and troubleshooting a federated learning system requires a high level of technical expertise in both IoT and machine learning, making it less accessible for a typical user or a small business.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Potential for Performance Overhead</a:t>
            </a:r>
            <a:r>
              <a:rPr lang="en-US" sz="2000" dirty="0">
                <a:latin typeface="Times New Roman" panose="02020603050405020304" pitchFamily="18" charset="0"/>
                <a:cs typeface="Times New Roman" panose="02020603050405020304" pitchFamily="18" charset="0"/>
              </a:rPr>
              <a:t> : Training and updating machine learning models on individual devices could require significant processing power and energy, which might be a challenge for small, resource-constrained microcontrollers.</a:t>
            </a:r>
          </a:p>
          <a:p>
            <a:endParaRPr 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t>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PROPOSED SYSTEM </a:t>
            </a:r>
            <a:endParaRPr lang="en-US" dirty="0">
              <a:latin typeface="Bookman Old Style" panose="02050604050505020204" pitchFamily="18" charset="0"/>
            </a:endParaRPr>
          </a:p>
        </p:txBody>
      </p:sp>
      <p:sp>
        <p:nvSpPr>
          <p:cNvPr id="3" name="Content Placeholder 2"/>
          <p:cNvSpPr>
            <a:spLocks noGrp="1"/>
          </p:cNvSpPr>
          <p:nvPr>
            <p:ph idx="1"/>
          </p:nvPr>
        </p:nvSpPr>
        <p:spPr>
          <a:xfrm>
            <a:off x="533400" y="1524000"/>
            <a:ext cx="11201400" cy="5059362"/>
          </a:xfrm>
        </p:spPr>
        <p:txBody>
          <a:bodyPr>
            <a:noAutofit/>
          </a:bodyPr>
          <a:lstStyle/>
          <a:p>
            <a:pPr defTabSz="685800">
              <a:defRPr/>
            </a:pPr>
            <a:r>
              <a:rPr lang="en-US" sz="2400" b="1" dirty="0">
                <a:latin typeface="Times New Roman" panose="02020603050405020304" pitchFamily="18" charset="0"/>
                <a:cs typeface="Times New Roman" panose="02020603050405020304" pitchFamily="18" charset="0"/>
              </a:rPr>
              <a:t>Hybrid System Architecture:</a:t>
            </a:r>
            <a:r>
              <a:rPr lang="en-US" sz="2400" dirty="0">
                <a:latin typeface="Times New Roman" panose="02020603050405020304" pitchFamily="18" charset="0"/>
                <a:cs typeface="Times New Roman" panose="02020603050405020304" pitchFamily="18" charset="0"/>
              </a:rPr>
              <a:t> The system is designed as a hybrid solution that combines two key technologies. It integrates an IoT-based fuel monitoring system with a federated machine learning framework. </a:t>
            </a:r>
            <a:r>
              <a:rPr lang="en-US" sz="2400" b="1" dirty="0">
                <a:latin typeface="Times New Roman" panose="02020603050405020304" pitchFamily="18" charset="0"/>
                <a:cs typeface="Times New Roman" panose="02020603050405020304" pitchFamily="18" charset="0"/>
              </a:rPr>
              <a:t>(Federated Machine Learning , Embedded – C)</a:t>
            </a:r>
          </a:p>
          <a:p>
            <a:pPr defTabSz="685800">
              <a:defRPr/>
            </a:pPr>
            <a:r>
              <a:rPr lang="en-US" sz="2400" b="1" dirty="0">
                <a:latin typeface="Times New Roman" panose="02020603050405020304" pitchFamily="18" charset="0"/>
                <a:cs typeface="Times New Roman" panose="02020603050405020304" pitchFamily="18" charset="0"/>
              </a:rPr>
              <a:t>IoT for Real-time Monitoring:</a:t>
            </a:r>
            <a:r>
              <a:rPr lang="en-US" sz="2400" dirty="0">
                <a:latin typeface="Times New Roman" panose="02020603050405020304" pitchFamily="18" charset="0"/>
                <a:cs typeface="Times New Roman" panose="02020603050405020304" pitchFamily="18" charset="0"/>
              </a:rPr>
              <a:t> The system will use hardware such as an Arduino, an ultrasonic sensor. These components will enable continuous, real-time monitoring of a vehicle's fuel level and consumption patterns.</a:t>
            </a:r>
          </a:p>
          <a:p>
            <a:pPr defTabSz="685800">
              <a:defRPr/>
            </a:pPr>
            <a:r>
              <a:rPr lang="en-US" sz="2400" b="1" dirty="0">
                <a:latin typeface="Times New Roman" panose="02020603050405020304" pitchFamily="18" charset="0"/>
                <a:cs typeface="Times New Roman" panose="02020603050405020304" pitchFamily="18" charset="0"/>
              </a:rPr>
              <a:t>Federated Learning for Anomaly Detection:</a:t>
            </a:r>
            <a:r>
              <a:rPr lang="en-US" sz="2400" dirty="0">
                <a:latin typeface="Times New Roman" panose="02020603050405020304" pitchFamily="18" charset="0"/>
                <a:cs typeface="Times New Roman" panose="02020603050405020304" pitchFamily="18" charset="0"/>
              </a:rPr>
              <a:t> The core of the system's intelligence lies in its federated learning model. This model will learn to detect fuel theft as an anomaly by analyzing patterns from a fleet of vehicles without sending private data to a central server. (TensorFlow)</a:t>
            </a:r>
          </a:p>
          <a:p>
            <a:pPr defTabSz="685800">
              <a:defRPr/>
            </a:pPr>
            <a:r>
              <a:rPr lang="en-US" sz="2400" b="1" dirty="0">
                <a:latin typeface="Times New Roman" panose="02020603050405020304" pitchFamily="18" charset="0"/>
                <a:cs typeface="Times New Roman" panose="02020603050405020304" pitchFamily="18" charset="0"/>
              </a:rPr>
              <a:t>Privacy and Security Focus:</a:t>
            </a:r>
            <a:r>
              <a:rPr lang="en-US" sz="2400" dirty="0">
                <a:latin typeface="Times New Roman" panose="02020603050405020304" pitchFamily="18" charset="0"/>
                <a:cs typeface="Times New Roman" panose="02020603050405020304" pitchFamily="18" charset="0"/>
              </a:rPr>
              <a:t> The system's federated learning framework ensures that raw data remains on the vehicle. This approach prioritizes data privacy and security by preventing sensitive information from being exposed or compromised.</a:t>
            </a:r>
            <a:endParaRPr lang="en-US" sz="2400" dirty="0">
              <a:solidFill>
                <a:srgbClr val="000000"/>
              </a:solidFill>
              <a:latin typeface="Times New Roman" panose="02020603050405020304" pitchFamily="18" charset="0"/>
              <a:ea typeface="Aileron"/>
              <a:cs typeface="Times New Roman" panose="02020603050405020304" pitchFamily="18" charset="0"/>
              <a:sym typeface="Aileron"/>
            </a:endParaRPr>
          </a:p>
          <a:p>
            <a:endParaRPr 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SYSTEM ARCHITECTURE</a:t>
            </a:r>
            <a:endParaRPr lang="en-US"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11</a:t>
            </a:fld>
            <a:endParaRPr lang="en-US" dirty="0"/>
          </a:p>
        </p:txBody>
      </p:sp>
      <p:pic>
        <p:nvPicPr>
          <p:cNvPr id="5" name="Picture 4">
            <a:extLst>
              <a:ext uri="{FF2B5EF4-FFF2-40B4-BE49-F238E27FC236}">
                <a16:creationId xmlns:a16="http://schemas.microsoft.com/office/drawing/2014/main" id="{46AD9266-310C-F1B8-EE21-2ED4D479C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575" y="1690689"/>
            <a:ext cx="11372850" cy="44053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Bookman Old Style" panose="02050604050505020204" pitchFamily="18" charset="0"/>
              </a:rPr>
              <a:t>ALGORITHMS</a:t>
            </a:r>
          </a:p>
        </p:txBody>
      </p:sp>
      <p:sp>
        <p:nvSpPr>
          <p:cNvPr id="3" name="Content Placeholder 2"/>
          <p:cNvSpPr>
            <a:spLocks noGrp="1"/>
          </p:cNvSpPr>
          <p:nvPr>
            <p:ph idx="1"/>
          </p:nvPr>
        </p:nvSpPr>
        <p:spPr>
          <a:xfrm>
            <a:off x="609600" y="1712912"/>
            <a:ext cx="11125199" cy="4800600"/>
          </a:xfrm>
        </p:spPr>
        <p:txBody>
          <a:bodyPr>
            <a:noAutofit/>
          </a:bodyPr>
          <a:lstStyle/>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Federated Averaging Algorithm (</a:t>
            </a:r>
            <a:r>
              <a:rPr lang="en-IN" sz="2400" b="1" dirty="0" err="1">
                <a:latin typeface="Times New Roman" panose="02020603050405020304" pitchFamily="18" charset="0"/>
                <a:cs typeface="Times New Roman" panose="02020603050405020304" pitchFamily="18" charset="0"/>
              </a:rPr>
              <a:t>FedAvg</a:t>
            </a:r>
            <a:r>
              <a:rPr lang="en-IN" sz="2400" b="1" dirty="0">
                <a:latin typeface="Times New Roman" panose="02020603050405020304" pitchFamily="18" charset="0"/>
                <a:cs typeface="Times New Roman" panose="02020603050405020304" pitchFamily="18" charset="0"/>
              </a:rPr>
              <a:t>) : </a:t>
            </a:r>
            <a:r>
              <a:rPr lang="en-IN" sz="2400" dirty="0">
                <a:latin typeface="Times New Roman" panose="02020603050405020304" pitchFamily="18" charset="0"/>
                <a:cs typeface="Times New Roman" panose="02020603050405020304" pitchFamily="18" charset="0"/>
              </a:rPr>
              <a:t>By aggregating local model updates (statistical variance) from edge nodes instead of raw data, this algorithm updates the global theft detection model while preserving data privacy and minimizing bandwidth usage.</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Isolation Forest Algorithm :</a:t>
            </a:r>
            <a:r>
              <a:rPr lang="en-US" sz="2400" dirty="0">
                <a:latin typeface="Times New Roman" panose="02020603050405020304" pitchFamily="18" charset="0"/>
                <a:cs typeface="Times New Roman" panose="02020603050405020304" pitchFamily="18" charset="0"/>
              </a:rPr>
              <a:t>This unsupervised learning algorithm detects fuel theft by isolating anomalies in the sensor data stream. It identifies data points that deviate significantly from the learned "normal" fuel consumption patterns, assigning them a high anomaly score. </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Signal Processing &amp; Debouncing Algorithm : </a:t>
            </a:r>
            <a:r>
              <a:rPr lang="en-US" sz="2400" dirty="0">
                <a:latin typeface="Times New Roman" panose="02020603050405020304" pitchFamily="18" charset="0"/>
                <a:cs typeface="Times New Roman" panose="02020603050405020304" pitchFamily="18" charset="0"/>
              </a:rPr>
              <a:t>This algorithm filters sensor noise and stabilizes readings by implementing a confirmation window. It triggers an alarm only when a significant fuel drop persists for consecutive readings, preventing false alarms caused by vehicle movement or vibrations.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12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ADVANTAGE </a:t>
            </a:r>
            <a:endParaRPr lang="en-US" dirty="0">
              <a:latin typeface="Bookman Old Style" panose="02050604050505020204" pitchFamily="18" charset="0"/>
            </a:endParaRPr>
          </a:p>
        </p:txBody>
      </p:sp>
      <p:sp>
        <p:nvSpPr>
          <p:cNvPr id="3" name="Content Placeholder 2"/>
          <p:cNvSpPr>
            <a:spLocks noGrp="1"/>
          </p:cNvSpPr>
          <p:nvPr>
            <p:ph idx="1"/>
          </p:nvPr>
        </p:nvSpPr>
        <p:spPr>
          <a:xfrm>
            <a:off x="609600" y="1690688"/>
            <a:ext cx="11125200" cy="4100512"/>
          </a:xfrm>
        </p:spPr>
        <p:txBody>
          <a:bodyPr>
            <a:no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Improved Accuracy</a:t>
            </a:r>
            <a:r>
              <a:rPr lang="en-US" sz="2000" dirty="0">
                <a:latin typeface="Times New Roman" panose="02020603050405020304" pitchFamily="18" charset="0"/>
                <a:cs typeface="Times New Roman" panose="02020603050405020304" pitchFamily="18" charset="0"/>
              </a:rPr>
              <a:t> : By using machine learning to analyze consumption patterns instead of fixed thresholds, your system can significantly reduce false alarms and more accurately detect actual theft.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Adaptive to New Threats</a:t>
            </a:r>
            <a:r>
              <a:rPr lang="en-US" sz="2000" dirty="0">
                <a:latin typeface="Times New Roman" panose="02020603050405020304" pitchFamily="18" charset="0"/>
                <a:cs typeface="Times New Roman" panose="02020603050405020304" pitchFamily="18" charset="0"/>
              </a:rPr>
              <a:t> : The system's ability to learn from consumption patterns allows it to adapt and identify new or evolving theft techniques that might not be caught by traditional, rule-based systems.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Enhanced Data Privacy</a:t>
            </a:r>
            <a:r>
              <a:rPr lang="en-US" sz="2000" dirty="0">
                <a:latin typeface="Times New Roman" panose="02020603050405020304" pitchFamily="18" charset="0"/>
                <a:cs typeface="Times New Roman" panose="02020603050405020304" pitchFamily="18" charset="0"/>
              </a:rPr>
              <a:t> : The </a:t>
            </a:r>
            <a:r>
              <a:rPr lang="en-US" sz="2000" b="1" dirty="0">
                <a:latin typeface="Times New Roman" panose="02020603050405020304" pitchFamily="18" charset="0"/>
                <a:cs typeface="Times New Roman" panose="02020603050405020304" pitchFamily="18" charset="0"/>
              </a:rPr>
              <a:t>federated learning</a:t>
            </a:r>
            <a:r>
              <a:rPr lang="en-US" sz="2000" dirty="0">
                <a:latin typeface="Times New Roman" panose="02020603050405020304" pitchFamily="18" charset="0"/>
                <a:cs typeface="Times New Roman" panose="02020603050405020304" pitchFamily="18" charset="0"/>
              </a:rPr>
              <a:t> framework ensures that sensitive, raw data remains on the vehicle. This allows the model to learn from a large fleet without centralizing data, which is a major privacy advantage.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Collaborative Learning</a:t>
            </a:r>
            <a:r>
              <a:rPr lang="en-US" sz="2000" dirty="0">
                <a:latin typeface="Times New Roman" panose="02020603050405020304" pitchFamily="18" charset="0"/>
                <a:cs typeface="Times New Roman" panose="02020603050405020304" pitchFamily="18" charset="0"/>
              </a:rPr>
              <a:t> : By learning collectively from an entire fleet, the model can improve its detection capabilities more rapidly and effectively than a standalone system would.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Reduced Centralization Risk</a:t>
            </a:r>
            <a:r>
              <a:rPr lang="en-US" sz="2000" dirty="0">
                <a:latin typeface="Times New Roman" panose="02020603050405020304" pitchFamily="18" charset="0"/>
                <a:cs typeface="Times New Roman" panose="02020603050405020304" pitchFamily="18" charset="0"/>
              </a:rPr>
              <a:t> : Since raw data isn't sent to a central server, the system mitigates the risk of a single point of failure or data breach that could expose the information of an entire fleet.</a:t>
            </a:r>
          </a:p>
        </p:txBody>
      </p:sp>
      <p:sp>
        <p:nvSpPr>
          <p:cNvPr id="4" name="Slide Number Placeholder 3"/>
          <p:cNvSpPr>
            <a:spLocks noGrp="1"/>
          </p:cNvSpPr>
          <p:nvPr>
            <p:ph type="sldNum" sz="quarter" idx="12"/>
          </p:nvPr>
        </p:nvSpPr>
        <p:spPr/>
        <p:txBody>
          <a:bodyPr/>
          <a:lstStyle/>
          <a:p>
            <a:fld id="{B6F15528-21DE-4FAA-801E-634DDDAF4B2B}" type="slidenum">
              <a:rPr lang="en-US" smtClean="0"/>
              <a:t>13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Bookman Old Style" panose="02050604050505020204" pitchFamily="18" charset="0"/>
              </a:rPr>
              <a:t>TOOLS FOR IMPLEMENTATION </a:t>
            </a:r>
            <a:endParaRPr lang="en-US" dirty="0">
              <a:latin typeface="Bookman Old Style" panose="02050604050505020204" pitchFamily="18" charset="0"/>
            </a:endParaRPr>
          </a:p>
        </p:txBody>
      </p:sp>
      <p:sp>
        <p:nvSpPr>
          <p:cNvPr id="3" name="Content Placeholder 2"/>
          <p:cNvSpPr>
            <a:spLocks noGrp="1"/>
          </p:cNvSpPr>
          <p:nvPr>
            <p:ph idx="1"/>
          </p:nvPr>
        </p:nvSpPr>
        <p:spPr>
          <a:xfrm>
            <a:off x="762000" y="1447800"/>
            <a:ext cx="10744200" cy="5181599"/>
          </a:xfrm>
        </p:spPr>
        <p:txBody>
          <a:bodyPr>
            <a:noAutofit/>
          </a:bodyPr>
          <a:lstStyle/>
          <a:p>
            <a:pPr marL="0" indent="0" eaLnBrk="0" fontAlgn="base" hangingPunct="0">
              <a:lnSpc>
                <a:spcPct val="100000"/>
              </a:lnSpc>
              <a:spcBef>
                <a:spcPct val="0"/>
              </a:spcBef>
              <a:spcAft>
                <a:spcPct val="0"/>
              </a:spcAft>
              <a:buNone/>
            </a:pPr>
            <a:r>
              <a:rPr lang="en-US" altLang="en-US" sz="2000" b="1" dirty="0">
                <a:solidFill>
                  <a:srgbClr val="1B1C1D"/>
                </a:solidFill>
                <a:latin typeface="Times New Roman" panose="02020603050405020304" pitchFamily="18" charset="0"/>
                <a:cs typeface="Times New Roman" panose="02020603050405020304" pitchFamily="18" charset="0"/>
              </a:rPr>
              <a:t>Software Tools</a:t>
            </a: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Programming</a:t>
            </a:r>
            <a:r>
              <a:rPr lang="en-US" altLang="en-US" sz="800" dirty="0">
                <a:solidFill>
                  <a:srgbClr val="1B1C1D"/>
                </a:solidFill>
                <a:latin typeface="Times New Roman" panose="02020603050405020304" pitchFamily="18" charset="0"/>
                <a:cs typeface="Times New Roman" panose="02020603050405020304" pitchFamily="18" charset="0"/>
              </a:rPr>
              <a:t> :</a:t>
            </a:r>
            <a:r>
              <a:rPr lang="en-US" altLang="en-US" sz="2000" dirty="0">
                <a:solidFill>
                  <a:srgbClr val="1B1C1D"/>
                </a:solidFill>
                <a:latin typeface="Times New Roman" panose="02020603050405020304" pitchFamily="18" charset="0"/>
                <a:cs typeface="Times New Roman" panose="02020603050405020304" pitchFamily="18" charset="0"/>
              </a:rPr>
              <a:t> Python 3.xx ,Embedded-C</a:t>
            </a:r>
          </a:p>
          <a:p>
            <a:pPr marL="457200" indent="-457200" eaLnBrk="0" fontAlgn="base" hangingPunct="0">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Deep Learning Libraries: Scikit Learn, </a:t>
            </a:r>
            <a:r>
              <a:rPr lang="en-US" altLang="en-US" sz="2000" dirty="0" err="1">
                <a:solidFill>
                  <a:srgbClr val="1B1C1D"/>
                </a:solidFill>
                <a:latin typeface="Times New Roman" panose="02020603050405020304" pitchFamily="18" charset="0"/>
                <a:cs typeface="Times New Roman" panose="02020603050405020304" pitchFamily="18" charset="0"/>
              </a:rPr>
              <a:t>Keras</a:t>
            </a:r>
            <a:r>
              <a:rPr lang="en-US" altLang="en-US" sz="2000" dirty="0">
                <a:solidFill>
                  <a:srgbClr val="1B1C1D"/>
                </a:solidFill>
                <a:latin typeface="Times New Roman" panose="02020603050405020304" pitchFamily="18" charset="0"/>
                <a:cs typeface="Times New Roman" panose="02020603050405020304" pitchFamily="18" charset="0"/>
              </a:rPr>
              <a:t>, </a:t>
            </a:r>
            <a:r>
              <a:rPr lang="en-US" altLang="en-US" sz="2000" dirty="0" err="1">
                <a:solidFill>
                  <a:srgbClr val="1B1C1D"/>
                </a:solidFill>
                <a:latin typeface="Times New Roman" panose="02020603050405020304" pitchFamily="18" charset="0"/>
                <a:cs typeface="Times New Roman" panose="02020603050405020304" pitchFamily="18" charset="0"/>
              </a:rPr>
              <a:t>PyTorch</a:t>
            </a:r>
            <a:endParaRPr lang="en-US" altLang="en-US" sz="2000" dirty="0">
              <a:solidFill>
                <a:srgbClr val="1B1C1D"/>
              </a:solidFill>
              <a:latin typeface="Times New Roman" panose="02020603050405020304" pitchFamily="18" charset="0"/>
              <a:cs typeface="Times New Roman" panose="02020603050405020304" pitchFamily="18" charset="0"/>
            </a:endParaRP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Machine Learning Algorithms:  Isolation Forest</a:t>
            </a: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Federated Learning: TensorFlow Federated (TFF)</a:t>
            </a: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Frontend: </a:t>
            </a:r>
            <a:r>
              <a:rPr lang="en-US" altLang="en-US" sz="2000" dirty="0" err="1">
                <a:solidFill>
                  <a:srgbClr val="1B1C1D"/>
                </a:solidFill>
                <a:latin typeface="Times New Roman" panose="02020603050405020304" pitchFamily="18" charset="0"/>
                <a:cs typeface="Times New Roman" panose="02020603050405020304" pitchFamily="18" charset="0"/>
              </a:rPr>
              <a:t>React.js,Tailwind</a:t>
            </a:r>
            <a:r>
              <a:rPr lang="en-US" altLang="en-US" sz="2000" dirty="0">
                <a:solidFill>
                  <a:srgbClr val="1B1C1D"/>
                </a:solidFill>
                <a:latin typeface="Times New Roman" panose="02020603050405020304" pitchFamily="18" charset="0"/>
                <a:cs typeface="Times New Roman" panose="02020603050405020304" pitchFamily="18" charset="0"/>
              </a:rPr>
              <a:t> CSS</a:t>
            </a: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Backend: FLASK ,Postman</a:t>
            </a:r>
          </a:p>
          <a:p>
            <a:pPr marL="457200" indent="-457200" eaLnBrk="0" fontAlgn="base" hangingPunct="0">
              <a:lnSpc>
                <a:spcPct val="100000"/>
              </a:lnSpc>
              <a:spcBef>
                <a:spcPct val="0"/>
              </a:spcBef>
              <a:spcAft>
                <a:spcPct val="0"/>
              </a:spcAft>
              <a:buFont typeface="+mj-lt"/>
              <a:buAutoNum type="arabicPeriod"/>
            </a:pPr>
            <a:r>
              <a:rPr lang="en-US" altLang="en-US" sz="2000" dirty="0">
                <a:solidFill>
                  <a:srgbClr val="1B1C1D"/>
                </a:solidFill>
                <a:latin typeface="Times New Roman" panose="02020603050405020304" pitchFamily="18" charset="0"/>
                <a:cs typeface="Times New Roman" panose="02020603050405020304" pitchFamily="18" charset="0"/>
              </a:rPr>
              <a:t>IDE / Editor: VS Code, Arduino IDE</a:t>
            </a:r>
          </a:p>
          <a:p>
            <a:pPr marL="0" indent="0" eaLnBrk="0" fontAlgn="base" hangingPunct="0">
              <a:lnSpc>
                <a:spcPct val="100000"/>
              </a:lnSpc>
              <a:spcBef>
                <a:spcPct val="0"/>
              </a:spcBef>
              <a:spcAft>
                <a:spcPct val="0"/>
              </a:spcAft>
              <a:buNone/>
            </a:pPr>
            <a:endParaRPr lang="en-US" altLang="en-US" sz="2000" dirty="0">
              <a:solidFill>
                <a:srgbClr val="1B1C1D"/>
              </a:solidFill>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b="1" dirty="0">
                <a:solidFill>
                  <a:srgbClr val="1B1C1D"/>
                </a:solidFill>
                <a:latin typeface="Times New Roman" panose="02020603050405020304" pitchFamily="18" charset="0"/>
                <a:cs typeface="Times New Roman" panose="02020603050405020304" pitchFamily="18" charset="0"/>
              </a:rPr>
              <a:t>Hardware Tools</a:t>
            </a:r>
          </a:p>
          <a:p>
            <a:pPr marL="457200" indent="-457200" eaLnBrk="0" fontAlgn="base" hangingPunct="0">
              <a:lnSpc>
                <a:spcPct val="100000"/>
              </a:lnSpc>
              <a:spcBef>
                <a:spcPct val="0"/>
              </a:spcBef>
              <a:spcAft>
                <a:spcPct val="0"/>
              </a:spcAft>
              <a:buFont typeface="+mj-lt"/>
              <a:buAutoNum type="arabicPeriod"/>
            </a:pPr>
            <a:r>
              <a:rPr lang="en-IN" sz="1800" dirty="0" err="1"/>
              <a:t>NodeMCU</a:t>
            </a:r>
            <a:r>
              <a:rPr lang="en-IN" sz="1800" dirty="0"/>
              <a:t> Esp8266</a:t>
            </a:r>
          </a:p>
          <a:p>
            <a:pPr marL="457200" indent="-457200" eaLnBrk="0" fontAlgn="base" hangingPunct="0">
              <a:lnSpc>
                <a:spcPct val="100000"/>
              </a:lnSpc>
              <a:spcBef>
                <a:spcPct val="0"/>
              </a:spcBef>
              <a:spcAft>
                <a:spcPct val="0"/>
              </a:spcAft>
              <a:buFont typeface="+mj-lt"/>
              <a:buAutoNum type="arabicPeriod"/>
            </a:pPr>
            <a:r>
              <a:rPr lang="en-IN" sz="1800" dirty="0"/>
              <a:t>Ultrasonic sensor</a:t>
            </a:r>
          </a:p>
          <a:p>
            <a:pPr marL="457200" indent="-457200" eaLnBrk="0" fontAlgn="base" hangingPunct="0">
              <a:lnSpc>
                <a:spcPct val="100000"/>
              </a:lnSpc>
              <a:spcBef>
                <a:spcPct val="0"/>
              </a:spcBef>
              <a:spcAft>
                <a:spcPct val="0"/>
              </a:spcAft>
              <a:buFont typeface="+mj-lt"/>
              <a:buAutoNum type="arabicPeriod"/>
            </a:pPr>
            <a:r>
              <a:rPr lang="en-IN" sz="1800" dirty="0" err="1"/>
              <a:t>LED,Buzzer</a:t>
            </a:r>
            <a:endParaRPr lang="en-IN" sz="1800" dirty="0"/>
          </a:p>
          <a:p>
            <a:pPr marL="457200" indent="-457200" eaLnBrk="0" fontAlgn="base" hangingPunct="0">
              <a:lnSpc>
                <a:spcPct val="100000"/>
              </a:lnSpc>
              <a:spcBef>
                <a:spcPct val="0"/>
              </a:spcBef>
              <a:spcAft>
                <a:spcPct val="0"/>
              </a:spcAft>
              <a:buFont typeface="+mj-lt"/>
              <a:buAutoNum type="arabicPeriod"/>
            </a:pPr>
            <a:r>
              <a:rPr lang="en-IN" sz="1800" dirty="0"/>
              <a:t>Jumper wires</a:t>
            </a:r>
          </a:p>
          <a:p>
            <a:pPr marL="457200" indent="-457200" eaLnBrk="0" fontAlgn="base" hangingPunct="0">
              <a:lnSpc>
                <a:spcPct val="100000"/>
              </a:lnSpc>
              <a:spcBef>
                <a:spcPct val="0"/>
              </a:spcBef>
              <a:spcAft>
                <a:spcPct val="0"/>
              </a:spcAft>
              <a:buFont typeface="+mj-lt"/>
              <a:buAutoNum type="arabicPeriod"/>
            </a:pPr>
            <a:r>
              <a:rPr lang="en-IN" sz="1800" dirty="0"/>
              <a:t>USB Cable</a:t>
            </a:r>
          </a:p>
          <a:p>
            <a:pPr marL="457200" indent="-4572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5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MODULES</a:t>
            </a:r>
            <a:endParaRPr lang="en-US" dirty="0"/>
          </a:p>
        </p:txBody>
      </p:sp>
      <p:sp>
        <p:nvSpPr>
          <p:cNvPr id="3" name="Content Placeholder 2"/>
          <p:cNvSpPr>
            <a:spLocks noGrp="1"/>
          </p:cNvSpPr>
          <p:nvPr>
            <p:ph idx="1"/>
          </p:nvPr>
        </p:nvSpPr>
        <p:spPr>
          <a:xfrm>
            <a:off x="762000" y="1828800"/>
            <a:ext cx="10591800" cy="4267200"/>
          </a:xfrm>
        </p:spPr>
        <p:txBody>
          <a:bodyPr>
            <a:noAutofit/>
          </a:bodyPr>
          <a:lstStyle/>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IoT Sensing and Data Acquisition</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Secure Connectivity and API Gateway </a:t>
            </a:r>
          </a:p>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Federated Learning and Anomaly Detection </a:t>
            </a:r>
            <a:r>
              <a:rPr lang="en-US" sz="3200" dirty="0" err="1">
                <a:latin typeface="Times New Roman" panose="02020603050405020304" pitchFamily="18" charset="0"/>
                <a:cs typeface="Times New Roman" panose="02020603050405020304" pitchFamily="18" charset="0"/>
              </a:rPr>
              <a:t>CoreAuthentication</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Intelligent Alerting and Actuation System</a:t>
            </a: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Real-Time Monitoring Dashboard </a:t>
            </a: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OUTPUT/RESULTS</a:t>
            </a:r>
          </a:p>
        </p:txBody>
      </p:sp>
      <p:sp>
        <p:nvSpPr>
          <p:cNvPr id="8" name="Content Placeholder 7"/>
          <p:cNvSpPr>
            <a:spLocks noGrp="1"/>
          </p:cNvSpPr>
          <p:nvPr>
            <p:ph idx="1"/>
          </p:nvPr>
        </p:nvSpPr>
        <p:spPr>
          <a:xfrm>
            <a:off x="5181600" y="1524000"/>
            <a:ext cx="6019800" cy="4953000"/>
          </a:xfrm>
        </p:spPr>
        <p:txBody>
          <a:bodyPr>
            <a:normAutofit lnSpcReduction="10000"/>
          </a:bodyPr>
          <a:lstStyle/>
          <a:p>
            <a:pPr marL="0" indent="0" algn="just">
              <a:buNone/>
            </a:pPr>
            <a:r>
              <a:rPr lang="en-US" sz="2400" dirty="0">
                <a:latin typeface="Times New Roman" panose="02020603050405020304" pitchFamily="18" charset="0"/>
                <a:cs typeface="Times New Roman" panose="02020603050405020304" pitchFamily="18" charset="0"/>
              </a:rPr>
              <a:t>The user interface for the Secure Fuel Monitoring System is designed with a high-contrast "Cyber-Security" dark theme to ensure clarity and professional appeal. The dashboard features a dynamic Live Sensor Feed line chart that visualizes fuel level fluctuations in real-time. Key visual elements include color-coded status cards that instantly transition from Green (Normal) to Red (Theft Detected) or Grey (Offline) based on server feedback. This intuitive layout ensures that complex Federated Learning inputs are translated into clear, actionable insights, allowing administrators to identify and respond to fuel theft incidents immediately.</a:t>
            </a:r>
          </a:p>
        </p:txBody>
      </p:sp>
      <p:sp>
        <p:nvSpPr>
          <p:cNvPr id="4" name="Slide Number Placeholder 3"/>
          <p:cNvSpPr>
            <a:spLocks noGrp="1"/>
          </p:cNvSpPr>
          <p:nvPr>
            <p:ph type="sldNum" sz="quarter" idx="12"/>
          </p:nvPr>
        </p:nvSpPr>
        <p:spPr/>
        <p:txBody>
          <a:bodyPr/>
          <a:lstStyle/>
          <a:p>
            <a:fld id="{B6F15528-21DE-4FAA-801E-634DDDAF4B2B}" type="slidenum">
              <a:rPr lang="en-US" smtClean="0"/>
              <a:t>16</a:t>
            </a:fld>
            <a:endParaRPr lang="en-US" dirty="0"/>
          </a:p>
        </p:txBody>
      </p:sp>
      <p:pic>
        <p:nvPicPr>
          <p:cNvPr id="1026" name="Picture 2" descr="Government accused of doing 'bugger all' to shore up Australia's fuel  security - ABC News">
            <a:extLst>
              <a:ext uri="{FF2B5EF4-FFF2-40B4-BE49-F238E27FC236}">
                <a16:creationId xmlns:a16="http://schemas.microsoft.com/office/drawing/2014/main" id="{A42878E3-7CDB-BBAC-8E73-5B66041A7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07" y="1981200"/>
            <a:ext cx="4553893" cy="2562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USER INTERFACE</a:t>
            </a:r>
          </a:p>
        </p:txBody>
      </p:sp>
      <p:sp>
        <p:nvSpPr>
          <p:cNvPr id="4" name="Slide Number Placeholder 3"/>
          <p:cNvSpPr>
            <a:spLocks noGrp="1"/>
          </p:cNvSpPr>
          <p:nvPr>
            <p:ph type="sldNum" sz="quarter" idx="12"/>
          </p:nvPr>
        </p:nvSpPr>
        <p:spPr/>
        <p:txBody>
          <a:bodyPr/>
          <a:lstStyle/>
          <a:p>
            <a:fld id="{B6F15528-21DE-4FAA-801E-634DDDAF4B2B}" type="slidenum">
              <a:rPr lang="en-US" smtClean="0"/>
              <a:t>17</a:t>
            </a:fld>
            <a:endParaRPr lang="en-US" dirty="0"/>
          </a:p>
        </p:txBody>
      </p:sp>
      <p:sp>
        <p:nvSpPr>
          <p:cNvPr id="13" name="TextBox 12">
            <a:extLst>
              <a:ext uri="{FF2B5EF4-FFF2-40B4-BE49-F238E27FC236}">
                <a16:creationId xmlns:a16="http://schemas.microsoft.com/office/drawing/2014/main" id="{5D6CCA44-2B07-F39C-DE2E-D9D34FBCCBB2}"/>
              </a:ext>
            </a:extLst>
          </p:cNvPr>
          <p:cNvSpPr txBox="1"/>
          <p:nvPr/>
        </p:nvSpPr>
        <p:spPr>
          <a:xfrm>
            <a:off x="1828800" y="1654453"/>
            <a:ext cx="8991600" cy="3785652"/>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user interface (UI) for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Fuel Theft Detection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built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Tailwind CSS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to provide a seamless, real-time monitoring experience for fleet administrators and security personnel.</a:t>
            </a:r>
          </a:p>
          <a:p>
            <a:pPr marL="0" marR="0" lvl="0" indent="0"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with a high-contrast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"Cyber-Security" dark theme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dashboard focuses on clarity and speed, ensuring that critical alerts (like theft detection) grab the user's attention immediately through dynamic color changes (Green to Red).</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581" y="-152400"/>
            <a:ext cx="5181600" cy="1671320"/>
          </a:xfrm>
        </p:spPr>
        <p:txBody>
          <a:bodyPr>
            <a:normAutofit/>
          </a:bodyPr>
          <a:lstStyle/>
          <a:p>
            <a:r>
              <a:rPr lang="en-US" b="1" dirty="0">
                <a:latin typeface="Bookman Old Style" panose="02050604050505020204" pitchFamily="18" charset="0"/>
              </a:rPr>
              <a:t>WEB INTERFACE</a:t>
            </a:r>
          </a:p>
        </p:txBody>
      </p:sp>
      <p:sp>
        <p:nvSpPr>
          <p:cNvPr id="4" name="Slide Number Placeholder 3"/>
          <p:cNvSpPr>
            <a:spLocks noGrp="1"/>
          </p:cNvSpPr>
          <p:nvPr>
            <p:ph type="sldNum" sz="quarter" idx="12"/>
          </p:nvPr>
        </p:nvSpPr>
        <p:spPr/>
        <p:txBody>
          <a:bodyPr/>
          <a:lstStyle/>
          <a:p>
            <a:fld id="{B6F15528-21DE-4FAA-801E-634DDDAF4B2B}" type="slidenum">
              <a:rPr lang="en-US" smtClean="0"/>
              <a:t>18</a:t>
            </a:fld>
            <a:endParaRPr lang="en-US" dirty="0"/>
          </a:p>
        </p:txBody>
      </p:sp>
      <p:sp>
        <p:nvSpPr>
          <p:cNvPr id="10" name="Rectangle 3">
            <a:extLst>
              <a:ext uri="{FF2B5EF4-FFF2-40B4-BE49-F238E27FC236}">
                <a16:creationId xmlns:a16="http://schemas.microsoft.com/office/drawing/2014/main" id="{34BC811A-0931-8E21-AAFD-33BDD6A80369}"/>
              </a:ext>
            </a:extLst>
          </p:cNvPr>
          <p:cNvSpPr>
            <a:spLocks noChangeArrowheads="1"/>
          </p:cNvSpPr>
          <p:nvPr/>
        </p:nvSpPr>
        <p:spPr bwMode="auto">
          <a:xfrm>
            <a:off x="5835381" y="1168360"/>
            <a:ext cx="6356619"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web interface for the Fuel Theft Detection System is developed using </a:t>
            </a:r>
            <a:r>
              <a:rPr kumimoji="0" lang="en-US" altLang="en-US" sz="1800" b="1" i="0" u="none" strike="noStrike" cap="none" normalizeH="0" baseline="0" dirty="0">
                <a:ln>
                  <a:noFill/>
                </a:ln>
                <a:solidFill>
                  <a:schemeClr val="tx1"/>
                </a:solidFill>
                <a:effectLst/>
                <a:latin typeface="Arial" panose="020B0604020202020204" pitchFamily="34" charset="0"/>
              </a:rPr>
              <a:t>React.js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Tailwind CSS</a:t>
            </a:r>
            <a:r>
              <a:rPr kumimoji="0" lang="en-US" altLang="en-US" sz="1800" b="0" i="0" u="none" strike="noStrike" cap="none" normalizeH="0" baseline="0" dirty="0">
                <a:ln>
                  <a:noFill/>
                </a:ln>
                <a:solidFill>
                  <a:schemeClr val="tx1"/>
                </a:solidFill>
                <a:effectLst/>
                <a:latin typeface="Arial" panose="020B0604020202020204" pitchFamily="34" charset="0"/>
              </a:rPr>
              <a:t>, providing a responsive and high-performance dashboard for real-time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features a </a:t>
            </a:r>
            <a:r>
              <a:rPr kumimoji="0" lang="en-US" altLang="en-US" sz="1800" b="1" i="0" u="none" strike="noStrike" cap="none" normalizeH="0" baseline="0" dirty="0">
                <a:ln>
                  <a:noFill/>
                </a:ln>
                <a:solidFill>
                  <a:schemeClr val="tx1"/>
                </a:solidFill>
                <a:effectLst/>
                <a:latin typeface="Arial" panose="020B0604020202020204" pitchFamily="34" charset="0"/>
              </a:rPr>
              <a:t>dynamic line chart</a:t>
            </a:r>
            <a:r>
              <a:rPr kumimoji="0" lang="en-US" altLang="en-US" sz="1800" b="0" i="0" u="none" strike="noStrike" cap="none" normalizeH="0" baseline="0" dirty="0">
                <a:ln>
                  <a:noFill/>
                </a:ln>
                <a:solidFill>
                  <a:schemeClr val="tx1"/>
                </a:solidFill>
                <a:effectLst/>
                <a:latin typeface="Arial" panose="020B0604020202020204" pitchFamily="34" charset="0"/>
              </a:rPr>
              <a:t> powered by Recharts, which visualizes live fuel level data received from the </a:t>
            </a:r>
            <a:r>
              <a:rPr kumimoji="0" lang="en-US" altLang="en-US" sz="1800" b="0" i="0" u="none" strike="noStrike" cap="none" normalizeH="0" baseline="0" dirty="0" err="1">
                <a:ln>
                  <a:noFill/>
                </a:ln>
                <a:solidFill>
                  <a:schemeClr val="tx1"/>
                </a:solidFill>
                <a:effectLst/>
                <a:latin typeface="Arial" panose="020B0604020202020204" pitchFamily="34" charset="0"/>
              </a:rPr>
              <a:t>NodeMCU</a:t>
            </a:r>
            <a:r>
              <a:rPr kumimoji="0" lang="en-US" altLang="en-US" sz="1800" b="0" i="0" u="none" strike="noStrike" cap="none" normalizeH="0" baseline="0" dirty="0">
                <a:ln>
                  <a:noFill/>
                </a:ln>
                <a:solidFill>
                  <a:schemeClr val="tx1"/>
                </a:solidFill>
                <a:effectLst/>
                <a:latin typeface="Arial" panose="020B0604020202020204" pitchFamily="34" charset="0"/>
              </a:rPr>
              <a:t>, allowing administrators to track consumption trends instantly.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components of the Web Interface include: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Live Status Cards:</a:t>
            </a:r>
            <a:r>
              <a:rPr kumimoji="0" lang="en-US" altLang="en-US" sz="1800" b="0" i="0" u="none" strike="noStrike" cap="none" normalizeH="0" baseline="0" dirty="0">
                <a:ln>
                  <a:noFill/>
                </a:ln>
                <a:solidFill>
                  <a:schemeClr val="tx1"/>
                </a:solidFill>
                <a:effectLst/>
                <a:latin typeface="Arial" panose="020B0604020202020204" pitchFamily="34" charset="0"/>
              </a:rPr>
              <a:t> Visual indicators that change color (Green/Red/Grey) based on the system state (Normal, Theft, Offline).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Alert System:</a:t>
            </a:r>
            <a:r>
              <a:rPr kumimoji="0" lang="en-US" altLang="en-US" sz="1800" b="0" i="0" u="none" strike="noStrike" cap="none" normalizeH="0" baseline="0" dirty="0">
                <a:ln>
                  <a:noFill/>
                </a:ln>
                <a:solidFill>
                  <a:schemeClr val="tx1"/>
                </a:solidFill>
                <a:effectLst/>
                <a:latin typeface="Arial" panose="020B0604020202020204" pitchFamily="34" charset="0"/>
              </a:rPr>
              <a:t> Immediate visual warnings ("THEFT DETECTED") displayed prominently when an anomaly is confirmed.</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Accuracy Metric:</a:t>
            </a:r>
            <a:r>
              <a:rPr kumimoji="0" lang="en-US" altLang="en-US" sz="1800" b="0" i="0" u="none" strike="noStrike" cap="none" normalizeH="0" baseline="0" dirty="0">
                <a:ln>
                  <a:noFill/>
                </a:ln>
                <a:solidFill>
                  <a:schemeClr val="tx1"/>
                </a:solidFill>
                <a:effectLst/>
                <a:latin typeface="Arial" panose="020B0604020202020204" pitchFamily="34" charset="0"/>
              </a:rPr>
              <a:t> A real-time display of the Machine Learning model's confidence score against the logical ground truth.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2333D12A-08E1-B35A-3700-B3D8ACFB02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81" y="1295400"/>
            <a:ext cx="5715000" cy="49073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865D7-A0B5-38E2-0651-D1FE0BDBD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A0DCE-AFAC-0A07-B413-8204FCE7B601}"/>
              </a:ext>
            </a:extLst>
          </p:cNvPr>
          <p:cNvSpPr>
            <a:spLocks noGrp="1"/>
          </p:cNvSpPr>
          <p:nvPr>
            <p:ph type="title"/>
          </p:nvPr>
        </p:nvSpPr>
        <p:spPr>
          <a:xfrm>
            <a:off x="2025381" y="-152400"/>
            <a:ext cx="7620000" cy="1671320"/>
          </a:xfrm>
        </p:spPr>
        <p:txBody>
          <a:bodyPr>
            <a:normAutofit/>
          </a:bodyPr>
          <a:lstStyle/>
          <a:p>
            <a:r>
              <a:rPr lang="en-IN" b="1" dirty="0">
                <a:latin typeface="Bookman Old Style" panose="02050604050505020204" pitchFamily="18" charset="0"/>
              </a:rPr>
              <a:t>LIVE GRAPH INTERFACE</a:t>
            </a:r>
            <a:endParaRPr lang="en-IN" dirty="0">
              <a:latin typeface="Bookman Old Style" panose="02050604050505020204" pitchFamily="18" charset="0"/>
            </a:endParaRPr>
          </a:p>
        </p:txBody>
      </p:sp>
      <p:sp>
        <p:nvSpPr>
          <p:cNvPr id="4" name="Slide Number Placeholder 3">
            <a:extLst>
              <a:ext uri="{FF2B5EF4-FFF2-40B4-BE49-F238E27FC236}">
                <a16:creationId xmlns:a16="http://schemas.microsoft.com/office/drawing/2014/main" id="{CBE862A5-C2FE-AEFA-5E5A-574C8907AFA0}"/>
              </a:ext>
            </a:extLst>
          </p:cNvPr>
          <p:cNvSpPr>
            <a:spLocks noGrp="1"/>
          </p:cNvSpPr>
          <p:nvPr>
            <p:ph type="sldNum" sz="quarter" idx="12"/>
          </p:nvPr>
        </p:nvSpPr>
        <p:spPr/>
        <p:txBody>
          <a:bodyPr/>
          <a:lstStyle/>
          <a:p>
            <a:fld id="{B6F15528-21DE-4FAA-801E-634DDDAF4B2B}" type="slidenum">
              <a:rPr lang="en-US" smtClean="0"/>
              <a:t>19</a:t>
            </a:fld>
            <a:endParaRPr lang="en-US" dirty="0"/>
          </a:p>
        </p:txBody>
      </p:sp>
      <p:sp>
        <p:nvSpPr>
          <p:cNvPr id="10" name="Rectangle 3">
            <a:extLst>
              <a:ext uri="{FF2B5EF4-FFF2-40B4-BE49-F238E27FC236}">
                <a16:creationId xmlns:a16="http://schemas.microsoft.com/office/drawing/2014/main" id="{741514CB-3512-9F5D-BB4C-0F5FE95B7A27}"/>
              </a:ext>
            </a:extLst>
          </p:cNvPr>
          <p:cNvSpPr>
            <a:spLocks noChangeArrowheads="1"/>
          </p:cNvSpPr>
          <p:nvPr/>
        </p:nvSpPr>
        <p:spPr bwMode="auto">
          <a:xfrm>
            <a:off x="5638800" y="1219200"/>
            <a:ext cx="635661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b="1" dirty="0"/>
              <a:t>Real-Time Visualization:</a:t>
            </a:r>
            <a:r>
              <a:rPr lang="en-US" sz="2400" dirty="0"/>
              <a:t> The interface features a dynamic line chart powered by </a:t>
            </a:r>
            <a:r>
              <a:rPr lang="en-US" sz="2400" b="1" dirty="0"/>
              <a:t>Recharts</a:t>
            </a:r>
            <a:r>
              <a:rPr lang="en-US" sz="2400" dirty="0"/>
              <a:t>, rendering live fuel level data with millisecond latency.</a:t>
            </a:r>
          </a:p>
          <a:p>
            <a:pPr marL="342900" indent="-342900">
              <a:buFont typeface="Arial" panose="020B0604020202020204" pitchFamily="34" charset="0"/>
              <a:buChar char="•"/>
            </a:pPr>
            <a:r>
              <a:rPr lang="en-US" sz="2400" b="1" dirty="0"/>
              <a:t>Trend Monitoring:</a:t>
            </a:r>
            <a:r>
              <a:rPr lang="en-US" sz="2400" dirty="0"/>
              <a:t> By visualizing the last 20 sensor readings, the graph allows administrators to instantly distinguish between gradual consumption and sudden drops indicative of theft.</a:t>
            </a:r>
          </a:p>
          <a:p>
            <a:pPr marL="342900" indent="-342900">
              <a:buFont typeface="Arial" panose="020B0604020202020204" pitchFamily="34" charset="0"/>
              <a:buChar char="•"/>
            </a:pPr>
            <a:r>
              <a:rPr lang="en-US" sz="2400" b="1" dirty="0"/>
              <a:t>Zero-Lag Updates:</a:t>
            </a:r>
            <a:r>
              <a:rPr lang="en-US" sz="2400" dirty="0"/>
              <a:t> The system employs an efficient polling mechanism that refreshes the visualization every second, ensuring the display is always synchronized with the physical hardware.</a:t>
            </a:r>
            <a:endParaRPr lang="en-US" sz="2400" dirty="0">
              <a:effectLst/>
            </a:endParaRPr>
          </a:p>
        </p:txBody>
      </p:sp>
      <p:pic>
        <p:nvPicPr>
          <p:cNvPr id="5" name="Picture 4">
            <a:extLst>
              <a:ext uri="{FF2B5EF4-FFF2-40B4-BE49-F238E27FC236}">
                <a16:creationId xmlns:a16="http://schemas.microsoft.com/office/drawing/2014/main" id="{386EE7B1-41BA-F39E-F1B7-A5EEC7C6D45A}"/>
              </a:ext>
            </a:extLst>
          </p:cNvPr>
          <p:cNvPicPr>
            <a:picLocks noChangeAspect="1"/>
          </p:cNvPicPr>
          <p:nvPr/>
        </p:nvPicPr>
        <p:blipFill>
          <a:blip r:embed="rId2">
            <a:extLst>
              <a:ext uri="{28A0092B-C50C-407E-A947-70E740481C1C}">
                <a14:useLocalDpi xmlns:a14="http://schemas.microsoft.com/office/drawing/2010/main" val="0"/>
              </a:ext>
            </a:extLst>
          </a:blip>
          <a:srcRect l="2138" t="51200" r="22237" b="2730"/>
          <a:stretch>
            <a:fillRect/>
          </a:stretch>
        </p:blipFill>
        <p:spPr>
          <a:xfrm>
            <a:off x="325120" y="1414670"/>
            <a:ext cx="5334000" cy="4872038"/>
          </a:xfrm>
          <a:prstGeom prst="rect">
            <a:avLst/>
          </a:prstGeom>
        </p:spPr>
      </p:pic>
    </p:spTree>
    <p:extLst>
      <p:ext uri="{BB962C8B-B14F-4D97-AF65-F5344CB8AC3E}">
        <p14:creationId xmlns:p14="http://schemas.microsoft.com/office/powerpoint/2010/main" val="26362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ADDITIONAL FEATURES</a:t>
            </a:r>
            <a:endParaRPr lang="en-US" dirty="0"/>
          </a:p>
        </p:txBody>
      </p:sp>
      <p:sp>
        <p:nvSpPr>
          <p:cNvPr id="3" name="Content Placeholder 2"/>
          <p:cNvSpPr>
            <a:spLocks noGrp="1"/>
          </p:cNvSpPr>
          <p:nvPr>
            <p:ph idx="1"/>
          </p:nvPr>
        </p:nvSpPr>
        <p:spPr>
          <a:xfrm>
            <a:off x="1905000" y="1295400"/>
            <a:ext cx="8153400" cy="4817269"/>
          </a:xfrm>
        </p:spPr>
        <p:txBody>
          <a:bodyPr>
            <a:normAutofit fontScale="92500" lnSpcReduction="10000"/>
          </a:bodyPr>
          <a:lstStyle/>
          <a:p>
            <a:pPr marL="0" indent="0">
              <a:buNone/>
            </a:pPr>
            <a:endParaRPr lang="en-US" sz="2400" dirty="0"/>
          </a:p>
          <a:p>
            <a:r>
              <a:rPr lang="en-US" sz="2400" b="1" dirty="0"/>
              <a:t>Smart Connectivity Monitoring:</a:t>
            </a:r>
            <a:r>
              <a:rPr lang="en-US" sz="2400" dirty="0"/>
              <a:t> The system features an automated </a:t>
            </a:r>
            <a:r>
              <a:rPr lang="en-US" sz="2400" b="1" dirty="0"/>
              <a:t>"Heartbeat Check"</a:t>
            </a:r>
            <a:r>
              <a:rPr lang="en-US" sz="2400" dirty="0"/>
              <a:t> mechanism. If the Edge Node (</a:t>
            </a:r>
            <a:r>
              <a:rPr lang="en-US" sz="2400" dirty="0" err="1"/>
              <a:t>NodeMCU</a:t>
            </a:r>
            <a:r>
              <a:rPr lang="en-US" sz="2400" dirty="0"/>
              <a:t>) loses power or disconnects for more than 5 seconds, the server instantly updates the dashboard status to </a:t>
            </a:r>
            <a:r>
              <a:rPr lang="en-US" sz="2400" b="1" dirty="0"/>
              <a:t>"OFFLINE"</a:t>
            </a:r>
            <a:r>
              <a:rPr lang="en-US" sz="2400" dirty="0"/>
              <a:t> (Grey), ensuring administrators are never misled by stale or frozen data.</a:t>
            </a:r>
          </a:p>
          <a:p>
            <a:r>
              <a:rPr lang="en-US" sz="2400" b="1" dirty="0"/>
              <a:t>Intelligent Debouncing Logic:</a:t>
            </a:r>
            <a:r>
              <a:rPr lang="en-US" sz="2400" dirty="0"/>
              <a:t> To distinguish between genuine theft and vehicle vibrations (road bumps), the system utilizes a </a:t>
            </a:r>
            <a:r>
              <a:rPr lang="en-US" sz="2400" b="1" dirty="0"/>
              <a:t>"Confirmation Window."</a:t>
            </a:r>
            <a:r>
              <a:rPr lang="en-US" sz="2400" dirty="0"/>
              <a:t> The hardware alarm is only triggered if an anomaly persists for </a:t>
            </a:r>
            <a:r>
              <a:rPr lang="en-US" sz="2400" b="1" dirty="0"/>
              <a:t>three consecutive readings</a:t>
            </a:r>
            <a:r>
              <a:rPr lang="en-US" sz="2400" dirty="0"/>
              <a:t>, significantly reducing false positives compared to traditional sensors.</a:t>
            </a:r>
          </a:p>
          <a:p>
            <a:r>
              <a:rPr lang="en-US" sz="2400" b="1" dirty="0"/>
              <a:t>Privacy-First Architecture:</a:t>
            </a:r>
            <a:r>
              <a:rPr lang="en-US" sz="2400" dirty="0"/>
              <a:t> By implementing a </a:t>
            </a:r>
            <a:r>
              <a:rPr lang="en-US" sz="2400" b="1" dirty="0"/>
              <a:t>Federated Learning simulation</a:t>
            </a:r>
            <a:r>
              <a:rPr lang="en-US" sz="2400" dirty="0"/>
              <a:t>, the system is designed to prioritize data privacy. It demonstrates a capability where sensitive raw fuel data can be processed locally at the edge, with only statistical model updates transmitted to the central server, minimizing cyber-security risks.</a:t>
            </a:r>
          </a:p>
        </p:txBody>
      </p:sp>
      <p:sp>
        <p:nvSpPr>
          <p:cNvPr id="4" name="Slide Number Placeholder 3"/>
          <p:cNvSpPr>
            <a:spLocks noGrp="1"/>
          </p:cNvSpPr>
          <p:nvPr>
            <p:ph type="sldNum" sz="quarter" idx="12"/>
          </p:nvPr>
        </p:nvSpPr>
        <p:spPr/>
        <p:txBody>
          <a:bodyPr/>
          <a:lstStyle/>
          <a:p>
            <a:fld id="{B6F15528-21DE-4FAA-801E-634DDDAF4B2B}" type="slidenum">
              <a:rPr lang="en-US" smtClean="0"/>
              <a:t>20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REFERENCES</a:t>
            </a:r>
            <a:endParaRPr lang="en-US" dirty="0">
              <a:latin typeface="Bookman Old Style" panose="02050604050505020204" pitchFamily="18" charset="0"/>
            </a:endParaRPr>
          </a:p>
        </p:txBody>
      </p:sp>
      <p:sp>
        <p:nvSpPr>
          <p:cNvPr id="3" name="Content Placeholder 2"/>
          <p:cNvSpPr>
            <a:spLocks noGrp="1"/>
          </p:cNvSpPr>
          <p:nvPr>
            <p:ph idx="1"/>
          </p:nvPr>
        </p:nvSpPr>
        <p:spPr>
          <a:xfrm>
            <a:off x="533400" y="1752600"/>
            <a:ext cx="11201400" cy="4968875"/>
          </a:xfrm>
        </p:spPr>
        <p:txBody>
          <a:bodyPr>
            <a:noAutofit/>
          </a:bodyPr>
          <a:lstStyle/>
          <a:p>
            <a:r>
              <a:rPr lang="en-IN" sz="1600" dirty="0">
                <a:latin typeface="Times New Roman" panose="02020603050405020304" pitchFamily="18" charset="0"/>
                <a:cs typeface="Times New Roman" panose="02020603050405020304" pitchFamily="18" charset="0"/>
              </a:rPr>
              <a:t>[1]. </a:t>
            </a:r>
            <a:r>
              <a:rPr lang="en-US" altLang="en-US" sz="1600" b="1" dirty="0">
                <a:latin typeface="Times New Roman" panose="02020603050405020304" pitchFamily="18" charset="0"/>
                <a:cs typeface="Times New Roman" panose="02020603050405020304" pitchFamily="18" charset="0"/>
              </a:rPr>
              <a:t>Madhusudhana Rao, G., et al.</a:t>
            </a:r>
            <a:r>
              <a:rPr lang="en-US" altLang="en-US" sz="1600" dirty="0">
                <a:latin typeface="Times New Roman" panose="02020603050405020304" pitchFamily="18" charset="0"/>
                <a:cs typeface="Times New Roman" panose="02020603050405020304" pitchFamily="18" charset="0"/>
              </a:rPr>
              <a:t> "Fuel Theft Detection System with Automated Calling and Alert Using GSM." </a:t>
            </a:r>
            <a:r>
              <a:rPr lang="en-US" altLang="en-US" sz="1600" i="1" dirty="0">
                <a:latin typeface="Times New Roman" panose="02020603050405020304" pitchFamily="18" charset="0"/>
                <a:cs typeface="Times New Roman" panose="02020603050405020304" pitchFamily="18" charset="0"/>
              </a:rPr>
              <a:t>International Journal of Innovative Research in Science, Engineering and Technology</a:t>
            </a:r>
            <a:r>
              <a:rPr lang="en-US" altLang="en-US" sz="1600" dirty="0">
                <a:latin typeface="Times New Roman" panose="02020603050405020304" pitchFamily="18" charset="0"/>
                <a:cs typeface="Times New Roman" panose="02020603050405020304" pitchFamily="18" charset="0"/>
              </a:rPr>
              <a:t>, 2024.</a:t>
            </a:r>
            <a:endParaRPr lang="en-IN" sz="1600" dirty="0">
              <a:latin typeface="Times New Roman" panose="02020603050405020304" pitchFamily="18" charset="0"/>
              <a:cs typeface="Times New Roman" panose="02020603050405020304" pitchFamily="18" charset="0"/>
            </a:endParaRPr>
          </a:p>
          <a:p>
            <a:pPr>
              <a:spcBef>
                <a:spcPct val="0"/>
              </a:spcBef>
            </a:pPr>
            <a:r>
              <a:rPr lang="en-IN" sz="1600" dirty="0">
                <a:latin typeface="Times New Roman" panose="02020603050405020304" pitchFamily="18" charset="0"/>
                <a:cs typeface="Times New Roman" panose="02020603050405020304" pitchFamily="18" charset="0"/>
              </a:rPr>
              <a:t>[2]. </a:t>
            </a:r>
            <a:r>
              <a:rPr lang="en-US" altLang="en-US" sz="1600" b="1" dirty="0">
                <a:latin typeface="Times New Roman" panose="02020603050405020304" pitchFamily="18" charset="0"/>
                <a:cs typeface="Times New Roman" panose="02020603050405020304" pitchFamily="18" charset="0"/>
              </a:rPr>
              <a:t>Chaudhari, Durvesh S., et al.</a:t>
            </a:r>
            <a:r>
              <a:rPr lang="en-US" altLang="en-US" sz="1600" dirty="0">
                <a:latin typeface="Times New Roman" panose="02020603050405020304" pitchFamily="18" charset="0"/>
                <a:cs typeface="Times New Roman" panose="02020603050405020304" pitchFamily="18" charset="0"/>
              </a:rPr>
              <a:t> "Fuel Monitoring System Using IoT Device." </a:t>
            </a:r>
            <a:r>
              <a:rPr lang="en-US" altLang="en-US" sz="1600" i="1" dirty="0">
                <a:latin typeface="Times New Roman" panose="02020603050405020304" pitchFamily="18" charset="0"/>
                <a:cs typeface="Times New Roman" panose="02020603050405020304" pitchFamily="18" charset="0"/>
              </a:rPr>
              <a:t>International Research Journal of Modernization in Engineering Technology and Science</a:t>
            </a:r>
            <a:r>
              <a:rPr lang="en-US" altLang="en-US" sz="1600" dirty="0">
                <a:latin typeface="Times New Roman" panose="02020603050405020304" pitchFamily="18" charset="0"/>
                <a:cs typeface="Times New Roman" panose="02020603050405020304" pitchFamily="18" charset="0"/>
              </a:rPr>
              <a:t>, 2024.</a:t>
            </a:r>
          </a:p>
          <a:p>
            <a:pPr>
              <a:spcBef>
                <a:spcPct val="0"/>
              </a:spcBef>
            </a:pPr>
            <a:r>
              <a:rPr lang="en-IN" sz="1600" dirty="0">
                <a:latin typeface="Times New Roman" panose="02020603050405020304" pitchFamily="18" charset="0"/>
                <a:cs typeface="Times New Roman" panose="02020603050405020304" pitchFamily="18" charset="0"/>
              </a:rPr>
              <a:t>[3]. </a:t>
            </a:r>
            <a:r>
              <a:rPr lang="en-US" altLang="en-US" sz="1600" b="1" dirty="0" err="1">
                <a:latin typeface="Times New Roman" panose="02020603050405020304" pitchFamily="18" charset="0"/>
                <a:cs typeface="Times New Roman" panose="02020603050405020304" pitchFamily="18" charset="0"/>
              </a:rPr>
              <a:t>Pillutla</a:t>
            </a:r>
            <a:r>
              <a:rPr lang="en-US" altLang="en-US" sz="1600" b="1" dirty="0">
                <a:latin typeface="Times New Roman" panose="02020603050405020304" pitchFamily="18" charset="0"/>
                <a:cs typeface="Times New Roman" panose="02020603050405020304" pitchFamily="18" charset="0"/>
              </a:rPr>
              <a:t>, Siva Ramakrishna, et al.</a:t>
            </a:r>
            <a:r>
              <a:rPr lang="en-US" altLang="en-US" sz="1600" dirty="0">
                <a:latin typeface="Times New Roman" panose="02020603050405020304" pitchFamily="18" charset="0"/>
                <a:cs typeface="Times New Roman" panose="02020603050405020304" pitchFamily="18" charset="0"/>
              </a:rPr>
              <a:t> "Design and Implementation of Vehicle Theft Prevention by Operating Fuel Injector." </a:t>
            </a:r>
            <a:r>
              <a:rPr lang="en-US" altLang="en-US" sz="1600" i="1" dirty="0">
                <a:latin typeface="Times New Roman" panose="02020603050405020304" pitchFamily="18" charset="0"/>
                <a:cs typeface="Times New Roman" panose="02020603050405020304" pitchFamily="18" charset="0"/>
              </a:rPr>
              <a:t>Third International Conference on Augmented Intelligence and Sustainable Systems (ICAISS)</a:t>
            </a:r>
            <a:r>
              <a:rPr lang="en-US" altLang="en-US" sz="1600" dirty="0">
                <a:latin typeface="Times New Roman" panose="02020603050405020304" pitchFamily="18" charset="0"/>
                <a:cs typeface="Times New Roman" panose="02020603050405020304" pitchFamily="18" charset="0"/>
              </a:rPr>
              <a:t>, 2025.</a:t>
            </a:r>
          </a:p>
          <a:p>
            <a:pPr>
              <a:spcBef>
                <a:spcPct val="0"/>
              </a:spcBef>
            </a:pPr>
            <a:r>
              <a:rPr lang="en-IN" sz="1600" dirty="0">
                <a:latin typeface="Times New Roman" panose="02020603050405020304" pitchFamily="18" charset="0"/>
                <a:cs typeface="Times New Roman" panose="02020603050405020304" pitchFamily="18" charset="0"/>
              </a:rPr>
              <a:t>[4]. </a:t>
            </a:r>
            <a:r>
              <a:rPr lang="en-US" altLang="en-US" sz="1600" b="1" dirty="0">
                <a:latin typeface="Times New Roman" panose="02020603050405020304" pitchFamily="18" charset="0"/>
                <a:cs typeface="Times New Roman" panose="02020603050405020304" pitchFamily="18" charset="0"/>
              </a:rPr>
              <a:t>Sharma, Rashika A., et al.</a:t>
            </a:r>
            <a:r>
              <a:rPr lang="en-US" altLang="en-US" sz="1600" dirty="0">
                <a:latin typeface="Times New Roman" panose="02020603050405020304" pitchFamily="18" charset="0"/>
                <a:cs typeface="Times New Roman" panose="02020603050405020304" pitchFamily="18" charset="0"/>
              </a:rPr>
              <a:t> "IoT Based Fuel Tank Monitoring System." </a:t>
            </a:r>
            <a:r>
              <a:rPr lang="en-US" altLang="en-US" sz="1600" i="1" dirty="0">
                <a:latin typeface="Times New Roman" panose="02020603050405020304" pitchFamily="18" charset="0"/>
                <a:cs typeface="Times New Roman" panose="02020603050405020304" pitchFamily="18" charset="0"/>
              </a:rPr>
              <a:t>International Research Journal of Modernization in Engineering Technology and Science</a:t>
            </a:r>
            <a:r>
              <a:rPr lang="en-US" altLang="en-US" sz="1600" dirty="0">
                <a:latin typeface="Times New Roman" panose="02020603050405020304" pitchFamily="18" charset="0"/>
                <a:cs typeface="Times New Roman" panose="02020603050405020304" pitchFamily="18" charset="0"/>
              </a:rPr>
              <a:t>, 2025.</a:t>
            </a:r>
          </a:p>
          <a:p>
            <a:pPr>
              <a:spcBef>
                <a:spcPct val="0"/>
              </a:spcBef>
            </a:pPr>
            <a:r>
              <a:rPr lang="en-IN" sz="1600" dirty="0">
                <a:latin typeface="Times New Roman" panose="02020603050405020304" pitchFamily="18" charset="0"/>
                <a:cs typeface="Times New Roman" panose="02020603050405020304" pitchFamily="18" charset="0"/>
              </a:rPr>
              <a:t>[5]. </a:t>
            </a:r>
            <a:r>
              <a:rPr lang="en-US" altLang="en-US" sz="1600" b="1" dirty="0">
                <a:latin typeface="Times New Roman" panose="02020603050405020304" pitchFamily="18" charset="0"/>
                <a:cs typeface="Times New Roman" panose="02020603050405020304" pitchFamily="18" charset="0"/>
              </a:rPr>
              <a:t>Deekshitha, R., et al.</a:t>
            </a:r>
            <a:r>
              <a:rPr lang="en-US" altLang="en-US" sz="1600" dirty="0">
                <a:latin typeface="Times New Roman" panose="02020603050405020304" pitchFamily="18" charset="0"/>
                <a:cs typeface="Times New Roman" panose="02020603050405020304" pitchFamily="18" charset="0"/>
              </a:rPr>
              <a:t> "Smart Fuel Level Monitoring and Alerting System Based on IoT." </a:t>
            </a:r>
            <a:r>
              <a:rPr lang="en-US" altLang="en-US" sz="1600" i="1" dirty="0">
                <a:latin typeface="Times New Roman" panose="02020603050405020304" pitchFamily="18" charset="0"/>
                <a:cs typeface="Times New Roman" panose="02020603050405020304" pitchFamily="18" charset="0"/>
              </a:rPr>
              <a:t>Futuristic Trends in IOT</a:t>
            </a:r>
            <a:r>
              <a:rPr lang="en-US" altLang="en-US" sz="1600" dirty="0">
                <a:latin typeface="Times New Roman" panose="02020603050405020304" pitchFamily="18" charset="0"/>
                <a:cs typeface="Times New Roman" panose="02020603050405020304" pitchFamily="18" charset="0"/>
              </a:rPr>
              <a:t>, 2024.</a:t>
            </a:r>
          </a:p>
          <a:p>
            <a:r>
              <a:rPr lang="en-IN" sz="1600" dirty="0">
                <a:latin typeface="Times New Roman" panose="02020603050405020304" pitchFamily="18" charset="0"/>
                <a:cs typeface="Times New Roman" panose="02020603050405020304" pitchFamily="18" charset="0"/>
              </a:rPr>
              <a:t>[6]. </a:t>
            </a:r>
            <a:r>
              <a:rPr lang="en-US" altLang="en-US" sz="1600" b="1" dirty="0">
                <a:latin typeface="Times New Roman" panose="02020603050405020304" pitchFamily="18" charset="0"/>
                <a:cs typeface="Times New Roman" panose="02020603050405020304" pitchFamily="18" charset="0"/>
              </a:rPr>
              <a:t>Madhavan, Adhithya, and Sheela A.</a:t>
            </a:r>
            <a:r>
              <a:rPr lang="en-US" altLang="en-US" sz="1600" dirty="0">
                <a:latin typeface="Times New Roman" panose="02020603050405020304" pitchFamily="18" charset="0"/>
                <a:cs typeface="Times New Roman" panose="02020603050405020304" pitchFamily="18" charset="0"/>
              </a:rPr>
              <a:t> "Detecting Fuel Theft with Arduino." </a:t>
            </a:r>
            <a:r>
              <a:rPr lang="en-US" altLang="en-US" sz="1600" i="1" dirty="0">
                <a:latin typeface="Times New Roman" panose="02020603050405020304" pitchFamily="18" charset="0"/>
                <a:cs typeface="Times New Roman" panose="02020603050405020304" pitchFamily="18" charset="0"/>
              </a:rPr>
              <a:t>Second International Conference on Emerging Trends in Information Technology and Engineering (ICETITE)</a:t>
            </a:r>
            <a:r>
              <a:rPr lang="en-US" altLang="en-US" sz="1600" dirty="0">
                <a:latin typeface="Times New Roman" panose="02020603050405020304" pitchFamily="18" charset="0"/>
                <a:cs typeface="Times New Roman" panose="02020603050405020304" pitchFamily="18" charset="0"/>
              </a:rPr>
              <a:t>, 2024.</a:t>
            </a:r>
          </a:p>
          <a:p>
            <a:r>
              <a:rPr lang="en-US" altLang="en-US" sz="1600" dirty="0">
                <a:latin typeface="Times New Roman" panose="02020603050405020304" pitchFamily="18" charset="0"/>
                <a:cs typeface="Times New Roman" panose="02020603050405020304" pitchFamily="18" charset="0"/>
              </a:rPr>
              <a:t>[7].</a:t>
            </a:r>
            <a:r>
              <a:rPr lang="en-US" altLang="en-US" sz="1600" b="1" dirty="0">
                <a:latin typeface="Arial" panose="020B0604020202020204" pitchFamily="34" charset="0"/>
              </a:rPr>
              <a:t> </a:t>
            </a:r>
            <a:r>
              <a:rPr lang="en-US" altLang="en-US" sz="1600" b="1" dirty="0" err="1">
                <a:latin typeface="Arial" panose="020B0604020202020204" pitchFamily="34" charset="0"/>
              </a:rPr>
              <a:t>Kurundkar</a:t>
            </a:r>
            <a:r>
              <a:rPr lang="en-US" altLang="en-US" sz="1600" b="1" dirty="0">
                <a:latin typeface="Arial" panose="020B0604020202020204" pitchFamily="34" charset="0"/>
              </a:rPr>
              <a:t>, Sangeeta, et al.</a:t>
            </a:r>
            <a:r>
              <a:rPr lang="en-US" altLang="en-US" sz="1600" dirty="0">
                <a:latin typeface="Arial" panose="020B0604020202020204" pitchFamily="34" charset="0"/>
              </a:rPr>
              <a:t> "Vehicle Fuel Theft Detection System." </a:t>
            </a:r>
            <a:r>
              <a:rPr lang="en-US" altLang="en-US" sz="1600" i="1" dirty="0">
                <a:latin typeface="Arial" panose="020B0604020202020204" pitchFamily="34" charset="0"/>
              </a:rPr>
              <a:t>International Conference on Sustainable Communication Networks and Application (ICSCNA)</a:t>
            </a:r>
            <a:r>
              <a:rPr lang="en-US" altLang="en-US" sz="1600" dirty="0">
                <a:latin typeface="Arial" panose="020B0604020202020204" pitchFamily="34" charset="0"/>
              </a:rPr>
              <a:t>, 2024.</a:t>
            </a:r>
          </a:p>
          <a:p>
            <a:r>
              <a:rPr lang="en-US" altLang="en-US" sz="1600" dirty="0">
                <a:latin typeface="Times New Roman" panose="02020603050405020304" pitchFamily="18" charset="0"/>
                <a:cs typeface="Times New Roman" panose="02020603050405020304" pitchFamily="18" charset="0"/>
              </a:rPr>
              <a:t>[8].</a:t>
            </a:r>
            <a:r>
              <a:rPr lang="en-US" altLang="en-US" sz="1600" b="1" dirty="0">
                <a:latin typeface="Arial" panose="020B0604020202020204" pitchFamily="34" charset="0"/>
              </a:rPr>
              <a:t> </a:t>
            </a:r>
            <a:r>
              <a:rPr lang="en-US" altLang="en-US" sz="1600" b="1" dirty="0" err="1">
                <a:latin typeface="Arial" panose="020B0604020202020204" pitchFamily="34" charset="0"/>
              </a:rPr>
              <a:t>Mengstie</a:t>
            </a:r>
            <a:r>
              <a:rPr lang="en-US" altLang="en-US" sz="1600" b="1" dirty="0">
                <a:latin typeface="Arial" panose="020B0604020202020204" pitchFamily="34" charset="0"/>
              </a:rPr>
              <a:t>, Berhanu Abnet, and Eden </a:t>
            </a:r>
            <a:r>
              <a:rPr lang="en-US" altLang="en-US" sz="1600" b="1" dirty="0" err="1">
                <a:latin typeface="Arial" panose="020B0604020202020204" pitchFamily="34" charset="0"/>
              </a:rPr>
              <a:t>Aragaw</a:t>
            </a:r>
            <a:r>
              <a:rPr lang="en-US" altLang="en-US" sz="1600" b="1" dirty="0">
                <a:latin typeface="Arial" panose="020B0604020202020204" pitchFamily="34" charset="0"/>
              </a:rPr>
              <a:t> Addisu.</a:t>
            </a:r>
            <a:r>
              <a:rPr lang="en-US" altLang="en-US" sz="1600" dirty="0">
                <a:latin typeface="Arial" panose="020B0604020202020204" pitchFamily="34" charset="0"/>
              </a:rPr>
              <a:t> "Evaluation of Fuel Theft Prevention System with Integrated Sensors." </a:t>
            </a:r>
            <a:r>
              <a:rPr lang="en-US" altLang="en-US" sz="1600" i="1" dirty="0">
                <a:latin typeface="Arial" panose="020B0604020202020204" pitchFamily="34" charset="0"/>
              </a:rPr>
              <a:t>SSRN</a:t>
            </a:r>
            <a:r>
              <a:rPr lang="en-US" altLang="en-US" sz="1600" dirty="0">
                <a:latin typeface="Arial" panose="020B0604020202020204" pitchFamily="34" charset="0"/>
              </a:rPr>
              <a:t>, 2024.</a:t>
            </a:r>
          </a:p>
          <a:p>
            <a:r>
              <a:rPr lang="en-US" altLang="en-US" sz="1600" dirty="0">
                <a:latin typeface="Arial" panose="020B0604020202020204" pitchFamily="34" charset="0"/>
              </a:rPr>
              <a:t>[9].</a:t>
            </a:r>
            <a:r>
              <a:rPr lang="en-US" altLang="en-US" sz="1600" b="1" dirty="0">
                <a:latin typeface="Arial" panose="020B0604020202020204" pitchFamily="34" charset="0"/>
              </a:rPr>
              <a:t> Kumar, Vasanth, et al.</a:t>
            </a:r>
            <a:r>
              <a:rPr lang="en-US" altLang="en-US" sz="1600" dirty="0">
                <a:latin typeface="Arial" panose="020B0604020202020204" pitchFamily="34" charset="0"/>
              </a:rPr>
              <a:t> "Vehicle Fuel Theft Detection and Monitoring System." </a:t>
            </a:r>
            <a:r>
              <a:rPr lang="en-US" altLang="en-US" sz="1600" i="1" dirty="0">
                <a:latin typeface="Arial" panose="020B0604020202020204" pitchFamily="34" charset="0"/>
              </a:rPr>
              <a:t>Journal of Emerging Technologies and Innovative Research</a:t>
            </a:r>
            <a:r>
              <a:rPr lang="en-US" altLang="en-US" sz="1600" dirty="0">
                <a:latin typeface="Arial" panose="020B0604020202020204" pitchFamily="34" charset="0"/>
              </a:rPr>
              <a:t>, 2024.</a:t>
            </a:r>
          </a:p>
          <a:p>
            <a:r>
              <a:rPr lang="en-US" altLang="en-US" sz="1600" dirty="0">
                <a:latin typeface="Arial" panose="020B0604020202020204" pitchFamily="34" charset="0"/>
              </a:rPr>
              <a:t>[10].</a:t>
            </a:r>
            <a:r>
              <a:rPr lang="en-US" altLang="en-US" sz="1600" b="1" dirty="0">
                <a:latin typeface="Arial" panose="020B0604020202020204" pitchFamily="34" charset="0"/>
              </a:rPr>
              <a:t> Deepika and Sneha H. R.</a:t>
            </a:r>
            <a:r>
              <a:rPr lang="en-US" altLang="en-US" sz="1600" dirty="0">
                <a:latin typeface="Arial" panose="020B0604020202020204" pitchFamily="34" charset="0"/>
              </a:rPr>
              <a:t> "Smart Fuel Theft Detection and Monitoring System Using IoT with GPS and GSM Integration." </a:t>
            </a:r>
            <a:r>
              <a:rPr lang="en-US" altLang="en-US" sz="1600" i="1" dirty="0">
                <a:latin typeface="Arial" panose="020B0604020202020204" pitchFamily="34" charset="0"/>
              </a:rPr>
              <a:t>Journal of Emerging Technologies and Innovative Research (JETIR)</a:t>
            </a:r>
            <a:r>
              <a:rPr lang="en-US" altLang="en-US" sz="1600" dirty="0">
                <a:latin typeface="Arial" panose="020B0604020202020204" pitchFamily="34" charset="0"/>
              </a:rPr>
              <a:t>, 2025.</a:t>
            </a:r>
          </a:p>
          <a:p>
            <a:endParaRPr lang="en-US" altLang="en-US" sz="1600" dirty="0">
              <a:latin typeface="Arial" panose="020B0604020202020204" pitchFamily="34" charset="0"/>
            </a:endParaRPr>
          </a:p>
          <a:p>
            <a:endParaRPr lang="en-US" alt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t>22</a:t>
            </a:fld>
            <a:endParaRPr lang="en-US" dirty="0"/>
          </a:p>
        </p:txBody>
      </p:sp>
      <p:sp>
        <p:nvSpPr>
          <p:cNvPr id="5" name="TextBox 4"/>
          <p:cNvSpPr txBox="1"/>
          <p:nvPr/>
        </p:nvSpPr>
        <p:spPr>
          <a:xfrm>
            <a:off x="3352800" y="3048001"/>
            <a:ext cx="5410200" cy="769441"/>
          </a:xfrm>
          <a:prstGeom prst="rect">
            <a:avLst/>
          </a:prstGeom>
          <a:noFill/>
        </p:spPr>
        <p:txBody>
          <a:bodyPr wrap="square" rtlCol="0">
            <a:spAutoFit/>
          </a:bodyPr>
          <a:lstStyle/>
          <a:p>
            <a:pPr algn="ctr"/>
            <a:r>
              <a:rPr lang="en-US" sz="4400" b="1" dirty="0">
                <a:latin typeface="Bookman Old Style" panose="020506040505050202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175</TotalTime>
  <Words>2829</Words>
  <Application>Microsoft Office PowerPoint</Application>
  <PresentationFormat>Widescreen</PresentationFormat>
  <Paragraphs>143</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Bookman Old Style</vt:lpstr>
      <vt:lpstr>Calibri</vt:lpstr>
      <vt:lpstr>Calibri Light</vt:lpstr>
      <vt:lpstr>Commercial Script Com</vt:lpstr>
      <vt:lpstr>CommercialScript BT</vt:lpstr>
      <vt:lpstr>Times New Roman</vt:lpstr>
      <vt:lpstr>Wingdings</vt:lpstr>
      <vt:lpstr>Office Theme</vt:lpstr>
      <vt:lpstr>    Loyola Institute of Technology    and Science </vt:lpstr>
      <vt:lpstr>Federated Machine Learning for Secure and Adaptive  Fuels Theft Detection in Vehicles</vt:lpstr>
      <vt:lpstr> CONTENT</vt:lpstr>
      <vt:lpstr>ABSTRACT </vt:lpstr>
      <vt:lpstr>JUSTIFICATION FOR CARRYING OUT THE PROJECT WORK</vt:lpstr>
      <vt:lpstr>LITERATURE REVIEW </vt:lpstr>
      <vt:lpstr>LITERATURE REVIEW </vt:lpstr>
      <vt:lpstr>EXISTING SYSTEM </vt:lpstr>
      <vt:lpstr>DISADVANTAGE </vt:lpstr>
      <vt:lpstr>PROPOSED SYSTEM </vt:lpstr>
      <vt:lpstr>SYSTEM ARCHITECTURE</vt:lpstr>
      <vt:lpstr>ALGORITHMS</vt:lpstr>
      <vt:lpstr>ADVANTAGE </vt:lpstr>
      <vt:lpstr>TOOLS FOR IMPLEMENTATION </vt:lpstr>
      <vt:lpstr>MODULES</vt:lpstr>
      <vt:lpstr>OUTPUT/RESULTS</vt:lpstr>
      <vt:lpstr>USER INTERFACE</vt:lpstr>
      <vt:lpstr>WEB INTERFACE</vt:lpstr>
      <vt:lpstr>LIVE GRAPH INTERFACE</vt:lpstr>
      <vt:lpstr>ADDITIONAL FEATURES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8097</dc:title>
  <dc:creator>ELCOT</dc:creator>
  <cp:lastModifiedBy>abdul rahman</cp:lastModifiedBy>
  <cp:revision>128</cp:revision>
  <dcterms:created xsi:type="dcterms:W3CDTF">2006-08-16T00:00:00Z</dcterms:created>
  <dcterms:modified xsi:type="dcterms:W3CDTF">2025-12-09T04:47:03Z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3551CA8CB86840039B1C1F79FE694220_12</vt:lpwstr>
  </property>
  <property fmtid="{D5CDD505-2E9C-101B-9397-08002B2CF9AE}" pid="3" name="KSOProductBuildVer">
    <vt:lpwstr>1033-12.2.0.16909</vt:lpwstr>
  </property>
</Properties>
</file>