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3"/>
  </p:notesMasterIdLst>
  <p:handoutMasterIdLst>
    <p:handoutMasterId r:id="rId24"/>
  </p:handoutMasterIdLst>
  <p:sldIdLst>
    <p:sldId id="410" r:id="rId5"/>
    <p:sldId id="411" r:id="rId6"/>
    <p:sldId id="383" r:id="rId7"/>
    <p:sldId id="409" r:id="rId8"/>
    <p:sldId id="391" r:id="rId9"/>
    <p:sldId id="412" r:id="rId10"/>
    <p:sldId id="397" r:id="rId11"/>
    <p:sldId id="413" r:id="rId12"/>
    <p:sldId id="414" r:id="rId13"/>
    <p:sldId id="408" r:id="rId14"/>
    <p:sldId id="416" r:id="rId15"/>
    <p:sldId id="418" r:id="rId16"/>
    <p:sldId id="419" r:id="rId17"/>
    <p:sldId id="417" r:id="rId18"/>
    <p:sldId id="407" r:id="rId19"/>
    <p:sldId id="406" r:id="rId20"/>
    <p:sldId id="404" r:id="rId21"/>
    <p:sldId id="3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98" autoAdjust="0"/>
    <p:restoredTop sz="96327" autoAdjust="0"/>
  </p:normalViewPr>
  <p:slideViewPr>
    <p:cSldViewPr snapToGrid="0">
      <p:cViewPr varScale="1">
        <p:scale>
          <a:sx n="79" d="100"/>
          <a:sy n="79" d="100"/>
        </p:scale>
        <p:origin x="662"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12/8/2025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62AEA-001E-90A0-ACA5-1602EBB8A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BF9F8-26D1-53AF-9F64-E6AFA7200F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51AC0-2992-131C-0D64-1D69444C5A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69CD3-E5E9-9B9C-81DF-A0D2E7E51C9F}"/>
              </a:ext>
            </a:extLst>
          </p:cNvPr>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2817751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2730433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E0BF-E40E-2C4F-74BE-BB9680C2B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81E56-8ACE-CBC7-0FE3-E9F1005CE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A0255-63FF-0A5C-BAD4-53C7D2E256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A01866-35D0-1F51-092C-E65018947EBE}"/>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3975683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71EE5-A014-7F8F-7818-C2DBA6B5C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4147A-7FDA-ADA8-FF7A-8EA4F4AD7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27728-B618-D988-2EB8-17881D5DAC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DB6686-E0CF-1950-F8E3-43C7CBD2BD1F}"/>
              </a:ext>
            </a:extLst>
          </p:cNvPr>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318152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DA6DC-7CE6-DDB9-AA05-96525C68E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2B950-8975-66FC-0064-1D980CB71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BE610-79F1-E48F-5964-6F2CAF3219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170ED3-E2CC-5F72-9B89-37152207E279}"/>
              </a:ext>
            </a:extLst>
          </p:cNvPr>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484500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B8D1B-877C-981F-29CD-27761194A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FBB20-6839-9DCD-481D-B393FE57B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CAD44-66F6-A9C5-4946-7ACB9B076F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FB91F3-FA6F-A463-CBC8-57463EFE5FF1}"/>
              </a:ext>
            </a:extLst>
          </p:cNvPr>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1356819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54A1-F77B-C223-9B64-CD4D7133F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BA252-75A6-001B-9C2A-01A7BF20F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23602-8BE5-4991-927B-A666DDB3BC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853CC2-86A7-A63C-575D-0CA79B64DF0D}"/>
              </a:ext>
            </a:extLst>
          </p:cNvPr>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1475297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D1DFD-692A-82C3-9856-4DF73939D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C00A6-4E50-4FDE-2EFC-8EF42DB0B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FA42B9-C6AF-9907-13C9-417A2D79EC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3847EF-8588-A5A6-EEB3-2037BF7FE595}"/>
              </a:ext>
            </a:extLst>
          </p:cNvPr>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3857557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E41CC-7E22-C4F9-3EA5-C4F170F72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EF585-1E9E-8664-1D85-06E431A5CA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8B9FD-5DA7-C2A9-7838-6DFD034136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CFD094-A5BF-0545-E4E1-F1F2A94C4C2C}"/>
              </a:ext>
            </a:extLst>
          </p:cNvPr>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2549322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dirty="0"/>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dirty="0"/>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dirty="0"/>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dirty="0"/>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953095" y="1687084"/>
            <a:ext cx="9898836" cy="3291840"/>
          </a:xfrm>
        </p:spPr>
        <p:txBody>
          <a:bodyPr/>
          <a:lstStyle/>
          <a:p>
            <a:pPr algn="ctr"/>
            <a:r>
              <a:rPr lang="en-US" altLang="en-US" sz="4400" dirty="0">
                <a:solidFill>
                  <a:srgbClr val="000000"/>
                </a:solidFill>
                <a:latin typeface="Times New Roman" panose="02020603050405020304" pitchFamily="18" charset="0"/>
                <a:ea typeface="Alegreya Sans SC Bold" charset="0"/>
                <a:cs typeface="Times New Roman" panose="02020603050405020304" pitchFamily="18" charset="0"/>
                <a:sym typeface="Alegreya Sans SC Bold" charset="0"/>
              </a:rPr>
              <a:t>First Review 22-11-09-2025</a:t>
            </a:r>
          </a:p>
        </p:txBody>
      </p:sp>
      <p:pic>
        <p:nvPicPr>
          <p:cNvPr id="3" name="Picture 11">
            <a:extLst>
              <a:ext uri="{FF2B5EF4-FFF2-40B4-BE49-F238E27FC236}">
                <a16:creationId xmlns:a16="http://schemas.microsoft.com/office/drawing/2014/main" id="{D44F003F-730C-7390-D524-C46273715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382" y="211784"/>
            <a:ext cx="10693235" cy="126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6">
            <a:extLst>
              <a:ext uri="{FF2B5EF4-FFF2-40B4-BE49-F238E27FC236}">
                <a16:creationId xmlns:a16="http://schemas.microsoft.com/office/drawing/2014/main" id="{CD062F64-B601-89BF-C264-8E64E0CD8A52}"/>
              </a:ext>
            </a:extLst>
          </p:cNvPr>
          <p:cNvSpPr txBox="1">
            <a:spLocks noChangeArrowheads="1"/>
          </p:cNvSpPr>
          <p:nvPr/>
        </p:nvSpPr>
        <p:spPr bwMode="auto">
          <a:xfrm>
            <a:off x="233136" y="1794469"/>
            <a:ext cx="1143947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3600" b="1" dirty="0">
                <a:solidFill>
                  <a:schemeClr val="bg1"/>
                </a:solidFill>
              </a:rPr>
              <a:t>Department of Computer Science &amp; Engineering</a:t>
            </a:r>
            <a:endParaRPr lang="en-US" altLang="en-US" sz="3600" b="1" dirty="0">
              <a:solidFill>
                <a:schemeClr val="bg1"/>
              </a:solidFill>
              <a:latin typeface="Times New Roman" panose="02020603050405020304" pitchFamily="18" charset="0"/>
              <a:ea typeface="Alegreya Sans SC" charset="0"/>
              <a:cs typeface="Times New Roman" panose="02020603050405020304" pitchFamily="18" charset="0"/>
              <a:sym typeface="Alegreya Sans SC" charset="0"/>
            </a:endParaRPr>
          </a:p>
        </p:txBody>
      </p:sp>
      <p:sp>
        <p:nvSpPr>
          <p:cNvPr id="5" name="TextBox 7">
            <a:extLst>
              <a:ext uri="{FF2B5EF4-FFF2-40B4-BE49-F238E27FC236}">
                <a16:creationId xmlns:a16="http://schemas.microsoft.com/office/drawing/2014/main" id="{417175F8-E28A-0C78-4740-83EA99A82301}"/>
              </a:ext>
            </a:extLst>
          </p:cNvPr>
          <p:cNvSpPr txBox="1">
            <a:spLocks noChangeArrowheads="1"/>
          </p:cNvSpPr>
          <p:nvPr/>
        </p:nvSpPr>
        <p:spPr bwMode="auto">
          <a:xfrm>
            <a:off x="233136" y="2688712"/>
            <a:ext cx="11338754"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b="1" dirty="0">
                <a:solidFill>
                  <a:schemeClr val="bg1"/>
                </a:solidFill>
                <a:latin typeface="Times New Roman" panose="02020603050405020304" pitchFamily="18" charset="0"/>
                <a:ea typeface="Alegreya Sans SC Bold" charset="0"/>
                <a:cs typeface="Times New Roman" panose="02020603050405020304" pitchFamily="18" charset="0"/>
                <a:sym typeface="Alegreya Sans SC Bold" charset="0"/>
              </a:rPr>
              <a:t>CS3811 Project Work</a:t>
            </a:r>
          </a:p>
          <a:p>
            <a:pPr algn="ctr" eaLnBrk="1" hangingPunct="1">
              <a:spcBef>
                <a:spcPct val="0"/>
              </a:spcBef>
              <a:buFontTx/>
              <a:buNone/>
            </a:pPr>
            <a:r>
              <a:rPr lang="en-IN" altLang="en-US" dirty="0">
                <a:solidFill>
                  <a:schemeClr val="bg1"/>
                </a:solidFill>
                <a:ea typeface="Alegreya Sans SC Bold" charset="0"/>
                <a:cs typeface="Times New Roman" panose="02020603050405020304" pitchFamily="18" charset="0"/>
              </a:rPr>
              <a:t>Academic Year: 2025-26</a:t>
            </a:r>
            <a:endParaRPr lang="en-US" altLang="en-US" b="1" dirty="0">
              <a:solidFill>
                <a:schemeClr val="bg1"/>
              </a:solidFill>
              <a:latin typeface="Times New Roman" panose="02020603050405020304" pitchFamily="18" charset="0"/>
              <a:ea typeface="Alegreya Sans SC Bold" charset="0"/>
              <a:cs typeface="Times New Roman" panose="02020603050405020304" pitchFamily="18" charset="0"/>
              <a:sym typeface="Alegreya Sans SC Bold" charset="0"/>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CC4D6-ACF7-0876-2937-488B51FC0D9C}"/>
            </a:ext>
          </a:extLst>
        </p:cNvPr>
        <p:cNvGrpSpPr/>
        <p:nvPr/>
      </p:nvGrpSpPr>
      <p:grpSpPr>
        <a:xfrm>
          <a:off x="0" y="0"/>
          <a:ext cx="0" cy="0"/>
          <a:chOff x="0" y="0"/>
          <a:chExt cx="0" cy="0"/>
        </a:xfrm>
      </p:grpSpPr>
      <p:pic>
        <p:nvPicPr>
          <p:cNvPr id="3" name="Picture 11">
            <a:extLst>
              <a:ext uri="{FF2B5EF4-FFF2-40B4-BE49-F238E27FC236}">
                <a16:creationId xmlns:a16="http://schemas.microsoft.com/office/drawing/2014/main" id="{A90C0100-E861-A211-4CF0-F8CD0F39E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382" y="211784"/>
            <a:ext cx="10693235" cy="126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6">
            <a:extLst>
              <a:ext uri="{FF2B5EF4-FFF2-40B4-BE49-F238E27FC236}">
                <a16:creationId xmlns:a16="http://schemas.microsoft.com/office/drawing/2014/main" id="{50224E84-3212-952A-A004-4CF59C43F988}"/>
              </a:ext>
            </a:extLst>
          </p:cNvPr>
          <p:cNvSpPr txBox="1">
            <a:spLocks noChangeArrowheads="1"/>
          </p:cNvSpPr>
          <p:nvPr/>
        </p:nvSpPr>
        <p:spPr bwMode="auto">
          <a:xfrm>
            <a:off x="376259" y="1715416"/>
            <a:ext cx="1143947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None/>
            </a:pPr>
            <a:r>
              <a:rPr lang="en-US" altLang="en-US" sz="3600" b="1" dirty="0">
                <a:solidFill>
                  <a:srgbClr val="000000"/>
                </a:solidFill>
                <a:latin typeface="Times New Roman" panose="02020603050405020304" pitchFamily="18" charset="0"/>
                <a:ea typeface="Alegreya Sans SC" panose="00000500000000000000" charset="0"/>
                <a:sym typeface="Alegreya Sans SC" panose="00000500000000000000" charset="0"/>
              </a:rPr>
              <a:t>Federated Machine Learning for Secure and Adaptive </a:t>
            </a:r>
          </a:p>
          <a:p>
            <a:pPr algn="ctr">
              <a:spcBef>
                <a:spcPct val="0"/>
              </a:spcBef>
              <a:buNone/>
            </a:pPr>
            <a:r>
              <a:rPr lang="en-US" altLang="en-US" sz="3600" b="1" dirty="0">
                <a:solidFill>
                  <a:srgbClr val="000000"/>
                </a:solidFill>
                <a:latin typeface="Times New Roman" panose="02020603050405020304" pitchFamily="18" charset="0"/>
                <a:ea typeface="Alegreya Sans SC" panose="00000500000000000000" charset="0"/>
                <a:sym typeface="Alegreya Sans SC" panose="00000500000000000000" charset="0"/>
              </a:rPr>
              <a:t>Fuels Theft Detection in Vehicles</a:t>
            </a:r>
          </a:p>
        </p:txBody>
      </p:sp>
      <p:sp>
        <p:nvSpPr>
          <p:cNvPr id="8" name="TextBox 7">
            <a:extLst>
              <a:ext uri="{FF2B5EF4-FFF2-40B4-BE49-F238E27FC236}">
                <a16:creationId xmlns:a16="http://schemas.microsoft.com/office/drawing/2014/main" id="{53327830-41E3-BFD9-B887-7E9CEE653697}"/>
              </a:ext>
            </a:extLst>
          </p:cNvPr>
          <p:cNvSpPr txBox="1"/>
          <p:nvPr/>
        </p:nvSpPr>
        <p:spPr>
          <a:xfrm>
            <a:off x="-446551" y="4168952"/>
            <a:ext cx="6727825" cy="2646878"/>
          </a:xfrm>
          <a:prstGeom prst="rect">
            <a:avLst/>
          </a:prstGeom>
        </p:spPr>
        <p:txBody>
          <a:bodyPr lIns="0" tIns="0" rIns="0" bIns="0">
            <a:spAutoFit/>
          </a:bodyPr>
          <a:lstStyle/>
          <a:p>
            <a:pPr algn="ctr" eaLnBrk="1" fontAlgn="auto" hangingPunct="1">
              <a:spcBef>
                <a:spcPts val="0"/>
              </a:spcBef>
              <a:spcAft>
                <a:spcPts val="0"/>
              </a:spcAft>
              <a:defRPr/>
            </a:pPr>
            <a:r>
              <a:rPr lang="en-IN" sz="4400" b="1" dirty="0">
                <a:solidFill>
                  <a:srgbClr val="C00000"/>
                </a:solidFill>
                <a:latin typeface="Calibri" panose="020F0502020204030204" pitchFamily="34" charset="0"/>
                <a:ea typeface="Calibri" panose="020F0502020204030204" pitchFamily="34" charset="0"/>
                <a:cs typeface="Calibri" panose="020F0502020204030204" pitchFamily="34" charset="0"/>
              </a:rPr>
              <a:t>Batch Members :</a:t>
            </a:r>
          </a:p>
          <a:p>
            <a:pPr algn="ctr" eaLnBrk="1" fontAlgn="auto" hangingPunct="1">
              <a:spcBef>
                <a:spcPts val="0"/>
              </a:spcBef>
              <a:spcAft>
                <a:spcPts val="0"/>
              </a:spcAft>
              <a:defRPr/>
            </a:pPr>
            <a:r>
              <a:rPr lang="en-IN"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Alegreya Sans SC Bold"/>
              </a:rPr>
              <a:t>1.Mr.Abdul Rahman A</a:t>
            </a:r>
          </a:p>
          <a:p>
            <a:pPr algn="ctr" eaLnBrk="1" fontAlgn="auto" hangingPunct="1">
              <a:spcBef>
                <a:spcPts val="0"/>
              </a:spcBef>
              <a:spcAft>
                <a:spcPts val="0"/>
              </a:spcAft>
              <a:defRPr/>
            </a:pPr>
            <a:r>
              <a:rPr lang="en-IN"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Alegreya Sans SC Bold"/>
              </a:rPr>
              <a:t>2.Mr.Bala </a:t>
            </a:r>
            <a:r>
              <a:rPr lang="en-IN"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legreya Sans SC Bold"/>
              </a:rPr>
              <a:t>Subrsmanian</a:t>
            </a:r>
            <a:r>
              <a:rPr lang="en-IN"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Alegreya Sans SC Bold"/>
              </a:rPr>
              <a:t> M</a:t>
            </a:r>
          </a:p>
          <a:p>
            <a:pPr algn="ctr" eaLnBrk="1" fontAlgn="auto" hangingPunct="1">
              <a:spcBef>
                <a:spcPts val="0"/>
              </a:spcBef>
              <a:spcAft>
                <a:spcPts val="0"/>
              </a:spcAft>
              <a:defRPr/>
            </a:pPr>
            <a:r>
              <a:rPr lang="en-IN"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Alegreya Sans SC Bold"/>
              </a:rPr>
              <a:t>3.Mr.Saravanan G</a:t>
            </a:r>
          </a:p>
          <a:p>
            <a:pPr algn="ctr" eaLnBrk="1" fontAlgn="auto" hangingPunct="1">
              <a:spcBef>
                <a:spcPts val="0"/>
              </a:spcBef>
              <a:spcAft>
                <a:spcPts val="0"/>
              </a:spcAft>
              <a:defRPr/>
            </a:pPr>
            <a:r>
              <a:rPr lang="en-IN"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Alegreya Sans SC Bold"/>
              </a:rPr>
              <a:t>4.Mr.Jenin Raj K</a:t>
            </a:r>
            <a:endParaRPr lang="en-US" sz="3600" dirty="0">
              <a:solidFill>
                <a:srgbClr val="000000"/>
              </a:solidFill>
              <a:latin typeface="Calibri" panose="020F0502020204030204" pitchFamily="34" charset="0"/>
              <a:ea typeface="Calibri" panose="020F0502020204030204" pitchFamily="34" charset="0"/>
              <a:cs typeface="Calibri" panose="020F0502020204030204" pitchFamily="34" charset="0"/>
              <a:sym typeface="Alegreya Sans SC Bold"/>
            </a:endParaRPr>
          </a:p>
        </p:txBody>
      </p:sp>
      <p:sp>
        <p:nvSpPr>
          <p:cNvPr id="9" name="TextBox 7">
            <a:extLst>
              <a:ext uri="{FF2B5EF4-FFF2-40B4-BE49-F238E27FC236}">
                <a16:creationId xmlns:a16="http://schemas.microsoft.com/office/drawing/2014/main" id="{18D9A2E8-1952-A8BE-B1D0-F318248B38D6}"/>
              </a:ext>
            </a:extLst>
          </p:cNvPr>
          <p:cNvSpPr txBox="1">
            <a:spLocks noChangeArrowheads="1"/>
          </p:cNvSpPr>
          <p:nvPr/>
        </p:nvSpPr>
        <p:spPr bwMode="auto">
          <a:xfrm>
            <a:off x="5706763" y="4382961"/>
            <a:ext cx="672623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4400" b="1" dirty="0">
                <a:solidFill>
                  <a:srgbClr val="C00000"/>
                </a:solidFill>
              </a:rPr>
              <a:t>Supervisor:</a:t>
            </a:r>
          </a:p>
          <a:p>
            <a:pPr algn="ctr">
              <a:spcBef>
                <a:spcPct val="0"/>
              </a:spcBef>
              <a:buNone/>
            </a:pPr>
            <a:r>
              <a:rPr lang="en-IN" altLang="x-none" sz="3600" dirty="0" err="1">
                <a:solidFill>
                  <a:schemeClr val="bg1">
                    <a:lumMod val="95000"/>
                    <a:lumOff val="5000"/>
                  </a:schemeClr>
                </a:solidFill>
              </a:rPr>
              <a:t>A.Merry</a:t>
            </a:r>
            <a:r>
              <a:rPr lang="en-IN" altLang="x-none" sz="3600" dirty="0">
                <a:solidFill>
                  <a:schemeClr val="bg1">
                    <a:lumMod val="95000"/>
                    <a:lumOff val="5000"/>
                  </a:schemeClr>
                </a:solidFill>
              </a:rPr>
              <a:t> </a:t>
            </a:r>
            <a:r>
              <a:rPr lang="en-IN" altLang="x-none" sz="3600" dirty="0" err="1">
                <a:solidFill>
                  <a:schemeClr val="bg1">
                    <a:lumMod val="95000"/>
                    <a:lumOff val="5000"/>
                  </a:schemeClr>
                </a:solidFill>
              </a:rPr>
              <a:t>Ida,M.E</a:t>
            </a:r>
            <a:r>
              <a:rPr lang="en-IN" altLang="x-none" sz="3600" dirty="0">
                <a:solidFill>
                  <a:schemeClr val="bg1">
                    <a:lumMod val="95000"/>
                    <a:lumOff val="5000"/>
                  </a:schemeClr>
                </a:solidFill>
              </a:rPr>
              <a:t>.,(</a:t>
            </a:r>
            <a:r>
              <a:rPr lang="en-IN" altLang="x-none" sz="3600" dirty="0" err="1">
                <a:solidFill>
                  <a:schemeClr val="bg1">
                    <a:lumMod val="95000"/>
                    <a:lumOff val="5000"/>
                  </a:schemeClr>
                </a:solidFill>
              </a:rPr>
              <a:t>Ph.D</a:t>
            </a:r>
            <a:r>
              <a:rPr lang="en-IN" altLang="x-none" sz="3600" dirty="0">
                <a:solidFill>
                  <a:schemeClr val="bg1">
                    <a:lumMod val="95000"/>
                    <a:lumOff val="5000"/>
                  </a:schemeClr>
                </a:solidFill>
              </a:rPr>
              <a:t>)</a:t>
            </a:r>
            <a:endParaRPr lang="en-IN" altLang="en-US" sz="3600" dirty="0">
              <a:solidFill>
                <a:schemeClr val="bg1">
                  <a:lumMod val="95000"/>
                  <a:lumOff val="5000"/>
                </a:schemeClr>
              </a:solidFill>
            </a:endParaRPr>
          </a:p>
          <a:p>
            <a:pPr algn="ctr" eaLnBrk="1" hangingPunct="1">
              <a:spcBef>
                <a:spcPct val="0"/>
              </a:spcBef>
              <a:buFontTx/>
              <a:buNone/>
            </a:pPr>
            <a:r>
              <a:rPr lang="en-IN" altLang="en-US" sz="3600" dirty="0">
                <a:solidFill>
                  <a:schemeClr val="bg1"/>
                </a:solidFill>
              </a:rPr>
              <a:t>Assistant Professor, CSE </a:t>
            </a:r>
            <a:endParaRPr lang="en-US" altLang="en-US" sz="4800" dirty="0">
              <a:solidFill>
                <a:schemeClr val="bg1"/>
              </a:solidFill>
              <a:latin typeface="Times New Roman" panose="02020603050405020304" pitchFamily="18" charset="0"/>
              <a:ea typeface="Alegreya Sans SC Bold" charset="0"/>
              <a:cs typeface="Times New Roman" panose="02020603050405020304" pitchFamily="18" charset="0"/>
              <a:sym typeface="Alegreya Sans SC Bold" charset="0"/>
            </a:endParaRPr>
          </a:p>
        </p:txBody>
      </p:sp>
    </p:spTree>
    <p:extLst>
      <p:ext uri="{BB962C8B-B14F-4D97-AF65-F5344CB8AC3E}">
        <p14:creationId xmlns:p14="http://schemas.microsoft.com/office/powerpoint/2010/main" val="1719775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latin typeface="Bookman Old Style" panose="02050604050505020204" pitchFamily="18" charset="0"/>
              </a:rPr>
              <a:t>CONTENT</a:t>
            </a:r>
            <a:endParaRPr lang="en-US" dirty="0"/>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noAutofit/>
          </a:bodyPr>
          <a:lstStyle/>
          <a:p>
            <a:pPr lvl="0">
              <a:buFont typeface="Wingdings" panose="05000000000000000000" pitchFamily="2" charset="2"/>
              <a:buChar char="§"/>
            </a:pPr>
            <a:r>
              <a:rPr lang="en-US" sz="2000" dirty="0">
                <a:latin typeface="Bookman Old Style" panose="02050604050505020204" pitchFamily="18" charset="0"/>
              </a:rPr>
              <a:t>Abstract</a:t>
            </a:r>
          </a:p>
          <a:p>
            <a:pPr lvl="0">
              <a:buFont typeface="Wingdings" panose="05000000000000000000" pitchFamily="2" charset="2"/>
              <a:buChar char="§"/>
            </a:pPr>
            <a:r>
              <a:rPr lang="en-US" sz="2000" dirty="0">
                <a:latin typeface="Bookman Old Style" panose="02050604050505020204" pitchFamily="18" charset="0"/>
              </a:rPr>
              <a:t>Objective</a:t>
            </a:r>
          </a:p>
          <a:p>
            <a:pPr lvl="0">
              <a:buFont typeface="Wingdings" panose="05000000000000000000" pitchFamily="2" charset="2"/>
              <a:buChar char="§"/>
            </a:pPr>
            <a:r>
              <a:rPr lang="en-US" sz="2000" dirty="0">
                <a:latin typeface="Bookman Old Style" panose="02050604050505020204" pitchFamily="18" charset="0"/>
              </a:rPr>
              <a:t>Literature review</a:t>
            </a:r>
          </a:p>
          <a:p>
            <a:pPr lvl="0">
              <a:buFont typeface="Wingdings" panose="05000000000000000000" pitchFamily="2" charset="2"/>
              <a:buChar char="§"/>
            </a:pPr>
            <a:r>
              <a:rPr lang="en-US" sz="2000" dirty="0">
                <a:latin typeface="Bookman Old Style" panose="02050604050505020204" pitchFamily="18" charset="0"/>
              </a:rPr>
              <a:t>Existing System</a:t>
            </a:r>
          </a:p>
          <a:p>
            <a:pPr lvl="0">
              <a:buFont typeface="Wingdings" panose="05000000000000000000" pitchFamily="2" charset="2"/>
              <a:buChar char="§"/>
            </a:pPr>
            <a:r>
              <a:rPr lang="en-US" sz="2000" dirty="0">
                <a:latin typeface="Bookman Old Style" panose="02050604050505020204" pitchFamily="18" charset="0"/>
              </a:rPr>
              <a:t>Proposed System</a:t>
            </a:r>
          </a:p>
          <a:p>
            <a:pPr lvl="0">
              <a:buFont typeface="Wingdings" panose="05000000000000000000" pitchFamily="2" charset="2"/>
              <a:buChar char="§"/>
            </a:pPr>
            <a:r>
              <a:rPr lang="en-US" sz="2000" dirty="0">
                <a:latin typeface="Bookman Old Style" panose="02050604050505020204" pitchFamily="18" charset="0"/>
              </a:rPr>
              <a:t>Tools for Implementation</a:t>
            </a:r>
          </a:p>
          <a:p>
            <a:pPr lvl="0">
              <a:buFont typeface="Wingdings" panose="05000000000000000000" pitchFamily="2" charset="2"/>
              <a:buChar char="§"/>
            </a:pPr>
            <a:r>
              <a:rPr lang="en-US" sz="2000" dirty="0">
                <a:latin typeface="Bookman Old Style" panose="02050604050505020204" pitchFamily="18" charset="0"/>
              </a:rPr>
              <a:t>Base Paper Info</a:t>
            </a:r>
          </a:p>
          <a:p>
            <a:pPr lvl="0">
              <a:buFont typeface="Wingdings" panose="05000000000000000000" pitchFamily="2" charset="2"/>
              <a:buChar char="§"/>
            </a:pPr>
            <a:r>
              <a:rPr lang="en-US" sz="2000" dirty="0">
                <a:latin typeface="Bookman Old Style" panose="02050604050505020204" pitchFamily="18" charset="0"/>
              </a:rPr>
              <a:t>References</a:t>
            </a:r>
          </a:p>
        </p:txBody>
      </p:sp>
    </p:spTree>
    <p:extLst>
      <p:ext uri="{BB962C8B-B14F-4D97-AF65-F5344CB8AC3E}">
        <p14:creationId xmlns:p14="http://schemas.microsoft.com/office/powerpoint/2010/main" val="3346685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lose-up of a plant">
            <a:extLst>
              <a:ext uri="{FF2B5EF4-FFF2-40B4-BE49-F238E27FC236}">
                <a16:creationId xmlns:a16="http://schemas.microsoft.com/office/drawing/2014/main" id="{8DB431A1-9806-9CFE-0E5F-1A5611C2A66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3" r="23"/>
          <a:stretch/>
        </p:blipFill>
        <p:spPr>
          <a:xfrm>
            <a:off x="0" y="0"/>
            <a:ext cx="12192000" cy="6880225"/>
          </a:xfrm>
        </p:spPr>
      </p:pic>
      <p:sp>
        <p:nvSpPr>
          <p:cNvPr id="3" name="Title 2">
            <a:extLst>
              <a:ext uri="{FF2B5EF4-FFF2-40B4-BE49-F238E27FC236}">
                <a16:creationId xmlns:a16="http://schemas.microsoft.com/office/drawing/2014/main" id="{9C37279A-330D-886F-340D-494A5005E5FC}"/>
              </a:ext>
            </a:extLst>
          </p:cNvPr>
          <p:cNvSpPr>
            <a:spLocks noGrp="1"/>
          </p:cNvSpPr>
          <p:nvPr>
            <p:ph type="title"/>
          </p:nvPr>
        </p:nvSpPr>
        <p:spPr>
          <a:xfrm>
            <a:off x="6309359" y="444933"/>
            <a:ext cx="5477479" cy="3291840"/>
          </a:xfrm>
        </p:spPr>
        <p:txBody>
          <a:bodyPr/>
          <a:lstStyle/>
          <a:p>
            <a:r>
              <a:rPr lang="en-US" dirty="0">
                <a:latin typeface="Bookman Old Style" panose="02050604050505020204" pitchFamily="18" charset="0"/>
              </a:rPr>
              <a:t>ABSTRACT </a:t>
            </a:r>
            <a:endParaRPr lang="en-US" dirty="0"/>
          </a:p>
        </p:txBody>
      </p:sp>
    </p:spTree>
    <p:extLst>
      <p:ext uri="{BB962C8B-B14F-4D97-AF65-F5344CB8AC3E}">
        <p14:creationId xmlns:p14="http://schemas.microsoft.com/office/powerpoint/2010/main" val="2249372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latin typeface="Bookman Old Style" panose="02050604050505020204" pitchFamily="18" charset="0"/>
              </a:rPr>
              <a:t>ABSTRACT</a:t>
            </a:r>
            <a:endParaRPr lang="en-US" dirty="0"/>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rmAutofit fontScale="92500" lnSpcReduction="20000"/>
          </a:bodyPr>
          <a:lstStyle/>
          <a:p>
            <a:r>
              <a:rPr lang="en-US" b="1" dirty="0"/>
              <a:t>Problem Statement:</a:t>
            </a:r>
            <a:r>
              <a:rPr lang="en-US" dirty="0"/>
              <a:t> Fuel theft is a major economic issue, particularly for commercial fleets, as traditional detection methods are limited.</a:t>
            </a:r>
          </a:p>
          <a:p>
            <a:r>
              <a:rPr lang="en-US" b="1" dirty="0"/>
              <a:t>Proposed Solution:</a:t>
            </a:r>
            <a:r>
              <a:rPr lang="en-US" dirty="0"/>
              <a:t> This project introduces a new hybrid system that uses Internet of Things (IoT) sensors and federated machine learning.</a:t>
            </a:r>
          </a:p>
          <a:p>
            <a:r>
              <a:rPr lang="en-US" altLang="en-US" b="1" dirty="0"/>
              <a:t>Project Goal:</a:t>
            </a:r>
            <a:r>
              <a:rPr lang="en-US" altLang="en-US" dirty="0"/>
              <a:t> The aim is to create a secure, privacy-friendly, and flexible solution for detecting fuel theft in real-time.</a:t>
            </a:r>
          </a:p>
          <a:p>
            <a:r>
              <a:rPr lang="en-US" b="1" dirty="0"/>
              <a:t>Methodology:</a:t>
            </a:r>
            <a:r>
              <a:rPr lang="en-US" dirty="0"/>
              <a:t> The system will learn consumption patterns and spot anomalies, avoiding a reliance on fixed thresholds which are often unreliable.</a:t>
            </a:r>
          </a:p>
          <a:p>
            <a:r>
              <a:rPr lang="en-US" b="1" dirty="0"/>
              <a:t>Key Advantage:</a:t>
            </a:r>
            <a:r>
              <a:rPr lang="en-US" dirty="0"/>
              <a:t> By learning consumption patterns and detecting anomalies, the system will offer a more effective solution for real-time fuel theft detection.</a:t>
            </a:r>
            <a:endParaRPr lang="en-US" dirty="0">
              <a:solidFill>
                <a:srgbClr val="000000"/>
              </a:solidFill>
              <a:ea typeface="Aileron"/>
              <a:cs typeface="Aileron"/>
              <a:sym typeface="Aileron"/>
            </a:endParaRPr>
          </a:p>
          <a:p>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20031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1A9AE-2FE9-C2EC-D7E3-32A66DA574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117727D-8F88-4C5E-5040-4F061A253A4F}"/>
              </a:ext>
            </a:extLst>
          </p:cNvPr>
          <p:cNvSpPr>
            <a:spLocks noGrp="1"/>
          </p:cNvSpPr>
          <p:nvPr>
            <p:ph type="title"/>
          </p:nvPr>
        </p:nvSpPr>
        <p:spPr>
          <a:xfrm>
            <a:off x="594360" y="102875"/>
            <a:ext cx="10873740" cy="1680205"/>
          </a:xfrm>
        </p:spPr>
        <p:txBody>
          <a:bodyPr/>
          <a:lstStyle/>
          <a:p>
            <a:r>
              <a:rPr lang="en-US" dirty="0">
                <a:latin typeface="Bookman Old Style" panose="02050604050505020204" pitchFamily="18" charset="0"/>
              </a:rPr>
              <a:t>OBJECTIVE</a:t>
            </a:r>
            <a:endParaRPr lang="en-US" dirty="0"/>
          </a:p>
        </p:txBody>
      </p:sp>
      <p:sp>
        <p:nvSpPr>
          <p:cNvPr id="7" name="Text Placeholder 6">
            <a:extLst>
              <a:ext uri="{FF2B5EF4-FFF2-40B4-BE49-F238E27FC236}">
                <a16:creationId xmlns:a16="http://schemas.microsoft.com/office/drawing/2014/main" id="{CA66FE9E-AD7E-3050-2389-87C52FB527BD}"/>
              </a:ext>
            </a:extLst>
          </p:cNvPr>
          <p:cNvSpPr>
            <a:spLocks noGrp="1"/>
          </p:cNvSpPr>
          <p:nvPr>
            <p:ph sz="quarter" idx="13"/>
          </p:nvPr>
        </p:nvSpPr>
        <p:spPr>
          <a:xfrm>
            <a:off x="3657600" y="1864143"/>
            <a:ext cx="7810500" cy="3700462"/>
          </a:xfrm>
        </p:spPr>
        <p:txBody>
          <a:bodyPr>
            <a:noAutofit/>
          </a:bodyPr>
          <a:lstStyle/>
          <a:p>
            <a:pPr>
              <a:lnSpc>
                <a:spcPct val="100000"/>
              </a:lnSpc>
            </a:pPr>
            <a:r>
              <a:rPr lang="en-US" sz="1600" b="1" dirty="0"/>
              <a:t>Develop a smart, adaptive system to detect fuel theft in vehicles.</a:t>
            </a:r>
            <a:r>
              <a:rPr lang="en-US" sz="1600" dirty="0"/>
              <a:t> This system aims to be intelligent and adjust to different conditions to accurately identify theft.</a:t>
            </a:r>
          </a:p>
          <a:p>
            <a:pPr defTabSz="685800">
              <a:lnSpc>
                <a:spcPct val="100000"/>
              </a:lnSpc>
              <a:defRPr/>
            </a:pPr>
            <a:r>
              <a:rPr lang="en-US" sz="1600" b="1" dirty="0"/>
              <a:t>Integrate IoT-based fuel monitoring with a Federated machine learning model to spot theft events.</a:t>
            </a:r>
            <a:r>
              <a:rPr lang="en-US" sz="1600" dirty="0"/>
              <a:t> The goal is to combine hardware sensors with a collaborative learning model to improve detection capabilities.</a:t>
            </a:r>
          </a:p>
          <a:p>
            <a:pPr defTabSz="685800">
              <a:lnSpc>
                <a:spcPct val="100000"/>
              </a:lnSpc>
              <a:defRPr/>
            </a:pPr>
            <a:r>
              <a:rPr lang="en-US" sz="1600" b="1" dirty="0"/>
              <a:t>Minimize false alarms by including contextual features and learning typical consumption patterns.</a:t>
            </a:r>
            <a:r>
              <a:rPr lang="en-US" sz="1600" dirty="0"/>
              <a:t> This will make the system more reliable by differentiating between normal fuel usage and actual theft.</a:t>
            </a:r>
          </a:p>
          <a:p>
            <a:pPr defTabSz="685800">
              <a:lnSpc>
                <a:spcPct val="100000"/>
              </a:lnSpc>
              <a:defRPr/>
            </a:pPr>
            <a:r>
              <a:rPr lang="en-US" sz="1600" b="1" dirty="0"/>
              <a:t>Evaluate the model's accuracy, precision, recall, and detection latency.</a:t>
            </a:r>
            <a:r>
              <a:rPr lang="en-US" sz="1600" dirty="0"/>
              <a:t> This is to measure the effectiveness and efficiency of the proposed system.</a:t>
            </a:r>
          </a:p>
          <a:p>
            <a:pPr>
              <a:lnSpc>
                <a:spcPct val="100000"/>
              </a:lnSpc>
            </a:pPr>
            <a:endParaRPr lang="en-US" sz="1600" dirty="0"/>
          </a:p>
        </p:txBody>
      </p:sp>
      <p:grpSp>
        <p:nvGrpSpPr>
          <p:cNvPr id="19" name="Group 18">
            <a:extLst>
              <a:ext uri="{FF2B5EF4-FFF2-40B4-BE49-F238E27FC236}">
                <a16:creationId xmlns:a16="http://schemas.microsoft.com/office/drawing/2014/main" id="{B4F970AB-3296-C555-FD2A-B3A111F10F2C}"/>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CB1915E3-CE48-FE09-583B-F2812B7395CE}"/>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5CE6CDD8-C168-DE92-A3CC-1415D036D9E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6722A4D0-8F0C-7345-0015-4DCC69862688}"/>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87414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a:lstStyle/>
          <a:p>
            <a:r>
              <a:rPr lang="en-US" dirty="0">
                <a:latin typeface="Bookman Old Style" panose="02050604050505020204" pitchFamily="18" charset="0"/>
              </a:rPr>
              <a:t>LITERATURE REVIEW </a:t>
            </a:r>
            <a:endParaRPr lang="en-US" dirty="0"/>
          </a:p>
        </p:txBody>
      </p:sp>
    </p:spTree>
    <p:extLst>
      <p:ext uri="{BB962C8B-B14F-4D97-AF65-F5344CB8AC3E}">
        <p14:creationId xmlns:p14="http://schemas.microsoft.com/office/powerpoint/2010/main" val="2039059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F5DC4-63AA-447A-43E3-38117D10C5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275612C-FA2A-14AE-B461-D5EC238866B3}"/>
              </a:ext>
            </a:extLst>
          </p:cNvPr>
          <p:cNvSpPr>
            <a:spLocks noGrp="1"/>
          </p:cNvSpPr>
          <p:nvPr>
            <p:ph type="title"/>
          </p:nvPr>
        </p:nvSpPr>
        <p:spPr>
          <a:xfrm>
            <a:off x="484177" y="-316445"/>
            <a:ext cx="10873740" cy="1164451"/>
          </a:xfrm>
        </p:spPr>
        <p:txBody>
          <a:bodyPr/>
          <a:lstStyle/>
          <a:p>
            <a:r>
              <a:rPr lang="en-US" dirty="0">
                <a:latin typeface="Bookman Old Style" panose="02050604050505020204" pitchFamily="18" charset="0"/>
              </a:rPr>
              <a:t>LITERATURE REVIEW </a:t>
            </a:r>
            <a:endParaRPr lang="en-US" dirty="0"/>
          </a:p>
        </p:txBody>
      </p:sp>
      <p:grpSp>
        <p:nvGrpSpPr>
          <p:cNvPr id="19" name="Group 18">
            <a:extLst>
              <a:ext uri="{FF2B5EF4-FFF2-40B4-BE49-F238E27FC236}">
                <a16:creationId xmlns:a16="http://schemas.microsoft.com/office/drawing/2014/main" id="{1EC7D3E2-C6FD-3602-F827-8CB90BECCD62}"/>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04267CE3-E8D4-D8FB-69AF-2C5DEAC3CD3E}"/>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4A239D7-4E69-CF77-C771-660D180CD11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55A2A90-AA77-5F12-A39F-A15274FE128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aphicFrame>
        <p:nvGraphicFramePr>
          <p:cNvPr id="10" name="Table Placeholder 3">
            <a:extLst>
              <a:ext uri="{FF2B5EF4-FFF2-40B4-BE49-F238E27FC236}">
                <a16:creationId xmlns:a16="http://schemas.microsoft.com/office/drawing/2014/main" id="{2D9297CC-FABC-18D3-D365-2DB77FE3B5CD}"/>
              </a:ext>
            </a:extLst>
          </p:cNvPr>
          <p:cNvGraphicFramePr>
            <a:graphicFrameLocks/>
          </p:cNvGraphicFramePr>
          <p:nvPr>
            <p:extLst>
              <p:ext uri="{D42A27DB-BD31-4B8C-83A1-F6EECF244321}">
                <p14:modId xmlns:p14="http://schemas.microsoft.com/office/powerpoint/2010/main" val="3210384868"/>
              </p:ext>
            </p:extLst>
          </p:nvPr>
        </p:nvGraphicFramePr>
        <p:xfrm>
          <a:off x="484177" y="1016449"/>
          <a:ext cx="10991080" cy="5600920"/>
        </p:xfrm>
        <a:graphic>
          <a:graphicData uri="http://schemas.openxmlformats.org/drawingml/2006/table">
            <a:tbl>
              <a:tblPr firstRow="1" bandRow="1">
                <a:tableStyleId>{69CF1AB2-1976-4502-BF36-3FF5EA218861}</a:tableStyleId>
              </a:tblPr>
              <a:tblGrid>
                <a:gridCol w="2747770">
                  <a:extLst>
                    <a:ext uri="{9D8B030D-6E8A-4147-A177-3AD203B41FA5}">
                      <a16:colId xmlns:a16="http://schemas.microsoft.com/office/drawing/2014/main" val="2382218087"/>
                    </a:ext>
                  </a:extLst>
                </a:gridCol>
                <a:gridCol w="2747770">
                  <a:extLst>
                    <a:ext uri="{9D8B030D-6E8A-4147-A177-3AD203B41FA5}">
                      <a16:colId xmlns:a16="http://schemas.microsoft.com/office/drawing/2014/main" val="3953468724"/>
                    </a:ext>
                  </a:extLst>
                </a:gridCol>
                <a:gridCol w="2747770">
                  <a:extLst>
                    <a:ext uri="{9D8B030D-6E8A-4147-A177-3AD203B41FA5}">
                      <a16:colId xmlns:a16="http://schemas.microsoft.com/office/drawing/2014/main" val="4277526474"/>
                    </a:ext>
                  </a:extLst>
                </a:gridCol>
                <a:gridCol w="2747770">
                  <a:extLst>
                    <a:ext uri="{9D8B030D-6E8A-4147-A177-3AD203B41FA5}">
                      <a16:colId xmlns:a16="http://schemas.microsoft.com/office/drawing/2014/main" val="2438884888"/>
                    </a:ext>
                  </a:extLst>
                </a:gridCol>
              </a:tblGrid>
              <a:tr h="796998">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TITLE</a:t>
                      </a:r>
                    </a:p>
                  </a:txBody>
                  <a:tcPr/>
                </a:tc>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YEAR</a:t>
                      </a:r>
                    </a:p>
                  </a:txBody>
                  <a:tcPr/>
                </a:tc>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AUTHOR</a:t>
                      </a:r>
                    </a:p>
                  </a:txBody>
                  <a:tcPr/>
                </a:tc>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TECHNIQUE</a:t>
                      </a:r>
                    </a:p>
                  </a:txBody>
                  <a:tcPr/>
                </a:tc>
                <a:extLst>
                  <a:ext uri="{0D108BD9-81ED-4DB2-BD59-A6C34878D82A}">
                    <a16:rowId xmlns:a16="http://schemas.microsoft.com/office/drawing/2014/main" val="2857107962"/>
                  </a:ext>
                </a:extLst>
              </a:tr>
              <a:tr h="958712">
                <a:tc>
                  <a:txBody>
                    <a:bodyPr/>
                    <a:lstStyle/>
                    <a:p>
                      <a:pPr algn="ctr"/>
                      <a:r>
                        <a:rPr lang="en-US" sz="1050" dirty="0"/>
                        <a:t>Smart Fuel Level Monitoring and Alerting System Based on IOT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Franklin Gothic Book"/>
                          <a:ea typeface="+mn-ea"/>
                          <a:cs typeface="+mn-cs"/>
                        </a:rPr>
                        <a:t>2024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dirty="0"/>
                        <a:t>R Deekshitha, Mahadevan S, Pearl Abey Thomas, Sree Varsha </a:t>
                      </a:r>
                      <a:r>
                        <a:rPr lang="en-IN" sz="1050" dirty="0" err="1"/>
                        <a:t>Nagammagari</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This </a:t>
                      </a:r>
                      <a:r>
                        <a:rPr lang="en-US" sz="1050" b="1" dirty="0"/>
                        <a:t>IoT-based system</a:t>
                      </a:r>
                      <a:r>
                        <a:rPr lang="en-US" sz="1050" dirty="0"/>
                        <a:t> uses an </a:t>
                      </a:r>
                      <a:r>
                        <a:rPr lang="en-US" sz="1050" b="1" dirty="0"/>
                        <a:t>ultrasonic sensor</a:t>
                      </a:r>
                      <a:r>
                        <a:rPr lang="en-US" sz="1050" dirty="0"/>
                        <a:t> and a </a:t>
                      </a:r>
                      <a:r>
                        <a:rPr lang="en-US" sz="1050" b="1" dirty="0" err="1"/>
                        <a:t>NodeMCU</a:t>
                      </a:r>
                      <a:r>
                        <a:rPr lang="en-US" sz="1050" dirty="0"/>
                        <a:t> to monitor fuel levels. If the level drops, an </a:t>
                      </a:r>
                      <a:r>
                        <a:rPr lang="en-US" sz="1050" b="1" dirty="0"/>
                        <a:t>IFTTT</a:t>
                      </a:r>
                      <a:r>
                        <a:rPr lang="en-US" sz="1050" dirty="0"/>
                        <a:t> application sends an alert and launches </a:t>
                      </a:r>
                      <a:r>
                        <a:rPr lang="en-US" sz="1050" b="1" dirty="0"/>
                        <a:t>Google Maps</a:t>
                      </a:r>
                      <a:r>
                        <a:rPr lang="en-US" sz="1050" dirty="0"/>
                        <a:t> to guide the user to a nearby fuel station.</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extLst>
                  <a:ext uri="{0D108BD9-81ED-4DB2-BD59-A6C34878D82A}">
                    <a16:rowId xmlns:a16="http://schemas.microsoft.com/office/drawing/2014/main" val="1671386868"/>
                  </a:ext>
                </a:extLst>
              </a:tr>
              <a:tr h="7969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Evaluation of Fuel Theft Prevention System with Integrated Sensors</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Franklin Gothic Book"/>
                          <a:ea typeface="+mn-ea"/>
                          <a:cs typeface="+mn-cs"/>
                        </a:rPr>
                        <a:t>2024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dirty="0"/>
                        <a:t>Berhanu Abnet </a:t>
                      </a:r>
                      <a:r>
                        <a:rPr lang="en-IN" sz="1050" dirty="0" err="1"/>
                        <a:t>Mengstie</a:t>
                      </a:r>
                      <a:r>
                        <a:rPr lang="en-IN" sz="1050" dirty="0"/>
                        <a:t>, Eden </a:t>
                      </a:r>
                      <a:r>
                        <a:rPr lang="en-IN" sz="1050" dirty="0" err="1"/>
                        <a:t>Aragaw</a:t>
                      </a:r>
                      <a:r>
                        <a:rPr lang="en-IN" sz="1050" dirty="0"/>
                        <a:t> Addisu</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An </a:t>
                      </a:r>
                      <a:r>
                        <a:rPr lang="en-US" sz="1050" b="1" dirty="0"/>
                        <a:t>Arduino Uno</a:t>
                      </a:r>
                      <a:r>
                        <a:rPr lang="en-US" sz="1050" dirty="0"/>
                        <a:t> and an </a:t>
                      </a:r>
                      <a:r>
                        <a:rPr lang="en-US" sz="1050" b="1" dirty="0"/>
                        <a:t>ultrasonic sensor</a:t>
                      </a:r>
                      <a:r>
                        <a:rPr lang="en-US" sz="1050" dirty="0"/>
                        <a:t> are used to detect excessive fuel loss. If theft is detected, an alert is sent via a </a:t>
                      </a:r>
                      <a:r>
                        <a:rPr lang="en-US" sz="1050" b="1" dirty="0"/>
                        <a:t>GSM module</a:t>
                      </a:r>
                      <a:r>
                        <a:rPr lang="en-US" sz="1050" dirty="0"/>
                        <a:t>, and a </a:t>
                      </a:r>
                      <a:r>
                        <a:rPr lang="en-US" sz="1050" b="1" dirty="0"/>
                        <a:t>buzzer</a:t>
                      </a:r>
                      <a:r>
                        <a:rPr lang="en-US" sz="1050" dirty="0"/>
                        <a:t> is activated.</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extLst>
                  <a:ext uri="{0D108BD9-81ED-4DB2-BD59-A6C34878D82A}">
                    <a16:rowId xmlns:a16="http://schemas.microsoft.com/office/drawing/2014/main" val="380626418"/>
                  </a:ext>
                </a:extLst>
              </a:tr>
              <a:tr h="9587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Vehicle Fuel Theft Detection and Monitoring System</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Franklin Gothic Book"/>
                          <a:ea typeface="+mn-ea"/>
                          <a:cs typeface="+mn-cs"/>
                        </a:rPr>
                        <a:t>2024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dirty="0"/>
                        <a:t>Vasanth Kumar, </a:t>
                      </a:r>
                      <a:r>
                        <a:rPr lang="en-IN" sz="1050" dirty="0" err="1"/>
                        <a:t>T.Girishchowdary</a:t>
                      </a:r>
                      <a:r>
                        <a:rPr lang="en-IN" sz="1050" dirty="0"/>
                        <a:t>, Pavan C, Praveen D B, Satish Kumar B</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This system uses a </a:t>
                      </a:r>
                      <a:r>
                        <a:rPr lang="en-US" sz="1050" b="1" dirty="0"/>
                        <a:t>flow sensor</a:t>
                      </a:r>
                      <a:r>
                        <a:rPr lang="en-US" sz="1050" dirty="0"/>
                        <a:t> and an </a:t>
                      </a:r>
                      <a:r>
                        <a:rPr lang="en-US" sz="1050" b="1" dirty="0"/>
                        <a:t>ultrasonic sensor</a:t>
                      </a:r>
                      <a:r>
                        <a:rPr lang="en-US" sz="1050" dirty="0"/>
                        <a:t> to monitor fuel levels. When a drop is detected with the ignition off, an alert is sent via a </a:t>
                      </a:r>
                      <a:r>
                        <a:rPr lang="en-US" sz="1050" b="1" dirty="0"/>
                        <a:t>GSM module</a:t>
                      </a:r>
                      <a:r>
                        <a:rPr lang="en-US" sz="1050" dirty="0"/>
                        <a:t> and a </a:t>
                      </a:r>
                      <a:r>
                        <a:rPr lang="en-US" sz="1050" b="1" dirty="0"/>
                        <a:t>buzzer</a:t>
                      </a:r>
                      <a:r>
                        <a:rPr lang="en-US" sz="1050" dirty="0"/>
                        <a:t> is activated.</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extLst>
                  <a:ext uri="{0D108BD9-81ED-4DB2-BD59-A6C34878D82A}">
                    <a16:rowId xmlns:a16="http://schemas.microsoft.com/office/drawing/2014/main" val="2132482967"/>
                  </a:ext>
                </a:extLst>
              </a:tr>
              <a:tr h="11307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Design and Implementation of Vehicle Theft Prevention by Operating Fuel Injector</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Franklin Gothic Book"/>
                          <a:ea typeface="+mn-ea"/>
                          <a:cs typeface="+mn-cs"/>
                        </a:rPr>
                        <a:t>2024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Design and Implementation of Vehicle Theft Prevention by Operating Fuel Injector</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This system uses </a:t>
                      </a:r>
                      <a:r>
                        <a:rPr lang="en-US" sz="1050" b="1" dirty="0"/>
                        <a:t>facial recognition</a:t>
                      </a:r>
                      <a:r>
                        <a:rPr lang="en-US" sz="1050" dirty="0"/>
                        <a:t> with a camera and a </a:t>
                      </a:r>
                      <a:r>
                        <a:rPr lang="en-US" sz="1050" b="1" dirty="0"/>
                        <a:t>Raspberry Pi</a:t>
                      </a:r>
                      <a:r>
                        <a:rPr lang="en-US" sz="1050" dirty="0"/>
                        <a:t> for user authentication. If an unauthorized person is detected, the system halts the </a:t>
                      </a:r>
                      <a:r>
                        <a:rPr lang="en-US" sz="1050" b="1" dirty="0"/>
                        <a:t>fuel injector</a:t>
                      </a:r>
                      <a:r>
                        <a:rPr lang="en-US" sz="1050" dirty="0"/>
                        <a:t> and sends a notification with </a:t>
                      </a:r>
                      <a:r>
                        <a:rPr lang="en-US" sz="1050" b="1" dirty="0"/>
                        <a:t>GPS location</a:t>
                      </a:r>
                      <a:r>
                        <a:rPr lang="en-US" sz="1050" dirty="0"/>
                        <a:t> via the </a:t>
                      </a:r>
                      <a:r>
                        <a:rPr lang="en-US" sz="1050" b="1" dirty="0"/>
                        <a:t>Blynk app</a:t>
                      </a:r>
                      <a:r>
                        <a:rPr lang="en-US" sz="1050" dirty="0"/>
                        <a:t> and a </a:t>
                      </a:r>
                      <a:r>
                        <a:rPr lang="en-US" sz="1050" b="1" dirty="0"/>
                        <a:t>Wi-Fi module</a:t>
                      </a:r>
                      <a:r>
                        <a:rPr lang="en-US" sz="1050" dirty="0"/>
                        <a:t>.</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extLst>
                  <a:ext uri="{0D108BD9-81ED-4DB2-BD59-A6C34878D82A}">
                    <a16:rowId xmlns:a16="http://schemas.microsoft.com/office/drawing/2014/main" val="3936251906"/>
                  </a:ext>
                </a:extLst>
              </a:tr>
              <a:tr h="9587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Vehicle Fuel Theft Detection System</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Franklin Gothic Book"/>
                          <a:ea typeface="+mn-ea"/>
                          <a:cs typeface="+mn-cs"/>
                        </a:rPr>
                        <a:t>2024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dirty="0"/>
                        <a:t>Sangeeta </a:t>
                      </a:r>
                      <a:r>
                        <a:rPr lang="en-IN" sz="1050" dirty="0" err="1"/>
                        <a:t>Kurundkar</a:t>
                      </a:r>
                      <a:r>
                        <a:rPr lang="en-IN" sz="1050" dirty="0"/>
                        <a:t>, Sakshi Rathod, Ruta </a:t>
                      </a:r>
                      <a:r>
                        <a:rPr lang="en-IN" sz="1050" dirty="0" err="1"/>
                        <a:t>Sapate</a:t>
                      </a:r>
                      <a:r>
                        <a:rPr lang="en-IN" sz="1050" dirty="0"/>
                        <a:t>, Samruddhi Raut, Shantanu </a:t>
                      </a:r>
                      <a:r>
                        <a:rPr lang="en-IN" sz="1050" dirty="0" err="1"/>
                        <a:t>Khopade</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A </a:t>
                      </a:r>
                      <a:r>
                        <a:rPr lang="en-US" sz="1050" b="1" dirty="0"/>
                        <a:t>GSM-based system</a:t>
                      </a:r>
                      <a:r>
                        <a:rPr lang="en-US" sz="1050" dirty="0"/>
                        <a:t> that activates when the </a:t>
                      </a:r>
                      <a:r>
                        <a:rPr lang="en-US" sz="1050" b="1" dirty="0"/>
                        <a:t>ignition key</a:t>
                      </a:r>
                      <a:r>
                        <a:rPr lang="en-US" sz="1050" dirty="0"/>
                        <a:t> is removed. A </a:t>
                      </a:r>
                      <a:r>
                        <a:rPr lang="en-US" sz="1050" b="1" dirty="0"/>
                        <a:t>capacitive level sensor</a:t>
                      </a:r>
                      <a:r>
                        <a:rPr lang="en-US" sz="1050" dirty="0"/>
                        <a:t> detects a drop in fuel, and an </a:t>
                      </a:r>
                      <a:r>
                        <a:rPr lang="en-US" sz="1050" b="1" dirty="0"/>
                        <a:t>Arduino microcontroller</a:t>
                      </a:r>
                      <a:r>
                        <a:rPr lang="en-US" sz="1050" dirty="0"/>
                        <a:t> activates a </a:t>
                      </a:r>
                      <a:r>
                        <a:rPr lang="en-US" sz="1050" b="1" dirty="0"/>
                        <a:t>buzzer</a:t>
                      </a:r>
                      <a:r>
                        <a:rPr lang="en-US" sz="1050" dirty="0"/>
                        <a:t> and sends an </a:t>
                      </a:r>
                      <a:r>
                        <a:rPr lang="en-US" sz="1050" b="1" dirty="0"/>
                        <a:t>SMS alert</a:t>
                      </a:r>
                      <a:r>
                        <a:rPr lang="en-US" sz="1050" dirty="0"/>
                        <a:t> via a </a:t>
                      </a:r>
                      <a:r>
                        <a:rPr lang="en-US" sz="1050" b="1" dirty="0"/>
                        <a:t>GSM modem</a:t>
                      </a:r>
                      <a:r>
                        <a:rPr lang="en-US" sz="1050" dirty="0"/>
                        <a:t>.</a:t>
                      </a:r>
                      <a:endParaRPr kumimoji="0" lang="en-US" sz="1050" b="0" i="0" u="none" strike="noStrike" kern="1200" cap="none" spc="0" normalizeH="0" baseline="0" noProof="0" dirty="0">
                        <a:ln>
                          <a:noFill/>
                        </a:ln>
                        <a:solidFill>
                          <a:srgbClr val="000000"/>
                        </a:solidFill>
                        <a:effectLst/>
                        <a:uLnTx/>
                        <a:uFillTx/>
                        <a:latin typeface="Franklin Gothic Book"/>
                        <a:ea typeface="+mn-ea"/>
                        <a:cs typeface="+mn-cs"/>
                      </a:endParaRP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2829388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A041C-ACE3-41A0-D3D0-9D3F410829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76E230-BBD9-0E2E-7012-82ACE4F84FC2}"/>
              </a:ext>
            </a:extLst>
          </p:cNvPr>
          <p:cNvSpPr>
            <a:spLocks noGrp="1"/>
          </p:cNvSpPr>
          <p:nvPr>
            <p:ph type="title"/>
          </p:nvPr>
        </p:nvSpPr>
        <p:spPr>
          <a:xfrm>
            <a:off x="477020" y="-298178"/>
            <a:ext cx="10873740" cy="1116325"/>
          </a:xfrm>
        </p:spPr>
        <p:txBody>
          <a:bodyPr/>
          <a:lstStyle/>
          <a:p>
            <a:r>
              <a:rPr lang="en-US" dirty="0">
                <a:latin typeface="Bookman Old Style" panose="02050604050505020204" pitchFamily="18" charset="0"/>
              </a:rPr>
              <a:t>LITERATURE REVIEW </a:t>
            </a:r>
            <a:endParaRPr lang="en-US" dirty="0"/>
          </a:p>
        </p:txBody>
      </p:sp>
      <p:grpSp>
        <p:nvGrpSpPr>
          <p:cNvPr id="19" name="Group 18">
            <a:extLst>
              <a:ext uri="{FF2B5EF4-FFF2-40B4-BE49-F238E27FC236}">
                <a16:creationId xmlns:a16="http://schemas.microsoft.com/office/drawing/2014/main" id="{AE639BE4-350E-29F1-7FF7-A35D486D251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BF355C1-C673-B21B-9E52-EF8FDA00D3D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6A007091-41CC-60C5-6E44-1B074A9F5E57}"/>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C5E5762C-0AF3-8E27-7A12-DA8E613CA40C}"/>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aphicFrame>
        <p:nvGraphicFramePr>
          <p:cNvPr id="4" name="Table Placeholder 3">
            <a:extLst>
              <a:ext uri="{FF2B5EF4-FFF2-40B4-BE49-F238E27FC236}">
                <a16:creationId xmlns:a16="http://schemas.microsoft.com/office/drawing/2014/main" id="{CC441B75-80A2-A79E-DA9B-AE754EF03659}"/>
              </a:ext>
            </a:extLst>
          </p:cNvPr>
          <p:cNvGraphicFramePr>
            <a:graphicFrameLocks/>
          </p:cNvGraphicFramePr>
          <p:nvPr>
            <p:extLst>
              <p:ext uri="{D42A27DB-BD31-4B8C-83A1-F6EECF244321}">
                <p14:modId xmlns:p14="http://schemas.microsoft.com/office/powerpoint/2010/main" val="1762318085"/>
              </p:ext>
            </p:extLst>
          </p:nvPr>
        </p:nvGraphicFramePr>
        <p:xfrm>
          <a:off x="477020" y="867329"/>
          <a:ext cx="11289864" cy="5733996"/>
        </p:xfrm>
        <a:graphic>
          <a:graphicData uri="http://schemas.openxmlformats.org/drawingml/2006/table">
            <a:tbl>
              <a:tblPr firstRow="1" bandRow="1">
                <a:tableStyleId>{69CF1AB2-1976-4502-BF36-3FF5EA218861}</a:tableStyleId>
              </a:tblPr>
              <a:tblGrid>
                <a:gridCol w="2822466">
                  <a:extLst>
                    <a:ext uri="{9D8B030D-6E8A-4147-A177-3AD203B41FA5}">
                      <a16:colId xmlns:a16="http://schemas.microsoft.com/office/drawing/2014/main" val="2382218087"/>
                    </a:ext>
                  </a:extLst>
                </a:gridCol>
                <a:gridCol w="2822466">
                  <a:extLst>
                    <a:ext uri="{9D8B030D-6E8A-4147-A177-3AD203B41FA5}">
                      <a16:colId xmlns:a16="http://schemas.microsoft.com/office/drawing/2014/main" val="3953468724"/>
                    </a:ext>
                  </a:extLst>
                </a:gridCol>
                <a:gridCol w="2845698">
                  <a:extLst>
                    <a:ext uri="{9D8B030D-6E8A-4147-A177-3AD203B41FA5}">
                      <a16:colId xmlns:a16="http://schemas.microsoft.com/office/drawing/2014/main" val="4277526474"/>
                    </a:ext>
                  </a:extLst>
                </a:gridCol>
                <a:gridCol w="2799234">
                  <a:extLst>
                    <a:ext uri="{9D8B030D-6E8A-4147-A177-3AD203B41FA5}">
                      <a16:colId xmlns:a16="http://schemas.microsoft.com/office/drawing/2014/main" val="2438884888"/>
                    </a:ext>
                  </a:extLst>
                </a:gridCol>
              </a:tblGrid>
              <a:tr h="603986">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TITLE</a:t>
                      </a:r>
                    </a:p>
                  </a:txBody>
                  <a:tcPr/>
                </a:tc>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YEAR</a:t>
                      </a:r>
                    </a:p>
                  </a:txBody>
                  <a:tcPr/>
                </a:tc>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AUTHOR</a:t>
                      </a:r>
                    </a:p>
                  </a:txBody>
                  <a:tcPr/>
                </a:tc>
                <a:tc>
                  <a:txBody>
                    <a:bodyPr/>
                    <a:lstStyle/>
                    <a:p>
                      <a:pPr algn="ctr"/>
                      <a:r>
                        <a:rPr lang="en-IN" sz="1600" dirty="0">
                          <a:ln w="15875">
                            <a:solidFill>
                              <a:schemeClr val="accent1"/>
                            </a:solidFill>
                          </a:ln>
                          <a:solidFill>
                            <a:schemeClr val="bg1"/>
                          </a:solidFill>
                          <a:latin typeface="Calibri" panose="020F0502020204030204" pitchFamily="34" charset="0"/>
                          <a:ea typeface="Calibri" panose="020F0502020204030204" pitchFamily="34" charset="0"/>
                          <a:cs typeface="Calibri" panose="020F0502020204030204" pitchFamily="34" charset="0"/>
                        </a:rPr>
                        <a:t>TECHNIQUE</a:t>
                      </a:r>
                    </a:p>
                  </a:txBody>
                  <a:tcPr/>
                </a:tc>
                <a:extLst>
                  <a:ext uri="{0D108BD9-81ED-4DB2-BD59-A6C34878D82A}">
                    <a16:rowId xmlns:a16="http://schemas.microsoft.com/office/drawing/2014/main" val="2857107962"/>
                  </a:ext>
                </a:extLst>
              </a:tr>
              <a:tr h="1026002">
                <a:tc>
                  <a:txBody>
                    <a:bodyPr/>
                    <a:lstStyle/>
                    <a:p>
                      <a:pPr algn="ctr"/>
                      <a:r>
                        <a:rPr lang="en-US" sz="1050" dirty="0">
                          <a:latin typeface="+mn-lt"/>
                        </a:rPr>
                        <a:t>Fuel Monitoring System Using IOT Device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n-lt"/>
                          <a:ea typeface="+mn-ea"/>
                          <a:cs typeface="+mn-cs"/>
                        </a:rPr>
                        <a:t>2024</a:t>
                      </a:r>
                    </a:p>
                  </a:txBody>
                  <a:tcPr anchor="ctr"/>
                </a:tc>
                <a:tc>
                  <a:txBody>
                    <a:bodyPr/>
                    <a:lstStyle/>
                    <a:p>
                      <a:pPr>
                        <a:buNone/>
                      </a:pPr>
                      <a:r>
                        <a:rPr lang="en-IN" sz="1050" dirty="0">
                          <a:latin typeface="+mn-lt"/>
                        </a:rPr>
                        <a:t>Durvesh S. Chaudhari, Aditya P. </a:t>
                      </a:r>
                      <a:r>
                        <a:rPr lang="en-IN" sz="1050" dirty="0" err="1">
                          <a:latin typeface="+mn-lt"/>
                        </a:rPr>
                        <a:t>Talmale</a:t>
                      </a:r>
                      <a:r>
                        <a:rPr lang="en-IN" sz="1050" dirty="0">
                          <a:latin typeface="+mn-lt"/>
                        </a:rPr>
                        <a:t>, Guruprasad R. </a:t>
                      </a:r>
                      <a:r>
                        <a:rPr lang="en-IN" sz="1050" dirty="0" err="1">
                          <a:latin typeface="+mn-lt"/>
                        </a:rPr>
                        <a:t>Phulwale</a:t>
                      </a:r>
                      <a:r>
                        <a:rPr lang="en-IN" sz="1050" dirty="0">
                          <a:latin typeface="+mn-lt"/>
                        </a:rPr>
                        <a:t>, Nikhil R. </a:t>
                      </a:r>
                      <a:r>
                        <a:rPr lang="en-IN" sz="1050" dirty="0" err="1">
                          <a:latin typeface="+mn-lt"/>
                        </a:rPr>
                        <a:t>Bangal</a:t>
                      </a:r>
                      <a:r>
                        <a:rPr lang="en-IN" sz="1050" dirty="0">
                          <a:latin typeface="+mn-lt"/>
                        </a:rPr>
                        <a:t>, Prof. Neha U. </a:t>
                      </a:r>
                      <a:r>
                        <a:rPr lang="en-IN" sz="1050" dirty="0" err="1">
                          <a:latin typeface="+mn-lt"/>
                        </a:rPr>
                        <a:t>Karande</a:t>
                      </a:r>
                      <a:endParaRPr lang="en-IN" sz="1050" dirty="0">
                        <a:latin typeface="+mn-lt"/>
                      </a:endParaRPr>
                    </a:p>
                  </a:txBody>
                  <a:tcPr anchor="ctr"/>
                </a:tc>
                <a:tc>
                  <a:txBody>
                    <a:bodyPr/>
                    <a:lstStyle/>
                    <a:p>
                      <a:pPr>
                        <a:buNone/>
                      </a:pPr>
                      <a:r>
                        <a:rPr lang="en-US" sz="1000" dirty="0">
                          <a:latin typeface="+mn-lt"/>
                        </a:rPr>
                        <a:t>This system uses a </a:t>
                      </a:r>
                      <a:r>
                        <a:rPr lang="en-US" sz="1000" b="1" dirty="0">
                          <a:latin typeface="+mn-lt"/>
                        </a:rPr>
                        <a:t>capacitive fuel sensor</a:t>
                      </a:r>
                      <a:r>
                        <a:rPr lang="en-US" sz="1000" dirty="0">
                          <a:latin typeface="+mn-lt"/>
                        </a:rPr>
                        <a:t> for level monitoring and an </a:t>
                      </a:r>
                      <a:r>
                        <a:rPr lang="en-US" sz="1000" b="1" dirty="0">
                          <a:latin typeface="+mn-lt"/>
                        </a:rPr>
                        <a:t>RFID locking mechanism</a:t>
                      </a:r>
                      <a:r>
                        <a:rPr lang="en-US" sz="1000" dirty="0">
                          <a:latin typeface="+mn-lt"/>
                        </a:rPr>
                        <a:t> to prevent theft. A </a:t>
                      </a:r>
                      <a:r>
                        <a:rPr lang="en-US" sz="1000" b="1" dirty="0">
                          <a:latin typeface="+mn-lt"/>
                        </a:rPr>
                        <a:t>SIM900D</a:t>
                      </a:r>
                      <a:r>
                        <a:rPr lang="en-US" sz="1000" dirty="0">
                          <a:latin typeface="+mn-lt"/>
                        </a:rPr>
                        <a:t> and a </a:t>
                      </a:r>
                      <a:r>
                        <a:rPr lang="en-US" sz="1000" b="1" dirty="0">
                          <a:latin typeface="+mn-lt"/>
                        </a:rPr>
                        <a:t>GPS module</a:t>
                      </a:r>
                      <a:r>
                        <a:rPr lang="en-US" sz="1000" dirty="0">
                          <a:latin typeface="+mn-lt"/>
                        </a:rPr>
                        <a:t> are used for alerts and real-time tracking of the tank. The system is designed to be easily retrofitted to existing tanks.</a:t>
                      </a:r>
                      <a:endParaRPr lang="en-IN" sz="1000" dirty="0">
                        <a:latin typeface="+mn-lt"/>
                      </a:endParaRPr>
                    </a:p>
                  </a:txBody>
                  <a:tcPr anchor="ctr"/>
                </a:tc>
                <a:extLst>
                  <a:ext uri="{0D108BD9-81ED-4DB2-BD59-A6C34878D82A}">
                    <a16:rowId xmlns:a16="http://schemas.microsoft.com/office/drawing/2014/main" val="1671386868"/>
                  </a:ext>
                </a:extLst>
              </a:tr>
              <a:tr h="10260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latin typeface="+mn-lt"/>
                        </a:rPr>
                        <a:t>Smart Fuel Theft Detection And Monitoring System Using IOT With </a:t>
                      </a:r>
                      <a:r>
                        <a:rPr lang="en-US" sz="1050" dirty="0" err="1">
                          <a:latin typeface="+mn-lt"/>
                        </a:rPr>
                        <a:t>Gps</a:t>
                      </a:r>
                      <a:r>
                        <a:rPr lang="en-US" sz="1050" dirty="0">
                          <a:latin typeface="+mn-lt"/>
                        </a:rPr>
                        <a:t> And GSM Integration</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n-lt"/>
                          <a:ea typeface="+mn-ea"/>
                          <a:cs typeface="+mn-cs"/>
                        </a:rPr>
                        <a:t>2025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dirty="0">
                          <a:latin typeface="+mn-lt"/>
                        </a:rPr>
                        <a:t>Deepika, Sneha H R</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A hybrid system that uses a </a:t>
                      </a:r>
                      <a:r>
                        <a:rPr lang="en-US" sz="1000" b="1" dirty="0">
                          <a:latin typeface="+mn-lt"/>
                        </a:rPr>
                        <a:t>resistance-based sensor</a:t>
                      </a:r>
                      <a:r>
                        <a:rPr lang="en-US" sz="1000" dirty="0">
                          <a:latin typeface="+mn-lt"/>
                        </a:rPr>
                        <a:t> for fuel level and a </a:t>
                      </a:r>
                      <a:r>
                        <a:rPr lang="en-US" sz="1000" b="1" dirty="0">
                          <a:latin typeface="+mn-lt"/>
                        </a:rPr>
                        <a:t>voltage sensor</a:t>
                      </a:r>
                      <a:r>
                        <a:rPr lang="en-US" sz="1000" dirty="0">
                          <a:latin typeface="+mn-lt"/>
                        </a:rPr>
                        <a:t> for battery State of Charge. An </a:t>
                      </a:r>
                      <a:r>
                        <a:rPr lang="en-US" sz="1000" b="1" dirty="0">
                          <a:latin typeface="+mn-lt"/>
                        </a:rPr>
                        <a:t>Arduino Uno</a:t>
                      </a:r>
                      <a:r>
                        <a:rPr lang="en-US" sz="1000" dirty="0">
                          <a:latin typeface="+mn-lt"/>
                        </a:rPr>
                        <a:t> records </a:t>
                      </a:r>
                      <a:r>
                        <a:rPr lang="en-US" sz="1000" b="1" dirty="0">
                          <a:latin typeface="+mn-lt"/>
                        </a:rPr>
                        <a:t>GPS coordinates</a:t>
                      </a:r>
                      <a:r>
                        <a:rPr lang="en-US" sz="1000" dirty="0">
                          <a:latin typeface="+mn-lt"/>
                        </a:rPr>
                        <a:t> and sends </a:t>
                      </a:r>
                      <a:r>
                        <a:rPr lang="en-US" sz="1000" b="1" dirty="0">
                          <a:latin typeface="+mn-lt"/>
                        </a:rPr>
                        <a:t>SMS alerts</a:t>
                      </a:r>
                      <a:r>
                        <a:rPr lang="en-US" sz="1000" dirty="0">
                          <a:latin typeface="+mn-lt"/>
                        </a:rPr>
                        <a:t> via a </a:t>
                      </a:r>
                      <a:r>
                        <a:rPr lang="en-US" sz="1000" b="1" dirty="0">
                          <a:latin typeface="+mn-lt"/>
                        </a:rPr>
                        <a:t>GSM module</a:t>
                      </a:r>
                      <a:r>
                        <a:rPr lang="en-US" sz="1000" dirty="0">
                          <a:latin typeface="+mn-lt"/>
                        </a:rPr>
                        <a:t> when anomalies are detected.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380626418"/>
                  </a:ext>
                </a:extLst>
              </a:tr>
              <a:tr h="8705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latin typeface="+mn-lt"/>
                        </a:rPr>
                        <a:t>Fuel Theft Detection System with Automated Calling and Alert Using GSM</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n-lt"/>
                          <a:ea typeface="+mn-ea"/>
                          <a:cs typeface="+mn-cs"/>
                        </a:rPr>
                        <a:t>2024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dirty="0">
                          <a:latin typeface="+mn-lt"/>
                        </a:rPr>
                        <a:t>G Madhusudhana Rao, </a:t>
                      </a:r>
                      <a:r>
                        <a:rPr lang="en-IN" sz="1050" dirty="0" err="1">
                          <a:latin typeface="+mn-lt"/>
                        </a:rPr>
                        <a:t>Kowtharapu</a:t>
                      </a:r>
                      <a:r>
                        <a:rPr lang="en-IN" sz="1050" dirty="0">
                          <a:latin typeface="+mn-lt"/>
                        </a:rPr>
                        <a:t> Kranthi Kumar, </a:t>
                      </a:r>
                      <a:r>
                        <a:rPr lang="en-IN" sz="1050" dirty="0" err="1">
                          <a:latin typeface="+mn-lt"/>
                        </a:rPr>
                        <a:t>Lakkavaram</a:t>
                      </a:r>
                      <a:r>
                        <a:rPr lang="en-IN" sz="1050" dirty="0">
                          <a:latin typeface="+mn-lt"/>
                        </a:rPr>
                        <a:t> </a:t>
                      </a:r>
                      <a:r>
                        <a:rPr lang="en-IN" sz="1050" dirty="0" err="1">
                          <a:latin typeface="+mn-lt"/>
                        </a:rPr>
                        <a:t>Ponnuswami</a:t>
                      </a:r>
                      <a:r>
                        <a:rPr lang="en-IN" sz="1050" dirty="0">
                          <a:latin typeface="+mn-lt"/>
                        </a:rPr>
                        <a:t> Linus, Kummari Sathwik, </a:t>
                      </a:r>
                      <a:r>
                        <a:rPr lang="en-IN" sz="1050" dirty="0" err="1">
                          <a:latin typeface="+mn-lt"/>
                        </a:rPr>
                        <a:t>Karyamsetty</a:t>
                      </a:r>
                      <a:r>
                        <a:rPr lang="en-IN" sz="1050" dirty="0">
                          <a:latin typeface="+mn-lt"/>
                        </a:rPr>
                        <a:t> Vamsi, </a:t>
                      </a:r>
                      <a:r>
                        <a:rPr lang="en-IN" sz="1050" dirty="0" err="1">
                          <a:latin typeface="+mn-lt"/>
                        </a:rPr>
                        <a:t>Jonnakuti</a:t>
                      </a:r>
                      <a:r>
                        <a:rPr lang="en-IN" sz="1050" dirty="0">
                          <a:latin typeface="+mn-lt"/>
                        </a:rPr>
                        <a:t> Pavan Charith</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This system uses specialized </a:t>
                      </a:r>
                      <a:r>
                        <a:rPr lang="en-US" sz="1000" b="1" dirty="0">
                          <a:latin typeface="+mn-lt"/>
                        </a:rPr>
                        <a:t>sensors</a:t>
                      </a:r>
                      <a:r>
                        <a:rPr lang="en-US" sz="1000" dirty="0">
                          <a:latin typeface="+mn-lt"/>
                        </a:rPr>
                        <a:t> to detect a sudden drop in fuel. When theft is detected, the system sends an </a:t>
                      </a:r>
                      <a:r>
                        <a:rPr lang="en-US" sz="1000" b="1" dirty="0">
                          <a:latin typeface="+mn-lt"/>
                        </a:rPr>
                        <a:t>SMS</a:t>
                      </a:r>
                      <a:r>
                        <a:rPr lang="en-US" sz="1000" dirty="0">
                          <a:latin typeface="+mn-lt"/>
                        </a:rPr>
                        <a:t> and makes an </a:t>
                      </a:r>
                      <a:r>
                        <a:rPr lang="en-US" sz="1000" b="1" dirty="0">
                          <a:latin typeface="+mn-lt"/>
                        </a:rPr>
                        <a:t>automated phone call</a:t>
                      </a:r>
                      <a:r>
                        <a:rPr lang="en-US" sz="1000" dirty="0">
                          <a:latin typeface="+mn-lt"/>
                        </a:rPr>
                        <a:t> to the owner and activates an audible </a:t>
                      </a:r>
                      <a:r>
                        <a:rPr lang="en-US" sz="1000" b="1" dirty="0">
                          <a:latin typeface="+mn-lt"/>
                        </a:rPr>
                        <a:t>alarm</a:t>
                      </a:r>
                      <a:r>
                        <a:rPr lang="en-US" sz="1000" dirty="0">
                          <a:latin typeface="+mn-lt"/>
                        </a:rPr>
                        <a:t> as a deterrent.</a:t>
                      </a: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2132482967"/>
                  </a:ext>
                </a:extLst>
              </a:tr>
              <a:tr h="11814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dirty="0">
                          <a:latin typeface="+mn-lt"/>
                        </a:rPr>
                        <a:t>IOT Based Fuel Tank Monitoring System</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n-lt"/>
                          <a:ea typeface="+mn-ea"/>
                          <a:cs typeface="+mn-cs"/>
                        </a:rPr>
                        <a:t>2025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latin typeface="+mn-lt"/>
                        </a:rPr>
                        <a:t>Rashika A Sharma, Aditya Rajiv Khatavkar, Shashwat </a:t>
                      </a:r>
                      <a:r>
                        <a:rPr lang="en-IN" sz="1050" dirty="0" err="1">
                          <a:latin typeface="+mn-lt"/>
                        </a:rPr>
                        <a:t>Jivandhar</a:t>
                      </a:r>
                      <a:r>
                        <a:rPr lang="en-IN" sz="1050" dirty="0">
                          <a:latin typeface="+mn-lt"/>
                        </a:rPr>
                        <a:t> </a:t>
                      </a:r>
                      <a:r>
                        <a:rPr lang="en-IN" sz="1050" dirty="0" err="1">
                          <a:latin typeface="+mn-lt"/>
                        </a:rPr>
                        <a:t>Keste</a:t>
                      </a:r>
                      <a:r>
                        <a:rPr lang="en-IN" sz="1050" dirty="0">
                          <a:latin typeface="+mn-lt"/>
                        </a:rPr>
                        <a:t>, Pravin Ashok </a:t>
                      </a:r>
                      <a:r>
                        <a:rPr lang="en-IN" sz="1050" dirty="0" err="1">
                          <a:latin typeface="+mn-lt"/>
                        </a:rPr>
                        <a:t>Katare</a:t>
                      </a:r>
                      <a:r>
                        <a:rPr lang="en-IN" sz="1050" dirty="0">
                          <a:latin typeface="+mn-lt"/>
                        </a:rPr>
                        <a:t>, Prasad Amar Bhosale</a:t>
                      </a:r>
                    </a:p>
                    <a:p>
                      <a:pPr>
                        <a:buNone/>
                      </a:pPr>
                      <a:endParaRPr lang="en-IN" sz="1050" dirty="0">
                        <a:latin typeface="+mn-lt"/>
                      </a:endParaRPr>
                    </a:p>
                  </a:txBody>
                  <a:tcPr anchor="ctr"/>
                </a:tc>
                <a:tc>
                  <a:txBody>
                    <a:bodyPr/>
                    <a:lstStyle/>
                    <a:p>
                      <a:pPr>
                        <a:buNone/>
                      </a:pPr>
                      <a:r>
                        <a:rPr lang="en-IN" sz="1000" dirty="0">
                          <a:latin typeface="+mn-lt"/>
                        </a:rPr>
                        <a:t>This system uses an </a:t>
                      </a:r>
                      <a:r>
                        <a:rPr lang="en-IN" sz="1000" b="1" dirty="0">
                          <a:latin typeface="+mn-lt"/>
                        </a:rPr>
                        <a:t>ESP32 microcontroller</a:t>
                      </a:r>
                      <a:r>
                        <a:rPr lang="en-IN" sz="1000" dirty="0">
                          <a:latin typeface="+mn-lt"/>
                        </a:rPr>
                        <a:t> with an </a:t>
                      </a:r>
                      <a:r>
                        <a:rPr lang="en-IN" sz="1000" b="1" dirty="0">
                          <a:latin typeface="+mn-lt"/>
                        </a:rPr>
                        <a:t>ultrasonic sensor</a:t>
                      </a:r>
                      <a:r>
                        <a:rPr lang="en-IN" sz="1000" dirty="0">
                          <a:latin typeface="+mn-lt"/>
                        </a:rPr>
                        <a:t> for fuel monitoring. It includes a </a:t>
                      </a:r>
                      <a:r>
                        <a:rPr lang="en-IN" sz="1000" b="1" dirty="0">
                          <a:latin typeface="+mn-lt"/>
                        </a:rPr>
                        <a:t>keypad</a:t>
                      </a:r>
                      <a:r>
                        <a:rPr lang="en-IN" sz="1000" dirty="0">
                          <a:latin typeface="+mn-lt"/>
                        </a:rPr>
                        <a:t> for password entry and a </a:t>
                      </a:r>
                      <a:r>
                        <a:rPr lang="en-IN" sz="1000" b="1" dirty="0">
                          <a:latin typeface="+mn-lt"/>
                        </a:rPr>
                        <a:t>servo motor</a:t>
                      </a:r>
                      <a:r>
                        <a:rPr lang="en-IN" sz="1000" dirty="0">
                          <a:latin typeface="+mn-lt"/>
                        </a:rPr>
                        <a:t> for tank locking. A </a:t>
                      </a:r>
                      <a:r>
                        <a:rPr lang="en-IN" sz="1000" b="1" dirty="0">
                          <a:latin typeface="+mn-lt"/>
                        </a:rPr>
                        <a:t>GSM module</a:t>
                      </a:r>
                      <a:r>
                        <a:rPr lang="en-IN" sz="1000" dirty="0">
                          <a:latin typeface="+mn-lt"/>
                        </a:rPr>
                        <a:t> sends </a:t>
                      </a:r>
                      <a:r>
                        <a:rPr lang="en-IN" sz="1000" b="1" dirty="0">
                          <a:latin typeface="+mn-lt"/>
                        </a:rPr>
                        <a:t>SMS alerts</a:t>
                      </a:r>
                      <a:r>
                        <a:rPr lang="en-IN" sz="1000" dirty="0">
                          <a:latin typeface="+mn-lt"/>
                        </a:rPr>
                        <a:t> for unauthorized attempts, and a </a:t>
                      </a:r>
                      <a:r>
                        <a:rPr lang="en-IN" sz="1000" b="1" dirty="0">
                          <a:latin typeface="+mn-lt"/>
                        </a:rPr>
                        <a:t>buzzer</a:t>
                      </a:r>
                      <a:r>
                        <a:rPr lang="en-IN" sz="1000" dirty="0">
                          <a:latin typeface="+mn-lt"/>
                        </a:rPr>
                        <a:t> is triggered after three incorrect password entries.</a:t>
                      </a:r>
                    </a:p>
                  </a:txBody>
                  <a:tcPr anchor="ctr"/>
                </a:tc>
                <a:extLst>
                  <a:ext uri="{0D108BD9-81ED-4DB2-BD59-A6C34878D82A}">
                    <a16:rowId xmlns:a16="http://schemas.microsoft.com/office/drawing/2014/main" val="3936251906"/>
                  </a:ext>
                </a:extLst>
              </a:tr>
              <a:tr h="10260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latin typeface="+mn-lt"/>
                        </a:rPr>
                        <a:t>Detecting Fuel Theft with Arduino</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n-lt"/>
                          <a:ea typeface="+mn-ea"/>
                          <a:cs typeface="+mn-cs"/>
                        </a:rPr>
                        <a:t>2025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dirty="0">
                          <a:latin typeface="+mn-lt"/>
                        </a:rPr>
                        <a:t>Adhithya Madhavan, Santhosh Sivan J, </a:t>
                      </a:r>
                      <a:r>
                        <a:rPr lang="en-IN" sz="1050" dirty="0" err="1">
                          <a:latin typeface="+mn-lt"/>
                        </a:rPr>
                        <a:t>Ayyarraja</a:t>
                      </a:r>
                      <a:r>
                        <a:rPr lang="en-IN" sz="1050" dirty="0">
                          <a:latin typeface="+mn-lt"/>
                        </a:rPr>
                        <a:t>, Mrs. Sheela A</a:t>
                      </a:r>
                    </a:p>
                    <a:p>
                      <a:pPr>
                        <a:buNone/>
                      </a:pPr>
                      <a:endParaRPr lang="en-IN" sz="1050" dirty="0">
                        <a:latin typeface="+mn-lt"/>
                      </a:endParaRPr>
                    </a:p>
                  </a:txBody>
                  <a:tcPr anchor="ctr"/>
                </a:tc>
                <a:tc>
                  <a:txBody>
                    <a:bodyPr/>
                    <a:lstStyle/>
                    <a:p>
                      <a:pPr>
                        <a:buNone/>
                      </a:pPr>
                      <a:r>
                        <a:rPr lang="en-US" sz="1000" dirty="0">
                          <a:latin typeface="+mn-lt"/>
                        </a:rPr>
                        <a:t>An </a:t>
                      </a:r>
                      <a:r>
                        <a:rPr lang="en-US" sz="1000" b="1" dirty="0">
                          <a:latin typeface="+mn-lt"/>
                        </a:rPr>
                        <a:t>Arduino-based</a:t>
                      </a:r>
                      <a:r>
                        <a:rPr lang="en-US" sz="1000" dirty="0">
                          <a:latin typeface="+mn-lt"/>
                        </a:rPr>
                        <a:t> system with a </a:t>
                      </a:r>
                      <a:r>
                        <a:rPr lang="en-US" sz="1000" b="1" dirty="0">
                          <a:latin typeface="+mn-lt"/>
                        </a:rPr>
                        <a:t>submersible level sensor</a:t>
                      </a:r>
                      <a:r>
                        <a:rPr lang="en-US" sz="1000" dirty="0">
                          <a:latin typeface="+mn-lt"/>
                        </a:rPr>
                        <a:t> that detects a rapid decrease in fuel when the ignition is off. It uses a </a:t>
                      </a:r>
                      <a:r>
                        <a:rPr lang="en-US" sz="1000" b="1" dirty="0">
                          <a:latin typeface="+mn-lt"/>
                        </a:rPr>
                        <a:t>GSM module</a:t>
                      </a:r>
                      <a:r>
                        <a:rPr lang="en-US" sz="1000" dirty="0">
                          <a:latin typeface="+mn-lt"/>
                        </a:rPr>
                        <a:t> to send an </a:t>
                      </a:r>
                      <a:r>
                        <a:rPr lang="en-US" sz="1000" b="1" dirty="0">
                          <a:latin typeface="+mn-lt"/>
                        </a:rPr>
                        <a:t>SMS alert</a:t>
                      </a:r>
                      <a:r>
                        <a:rPr lang="en-US" sz="1000" dirty="0">
                          <a:latin typeface="+mn-lt"/>
                        </a:rPr>
                        <a:t> and a </a:t>
                      </a:r>
                      <a:r>
                        <a:rPr lang="en-US" sz="1000" b="1" dirty="0">
                          <a:latin typeface="+mn-lt"/>
                        </a:rPr>
                        <a:t>buzzer</a:t>
                      </a:r>
                      <a:r>
                        <a:rPr lang="en-US" sz="1000" dirty="0">
                          <a:latin typeface="+mn-lt"/>
                        </a:rPr>
                        <a:t> for an audible warning. A </a:t>
                      </a:r>
                      <a:r>
                        <a:rPr lang="en-US" sz="1000" b="1" dirty="0">
                          <a:latin typeface="+mn-lt"/>
                        </a:rPr>
                        <a:t>clip sensor</a:t>
                      </a:r>
                      <a:r>
                        <a:rPr lang="en-US" sz="1000" dirty="0">
                          <a:latin typeface="+mn-lt"/>
                        </a:rPr>
                        <a:t> on the fuel cap helps to prevent false alerts during refueling.</a:t>
                      </a:r>
                      <a:endParaRPr lang="en-IN" sz="1000" dirty="0">
                        <a:latin typeface="+mn-lt"/>
                      </a:endParaRP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113546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11170920" cy="1494596"/>
          </a:xfrm>
        </p:spPr>
        <p:txBody>
          <a:bodyPr/>
          <a:lstStyle/>
          <a:p>
            <a:r>
              <a:rPr lang="en-US" dirty="0">
                <a:latin typeface="Bookman Old Style" panose="02050604050505020204" pitchFamily="18" charset="0"/>
              </a:rPr>
              <a:t>SUMMARY OF LITERATURE REVIEW  </a:t>
            </a:r>
            <a:endParaRPr lang="en-US" dirty="0"/>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302042"/>
            <a:ext cx="10622280" cy="3971953"/>
          </a:xfrm>
        </p:spPr>
        <p:txBody>
          <a:bodyPr>
            <a:noAutofit/>
          </a:bodyPr>
          <a:lstStyle/>
          <a:p>
            <a:pPr marL="342900" indent="-342900" defTabSz="685800">
              <a:lnSpc>
                <a:spcPct val="100000"/>
              </a:lnSpc>
              <a:buFont typeface="Arial" panose="020B0604020202020204" pitchFamily="34" charset="0"/>
              <a:buChar char="•"/>
              <a:defRPr/>
            </a:pPr>
            <a:r>
              <a:rPr lang="en-US" sz="1600" b="1" dirty="0"/>
              <a:t>Traditional methods are flawed in their design.</a:t>
            </a:r>
            <a:r>
              <a:rPr lang="en-US" sz="1600" dirty="0"/>
              <a:t> They rely on physical locks or simple sensors that are easily overcome and only detect theft after it has already happened.</a:t>
            </a:r>
          </a:p>
          <a:p>
            <a:pPr marL="342900" indent="-342900" defTabSz="685800">
              <a:lnSpc>
                <a:spcPct val="100000"/>
              </a:lnSpc>
              <a:buFont typeface="Arial" panose="020B0604020202020204" pitchFamily="34" charset="0"/>
              <a:buChar char="•"/>
              <a:defRPr/>
            </a:pPr>
            <a:r>
              <a:rPr lang="en-US" sz="1600" b="1" dirty="0"/>
              <a:t>Fixed-threshold systems are not effective.</a:t>
            </a:r>
            <a:r>
              <a:rPr lang="en-US" sz="1600" dirty="0"/>
              <a:t> These systems frequently produce false alarms because they cannot differentiate between normal fuel usage and actual theft.</a:t>
            </a:r>
          </a:p>
          <a:p>
            <a:pPr marL="342900" indent="-342900" defTabSz="685800">
              <a:lnSpc>
                <a:spcPct val="100000"/>
              </a:lnSpc>
              <a:buFont typeface="Arial" panose="020B0604020202020204" pitchFamily="34" charset="0"/>
              <a:buChar char="•"/>
              <a:defRPr/>
            </a:pPr>
            <a:r>
              <a:rPr lang="en-US" sz="1600" b="1" dirty="0"/>
              <a:t>Machine learning improves detection accuracy.</a:t>
            </a:r>
            <a:r>
              <a:rPr lang="en-US" sz="1600" dirty="0"/>
              <a:t> Advanced models are used to learn normal fuel consumption patterns, which allows for more precise anomaly detection and reduces false alarms.</a:t>
            </a:r>
          </a:p>
          <a:p>
            <a:pPr marL="342900" indent="-342900" defTabSz="685800">
              <a:lnSpc>
                <a:spcPct val="100000"/>
              </a:lnSpc>
              <a:buFont typeface="Arial" panose="020B0604020202020204" pitchFamily="34" charset="0"/>
              <a:buChar char="•"/>
              <a:defRPr/>
            </a:pPr>
            <a:r>
              <a:rPr lang="en-US" sz="1600" b="1" dirty="0"/>
              <a:t>Federated learning is the new, secure approach.</a:t>
            </a:r>
            <a:r>
              <a:rPr lang="en-US" sz="1600" dirty="0"/>
              <a:t> This framework enables a collaborative model to be trained across multiple vehicles while protecting individual data privacy.</a:t>
            </a:r>
          </a:p>
          <a:p>
            <a:pPr marL="342900" indent="-342900" defTabSz="685800">
              <a:lnSpc>
                <a:spcPct val="100000"/>
              </a:lnSpc>
              <a:buFont typeface="Arial" panose="020B0604020202020204" pitchFamily="34" charset="0"/>
              <a:buChar char="•"/>
              <a:defRPr/>
            </a:pPr>
            <a:r>
              <a:rPr lang="en-US" sz="1600" b="1" dirty="0"/>
              <a:t>The proposed project is highly innovative.</a:t>
            </a:r>
            <a:r>
              <a:rPr lang="en-US" sz="1600" dirty="0"/>
              <a:t> It uniquely combines IoT sensors for real-time monitoring with a federated learning framework for a secure, adaptive, and accurate theft detection system.</a:t>
            </a:r>
            <a:endParaRPr lang="en-US" sz="1600" dirty="0">
              <a:solidFill>
                <a:srgbClr val="000000"/>
              </a:solidFill>
              <a:ea typeface="Aileron"/>
              <a:cs typeface="Aileron"/>
              <a:sym typeface="Aileron"/>
            </a:endParaRPr>
          </a:p>
        </p:txBody>
      </p:sp>
    </p:spTree>
    <p:extLst>
      <p:ext uri="{BB962C8B-B14F-4D97-AF65-F5344CB8AC3E}">
        <p14:creationId xmlns:p14="http://schemas.microsoft.com/office/powerpoint/2010/main" val="888484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AD9C-2B6E-0EB5-F8DB-D27EE96B2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F7BD3-4106-A769-DBD7-6129438896DB}"/>
              </a:ext>
            </a:extLst>
          </p:cNvPr>
          <p:cNvSpPr>
            <a:spLocks noGrp="1"/>
          </p:cNvSpPr>
          <p:nvPr>
            <p:ph type="title"/>
          </p:nvPr>
        </p:nvSpPr>
        <p:spPr>
          <a:xfrm>
            <a:off x="594360" y="278129"/>
            <a:ext cx="9778365" cy="1494596"/>
          </a:xfrm>
        </p:spPr>
        <p:txBody>
          <a:bodyPr/>
          <a:lstStyle/>
          <a:p>
            <a:r>
              <a:rPr lang="en-US" dirty="0">
                <a:latin typeface="Bookman Old Style" panose="02050604050505020204" pitchFamily="18" charset="0"/>
              </a:rPr>
              <a:t>EXISTING SYSTEM </a:t>
            </a:r>
            <a:endParaRPr lang="en-US" dirty="0"/>
          </a:p>
        </p:txBody>
      </p:sp>
      <p:sp>
        <p:nvSpPr>
          <p:cNvPr id="3" name="Content Placeholder 2">
            <a:extLst>
              <a:ext uri="{FF2B5EF4-FFF2-40B4-BE49-F238E27FC236}">
                <a16:creationId xmlns:a16="http://schemas.microsoft.com/office/drawing/2014/main" id="{85A2EBB3-9F16-85D2-27B4-A6F1167D7DBF}"/>
              </a:ext>
            </a:extLst>
          </p:cNvPr>
          <p:cNvSpPr>
            <a:spLocks noGrp="1"/>
          </p:cNvSpPr>
          <p:nvPr>
            <p:ph sz="quarter" idx="15"/>
          </p:nvPr>
        </p:nvSpPr>
        <p:spPr>
          <a:xfrm>
            <a:off x="594360" y="2269958"/>
            <a:ext cx="10622280" cy="4004037"/>
          </a:xfrm>
        </p:spPr>
        <p:txBody>
          <a:bodyPr>
            <a:normAutofit fontScale="77500" lnSpcReduction="20000"/>
          </a:bodyPr>
          <a:lstStyle/>
          <a:p>
            <a:pPr marL="342900" indent="-342900">
              <a:buFont typeface="Arial" panose="020B0604020202020204" pitchFamily="34" charset="0"/>
              <a:buChar char="•"/>
            </a:pPr>
            <a:r>
              <a:rPr lang="en-US" b="1" dirty="0"/>
              <a:t>Fixed-Threshold Detection</a:t>
            </a:r>
            <a:r>
              <a:rPr lang="en-US" dirty="0"/>
              <a:t> : Many current systems rely on fixed thresholds to identify fuel theft. They trigger an alarm when a fuel level drops below a predefined point without considering normal consumption patterns or contextual data. This approach is often flawed because it can lead to false alarms and may not be effective against evolving theft techniques.</a:t>
            </a:r>
          </a:p>
          <a:p>
            <a:pPr marL="342900" indent="-342900">
              <a:buFont typeface="Arial" panose="020B0604020202020204" pitchFamily="34" charset="0"/>
              <a:buChar char="•"/>
            </a:pPr>
            <a:r>
              <a:rPr lang="en-US" b="1" dirty="0"/>
              <a:t>Reliance on Hardware for Detection</a:t>
            </a:r>
            <a:r>
              <a:rPr lang="en-US" dirty="0"/>
              <a:t> : The majority of existing systems are heavily dependent on physical hardware components. These systems typically use an Arduino or similar microcontroller along with sensors like ultrasonic or capacitive to measure fuel levels. They often integrate a GSM module to send SMS alerts and a buzzer for a local audible alarm</a:t>
            </a:r>
          </a:p>
          <a:p>
            <a:pPr marL="342900" indent="-342900">
              <a:buFont typeface="Arial" panose="020B0604020202020204" pitchFamily="34" charset="0"/>
              <a:buChar char="•"/>
            </a:pPr>
            <a:r>
              <a:rPr lang="en-US" b="1" dirty="0"/>
              <a:t>Real-time Alerts</a:t>
            </a:r>
            <a:r>
              <a:rPr lang="en-US" dirty="0"/>
              <a:t> : A common feature is the ability to provide real-time alerts to the vehicle owner. When a theft event is detected, systems use communication modules like GSM to send instant notifications, such as SMS messages or automated phone calls.</a:t>
            </a:r>
          </a:p>
          <a:p>
            <a:pPr marL="342900" indent="-342900">
              <a:buFont typeface="Arial" panose="020B0604020202020204" pitchFamily="34" charset="0"/>
              <a:buChar char="•"/>
            </a:pPr>
            <a:r>
              <a:rPr lang="en-US" b="1" dirty="0"/>
              <a:t>Lack of Privacy-Preserving Features</a:t>
            </a:r>
            <a:r>
              <a:rPr lang="en-US" dirty="0"/>
              <a:t> : Traditional systems often send raw data, including vehicle location and fuel status, to a central server or mobile application. This creates a security risk and compromises user privacy, as sensitive information could be exposed or compromised if the central system is breached.</a:t>
            </a:r>
          </a:p>
          <a:p>
            <a:pPr marL="342900" indent="-342900">
              <a:buFont typeface="Arial" panose="020B0604020202020204" pitchFamily="34" charset="0"/>
              <a:buChar char="•"/>
            </a:pPr>
            <a:r>
              <a:rPr lang="en-US" b="1" dirty="0"/>
              <a:t>Limited Adaptive Capability</a:t>
            </a:r>
            <a:r>
              <a:rPr lang="en-US" dirty="0"/>
              <a:t> : Existing systems are generally not designed to learn or adapt to new conditions or consumption patterns. They operate based on predefined rules, making them less effective at identifying new theft methods or differentiating between normal fuel use and an actual theft incident.</a:t>
            </a:r>
            <a:endParaRPr lang="en-US" dirty="0">
              <a:latin typeface="Bookman Old Style" panose="02050604050505020204" pitchFamily="18" charset="0"/>
            </a:endParaRPr>
          </a:p>
        </p:txBody>
      </p:sp>
    </p:spTree>
    <p:extLst>
      <p:ext uri="{BB962C8B-B14F-4D97-AF65-F5344CB8AC3E}">
        <p14:creationId xmlns:p14="http://schemas.microsoft.com/office/powerpoint/2010/main" val="447212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576C-80A7-5E3A-5C2C-22184A285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126CB-FE7F-7DD6-2CC8-5D0E37A8DD8E}"/>
              </a:ext>
            </a:extLst>
          </p:cNvPr>
          <p:cNvSpPr>
            <a:spLocks noGrp="1"/>
          </p:cNvSpPr>
          <p:nvPr>
            <p:ph type="title"/>
          </p:nvPr>
        </p:nvSpPr>
        <p:spPr>
          <a:xfrm>
            <a:off x="594360" y="278129"/>
            <a:ext cx="10825912" cy="1494596"/>
          </a:xfrm>
        </p:spPr>
        <p:txBody>
          <a:bodyPr/>
          <a:lstStyle/>
          <a:p>
            <a:pPr marL="342900" indent="-342900">
              <a:buFont typeface="Arial" panose="020B0604020202020204" pitchFamily="34" charset="0"/>
              <a:buChar char="•"/>
            </a:pPr>
            <a:r>
              <a:rPr lang="en-US" dirty="0">
                <a:latin typeface="Bookman Old Style" panose="02050604050505020204" pitchFamily="18" charset="0"/>
              </a:rPr>
              <a:t>ADVANTAGES OF EXISTING SYSTEM</a:t>
            </a:r>
          </a:p>
        </p:txBody>
      </p:sp>
      <p:sp>
        <p:nvSpPr>
          <p:cNvPr id="3" name="Content Placeholder 2">
            <a:extLst>
              <a:ext uri="{FF2B5EF4-FFF2-40B4-BE49-F238E27FC236}">
                <a16:creationId xmlns:a16="http://schemas.microsoft.com/office/drawing/2014/main" id="{011323E4-4103-8261-5DEC-0FAC4455B1FD}"/>
              </a:ext>
            </a:extLst>
          </p:cNvPr>
          <p:cNvSpPr>
            <a:spLocks noGrp="1"/>
          </p:cNvSpPr>
          <p:nvPr>
            <p:ph sz="quarter" idx="15"/>
          </p:nvPr>
        </p:nvSpPr>
        <p:spPr>
          <a:xfrm>
            <a:off x="594360" y="2350168"/>
            <a:ext cx="10622280" cy="3923827"/>
          </a:xfrm>
        </p:spPr>
        <p:txBody>
          <a:bodyPr>
            <a:normAutofit fontScale="92500" lnSpcReduction="20000"/>
          </a:bodyPr>
          <a:lstStyle/>
          <a:p>
            <a:pPr marL="342900" indent="-342900">
              <a:buFont typeface="Arial" panose="020B0604020202020204" pitchFamily="34" charset="0"/>
              <a:buChar char="•"/>
            </a:pPr>
            <a:r>
              <a:rPr lang="en-US" b="1" dirty="0"/>
              <a:t>Improved Accuracy</a:t>
            </a:r>
            <a:r>
              <a:rPr lang="en-US" dirty="0"/>
              <a:t> : By using machine learning to analyze consumption patterns instead of fixed thresholds, your system can significantly reduce false alarms and more accurately detect actual theft.</a:t>
            </a:r>
          </a:p>
          <a:p>
            <a:pPr marL="342900" indent="-342900">
              <a:buFont typeface="Arial" panose="020B0604020202020204" pitchFamily="34" charset="0"/>
              <a:buChar char="•"/>
            </a:pPr>
            <a:r>
              <a:rPr lang="en-US" b="1" dirty="0"/>
              <a:t>Adaptive to New Threats</a:t>
            </a:r>
            <a:r>
              <a:rPr lang="en-US" dirty="0"/>
              <a:t> : The system's ability to learn from consumption patterns allows it to adapt and identify new or evolving theft techniques that might not be caught by traditional, rule-based systems.</a:t>
            </a:r>
          </a:p>
          <a:p>
            <a:pPr marL="342900" indent="-342900">
              <a:buFont typeface="Arial" panose="020B0604020202020204" pitchFamily="34" charset="0"/>
              <a:buChar char="•"/>
            </a:pPr>
            <a:r>
              <a:rPr lang="en-US" b="1" dirty="0"/>
              <a:t>Enhanced Data Privacy</a:t>
            </a:r>
            <a:r>
              <a:rPr lang="en-US" dirty="0"/>
              <a:t> : The </a:t>
            </a:r>
            <a:r>
              <a:rPr lang="en-US" b="1" dirty="0"/>
              <a:t>federated learning</a:t>
            </a:r>
            <a:r>
              <a:rPr lang="en-US" dirty="0"/>
              <a:t> framework ensures that sensitive, raw data remains on the vehicle. This allows the model to learn from a large fleet without centralizing data, which is a major privacy advantage.</a:t>
            </a:r>
          </a:p>
          <a:p>
            <a:pPr marL="342900" indent="-342900">
              <a:buFont typeface="Arial" panose="020B0604020202020204" pitchFamily="34" charset="0"/>
              <a:buChar char="•"/>
            </a:pPr>
            <a:r>
              <a:rPr lang="en-US" b="1" dirty="0"/>
              <a:t>Collaborative Learning</a:t>
            </a:r>
            <a:r>
              <a:rPr lang="en-US" dirty="0"/>
              <a:t> : By learning collectively from an entire fleet, the model can improve its detection capabilities more rapidly and effectively than a standalone system would.</a:t>
            </a:r>
          </a:p>
          <a:p>
            <a:pPr marL="342900" indent="-342900">
              <a:buFont typeface="Arial" panose="020B0604020202020204" pitchFamily="34" charset="0"/>
              <a:buChar char="•"/>
            </a:pPr>
            <a:r>
              <a:rPr lang="en-US" b="1" dirty="0"/>
              <a:t>Reduced Centralization Risk</a:t>
            </a:r>
            <a:r>
              <a:rPr lang="en-US" dirty="0"/>
              <a:t> : Since raw data isn't sent to a central server, the system mitigates the risk of a single point of failure or data breach that could expose the information of an entire fleet.</a:t>
            </a:r>
            <a:endParaRPr lang="en-US" dirty="0">
              <a:latin typeface="Bookman Old Style" panose="02050604050505020204" pitchFamily="18" charset="0"/>
            </a:endParaRPr>
          </a:p>
        </p:txBody>
      </p:sp>
    </p:spTree>
    <p:extLst>
      <p:ext uri="{BB962C8B-B14F-4D97-AF65-F5344CB8AC3E}">
        <p14:creationId xmlns:p14="http://schemas.microsoft.com/office/powerpoint/2010/main" val="1234430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2386-BFD4-C2C3-A732-59210BE26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14864-A3A8-7922-B74A-DA280DFCCDF6}"/>
              </a:ext>
            </a:extLst>
          </p:cNvPr>
          <p:cNvSpPr>
            <a:spLocks noGrp="1"/>
          </p:cNvSpPr>
          <p:nvPr>
            <p:ph type="title"/>
          </p:nvPr>
        </p:nvSpPr>
        <p:spPr>
          <a:xfrm>
            <a:off x="594360" y="278129"/>
            <a:ext cx="10825912" cy="1494596"/>
          </a:xfrm>
        </p:spPr>
        <p:txBody>
          <a:bodyPr/>
          <a:lstStyle/>
          <a:p>
            <a:pPr marL="342900" indent="-342900">
              <a:buFont typeface="Arial" panose="020B0604020202020204" pitchFamily="34" charset="0"/>
              <a:buChar char="•"/>
            </a:pPr>
            <a:r>
              <a:rPr lang="en-US" dirty="0">
                <a:latin typeface="Bookman Old Style" panose="02050604050505020204" pitchFamily="18" charset="0"/>
              </a:rPr>
              <a:t>DISADVANTAGES OF EXISTING SYSTEM</a:t>
            </a:r>
          </a:p>
        </p:txBody>
      </p:sp>
      <p:sp>
        <p:nvSpPr>
          <p:cNvPr id="3" name="Content Placeholder 2">
            <a:extLst>
              <a:ext uri="{FF2B5EF4-FFF2-40B4-BE49-F238E27FC236}">
                <a16:creationId xmlns:a16="http://schemas.microsoft.com/office/drawing/2014/main" id="{2FA73E91-1676-333D-BB62-454BD92E9709}"/>
              </a:ext>
            </a:extLst>
          </p:cNvPr>
          <p:cNvSpPr>
            <a:spLocks noGrp="1"/>
          </p:cNvSpPr>
          <p:nvPr>
            <p:ph sz="quarter" idx="15"/>
          </p:nvPr>
        </p:nvSpPr>
        <p:spPr>
          <a:xfrm>
            <a:off x="594360" y="2221832"/>
            <a:ext cx="10622280" cy="4052163"/>
          </a:xfrm>
        </p:spPr>
        <p:txBody>
          <a:bodyPr>
            <a:normAutofit fontScale="92500" lnSpcReduction="20000"/>
          </a:bodyPr>
          <a:lstStyle/>
          <a:p>
            <a:pPr marL="342900" indent="-342900">
              <a:buFont typeface="Arial" panose="020B0604020202020204" pitchFamily="34" charset="0"/>
              <a:buChar char="•"/>
            </a:pPr>
            <a:r>
              <a:rPr lang="en-US" b="1" dirty="0"/>
              <a:t>Complexity</a:t>
            </a:r>
            <a:r>
              <a:rPr lang="en-US" dirty="0"/>
              <a:t> : The integration of </a:t>
            </a:r>
            <a:r>
              <a:rPr lang="en-US" b="1" dirty="0"/>
              <a:t>federated machine learning</a:t>
            </a:r>
            <a:r>
              <a:rPr lang="en-US" dirty="0"/>
              <a:t> adds a layer of complexity to the system, requiring sophisticated software and hardware compared to simpler models that use basic sensors and a </a:t>
            </a:r>
            <a:r>
              <a:rPr lang="en-US" b="1" dirty="0"/>
              <a:t>GSM module</a:t>
            </a:r>
            <a:r>
              <a:rPr lang="en-US" dirty="0"/>
              <a:t>.</a:t>
            </a:r>
          </a:p>
          <a:p>
            <a:pPr marL="342900" indent="-342900">
              <a:buFont typeface="Arial" panose="020B0604020202020204" pitchFamily="34" charset="0"/>
              <a:buChar char="•"/>
            </a:pPr>
            <a:r>
              <a:rPr lang="en-US" b="1" dirty="0"/>
              <a:t>Initial Development Cost</a:t>
            </a:r>
            <a:r>
              <a:rPr lang="en-US" dirty="0"/>
              <a:t> : The initial development and implementation of a </a:t>
            </a:r>
            <a:r>
              <a:rPr lang="en-US" b="1" dirty="0"/>
              <a:t>federated learning</a:t>
            </a:r>
            <a:r>
              <a:rPr lang="en-US" dirty="0"/>
              <a:t> framework can be more expensive than creating a basic alert system due to the need for advanced algorithms like </a:t>
            </a:r>
            <a:r>
              <a:rPr lang="en-US" b="1" dirty="0"/>
              <a:t>LSTM Autoencoder</a:t>
            </a:r>
            <a:r>
              <a:rPr lang="en-US" dirty="0"/>
              <a:t> and </a:t>
            </a:r>
            <a:r>
              <a:rPr lang="en-US" b="1" dirty="0"/>
              <a:t>Isolation Forest</a:t>
            </a:r>
            <a:r>
              <a:rPr lang="en-US" dirty="0"/>
              <a:t>.</a:t>
            </a:r>
          </a:p>
          <a:p>
            <a:pPr marL="342900" indent="-342900">
              <a:buFont typeface="Arial" panose="020B0604020202020204" pitchFamily="34" charset="0"/>
              <a:buChar char="•"/>
            </a:pPr>
            <a:r>
              <a:rPr lang="en-US" b="1" dirty="0"/>
              <a:t>Dependence on Connectivity</a:t>
            </a:r>
            <a:r>
              <a:rPr lang="en-US" dirty="0"/>
              <a:t> : While some existing systems can operate without constant internet, your system's collaborative learning aspect depends on a network connection to share model updates between devices and the central server.</a:t>
            </a:r>
          </a:p>
          <a:p>
            <a:pPr marL="342900" indent="-342900">
              <a:buFont typeface="Arial" panose="020B0604020202020204" pitchFamily="34" charset="0"/>
              <a:buChar char="•"/>
            </a:pPr>
            <a:r>
              <a:rPr lang="en-US" b="1" dirty="0"/>
              <a:t>Maintenance and Expertise</a:t>
            </a:r>
            <a:r>
              <a:rPr lang="en-US" dirty="0"/>
              <a:t> : Implementing and troubleshooting a federated learning system requires a high level of technical expertise in both IoT and machine learning, making it less accessible for a typical user or a small business.</a:t>
            </a:r>
          </a:p>
          <a:p>
            <a:pPr marL="342900" indent="-342900">
              <a:buFont typeface="Arial" panose="020B0604020202020204" pitchFamily="34" charset="0"/>
              <a:buChar char="•"/>
            </a:pPr>
            <a:r>
              <a:rPr lang="en-US" b="1" dirty="0"/>
              <a:t>Potential for Performance Overhead</a:t>
            </a:r>
            <a:r>
              <a:rPr lang="en-US" dirty="0"/>
              <a:t> : Training and updating machine learning models on individual devices could require significant processing power and energy, which might be a challenge for small, resource-constrained microcontrollers.</a:t>
            </a:r>
            <a:endParaRPr lang="en-US" dirty="0">
              <a:latin typeface="Bookman Old Style" panose="02050604050505020204" pitchFamily="18" charset="0"/>
            </a:endParaRPr>
          </a:p>
        </p:txBody>
      </p:sp>
    </p:spTree>
    <p:extLst>
      <p:ext uri="{BB962C8B-B14F-4D97-AF65-F5344CB8AC3E}">
        <p14:creationId xmlns:p14="http://schemas.microsoft.com/office/powerpoint/2010/main" val="1144492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AE15A-DAA8-2A3D-3C30-C64BA0BC7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44ACC-9828-2408-DFE3-522F1D09FA77}"/>
              </a:ext>
            </a:extLst>
          </p:cNvPr>
          <p:cNvSpPr>
            <a:spLocks noGrp="1"/>
          </p:cNvSpPr>
          <p:nvPr>
            <p:ph type="title"/>
          </p:nvPr>
        </p:nvSpPr>
        <p:spPr>
          <a:xfrm>
            <a:off x="594360" y="278129"/>
            <a:ext cx="9778365" cy="1494596"/>
          </a:xfrm>
        </p:spPr>
        <p:txBody>
          <a:bodyPr/>
          <a:lstStyle/>
          <a:p>
            <a:r>
              <a:rPr lang="en-US" dirty="0">
                <a:latin typeface="Bookman Old Style" panose="02050604050505020204" pitchFamily="18" charset="0"/>
              </a:rPr>
              <a:t>PROPOSED SYSTEM </a:t>
            </a:r>
            <a:endParaRPr lang="en-US" dirty="0"/>
          </a:p>
        </p:txBody>
      </p:sp>
      <p:sp>
        <p:nvSpPr>
          <p:cNvPr id="3" name="Content Placeholder 2">
            <a:extLst>
              <a:ext uri="{FF2B5EF4-FFF2-40B4-BE49-F238E27FC236}">
                <a16:creationId xmlns:a16="http://schemas.microsoft.com/office/drawing/2014/main" id="{5FAB399D-085D-58B5-61EA-BC308C9F811D}"/>
              </a:ext>
            </a:extLst>
          </p:cNvPr>
          <p:cNvSpPr>
            <a:spLocks noGrp="1"/>
          </p:cNvSpPr>
          <p:nvPr>
            <p:ph sz="quarter" idx="15"/>
          </p:nvPr>
        </p:nvSpPr>
        <p:spPr>
          <a:xfrm>
            <a:off x="594360" y="2676525"/>
            <a:ext cx="10622280" cy="3597470"/>
          </a:xfrm>
        </p:spPr>
        <p:txBody>
          <a:bodyPr>
            <a:noAutofit/>
          </a:bodyPr>
          <a:lstStyle/>
          <a:p>
            <a:pPr marL="342900" indent="-342900" defTabSz="685800">
              <a:lnSpc>
                <a:spcPct val="100000"/>
              </a:lnSpc>
              <a:buFont typeface="Wingdings" panose="05000000000000000000" pitchFamily="2" charset="2"/>
              <a:buChar char="q"/>
              <a:defRPr/>
            </a:pPr>
            <a:r>
              <a:rPr lang="en-US" sz="1600" b="1" dirty="0"/>
              <a:t>Hybrid System Architecture:</a:t>
            </a:r>
            <a:r>
              <a:rPr lang="en-US" sz="1600" dirty="0"/>
              <a:t> The system is designed as a hybrid solution that combines two key technologies. It integrates an IoT-based fuel monitoring system with a federated machine learning framework. </a:t>
            </a:r>
            <a:r>
              <a:rPr lang="en-US" sz="1600" b="1" dirty="0"/>
              <a:t>(Federated Machine Learning , Embedded – C)</a:t>
            </a:r>
          </a:p>
          <a:p>
            <a:pPr marL="342900" indent="-342900" defTabSz="685800">
              <a:lnSpc>
                <a:spcPct val="100000"/>
              </a:lnSpc>
              <a:buFont typeface="Wingdings" panose="05000000000000000000" pitchFamily="2" charset="2"/>
              <a:buChar char="q"/>
              <a:defRPr/>
            </a:pPr>
            <a:r>
              <a:rPr lang="en-US" sz="1600" b="1" dirty="0"/>
              <a:t>IoT for Real-time Monitoring:</a:t>
            </a:r>
            <a:r>
              <a:rPr lang="en-US" sz="1600" dirty="0"/>
              <a:t> The system will use hardware such as an Arduino, an ultrasonic sensor. These components will enable continuous, real-time monitoring of a vehicle's fuel level and consumption patterns.</a:t>
            </a:r>
          </a:p>
          <a:p>
            <a:pPr marL="342900" indent="-342900" defTabSz="685800">
              <a:lnSpc>
                <a:spcPct val="100000"/>
              </a:lnSpc>
              <a:buFont typeface="Wingdings" panose="05000000000000000000" pitchFamily="2" charset="2"/>
              <a:buChar char="q"/>
              <a:defRPr/>
            </a:pPr>
            <a:r>
              <a:rPr lang="en-US" sz="1600" b="1" dirty="0"/>
              <a:t>Federated Learning for Anomaly Detection:</a:t>
            </a:r>
            <a:r>
              <a:rPr lang="en-US" sz="1600" dirty="0"/>
              <a:t> The core of the system's intelligence lies in its federated learning model. This model will learn to detect fuel theft as an anomaly by analyzing patterns from a fleet of vehicles without sending private data to a central server. (TensorFlow)</a:t>
            </a:r>
          </a:p>
          <a:p>
            <a:pPr marL="342900" indent="-342900" defTabSz="685800">
              <a:lnSpc>
                <a:spcPct val="100000"/>
              </a:lnSpc>
              <a:buFont typeface="Wingdings" panose="05000000000000000000" pitchFamily="2" charset="2"/>
              <a:buChar char="q"/>
              <a:defRPr/>
            </a:pPr>
            <a:r>
              <a:rPr lang="en-US" sz="1600" b="1" dirty="0"/>
              <a:t>Privacy and Security Focus:</a:t>
            </a:r>
            <a:r>
              <a:rPr lang="en-US" sz="1600" dirty="0"/>
              <a:t> The system's federated learning framework ensures that raw data remains on the vehicle. This approach prioritizes data privacy and security by preventing sensitive information from being exposed or compromised.</a:t>
            </a:r>
            <a:endParaRPr lang="en-US" sz="1600" dirty="0">
              <a:solidFill>
                <a:srgbClr val="000000"/>
              </a:solidFill>
              <a:ea typeface="Aileron"/>
              <a:cs typeface="Aileron"/>
              <a:sym typeface="Aileron"/>
            </a:endParaRPr>
          </a:p>
          <a:p>
            <a:pPr algn="ctr" defTabSz="685800">
              <a:lnSpc>
                <a:spcPct val="100000"/>
              </a:lnSpc>
              <a:defRPr/>
            </a:pPr>
            <a:endParaRPr lang="en-US" sz="1600" dirty="0">
              <a:solidFill>
                <a:srgbClr val="000000"/>
              </a:solidFill>
              <a:ea typeface="Aileron"/>
              <a:cs typeface="Aileron"/>
              <a:sym typeface="Aileron"/>
            </a:endParaRPr>
          </a:p>
          <a:p>
            <a:pPr marL="342900" indent="-342900">
              <a:lnSpc>
                <a:spcPct val="100000"/>
              </a:lnSpc>
              <a:buFont typeface="Arial" panose="020B0604020202020204" pitchFamily="34" charset="0"/>
              <a:buChar char="•"/>
            </a:pPr>
            <a:endParaRPr lang="en-US" sz="1600" dirty="0">
              <a:latin typeface="Bookman Old Style" panose="02050604050505020204" pitchFamily="18" charset="0"/>
            </a:endParaRPr>
          </a:p>
        </p:txBody>
      </p:sp>
    </p:spTree>
    <p:extLst>
      <p:ext uri="{BB962C8B-B14F-4D97-AF65-F5344CB8AC3E}">
        <p14:creationId xmlns:p14="http://schemas.microsoft.com/office/powerpoint/2010/main" val="698670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584498" y="3196560"/>
            <a:ext cx="6482080" cy="2542810"/>
          </a:xfrm>
        </p:spPr>
        <p:txBody>
          <a:bodyPr/>
          <a:lstStyle/>
          <a:p>
            <a:r>
              <a:rPr lang="en-US" dirty="0">
                <a:latin typeface="Bookman Old Style" panose="02050604050505020204" pitchFamily="18" charset="0"/>
              </a:rPr>
              <a:t>TOOLS FOR IMPLEMENTATION </a:t>
            </a:r>
            <a:endParaRPr lang="en-US" dirty="0"/>
          </a:p>
        </p:txBody>
      </p:sp>
      <p:sp>
        <p:nvSpPr>
          <p:cNvPr id="4" name="Content Placeholder 3">
            <a:extLst>
              <a:ext uri="{FF2B5EF4-FFF2-40B4-BE49-F238E27FC236}">
                <a16:creationId xmlns:a16="http://schemas.microsoft.com/office/drawing/2014/main" id="{07C3632C-2D2E-7026-33B8-EE42DA4BDB5C}"/>
              </a:ext>
            </a:extLst>
          </p:cNvPr>
          <p:cNvSpPr>
            <a:spLocks noGrp="1"/>
          </p:cNvSpPr>
          <p:nvPr>
            <p:ph sz="quarter" idx="14"/>
          </p:nvPr>
        </p:nvSpPr>
        <p:spPr>
          <a:xfrm>
            <a:off x="0" y="0"/>
            <a:ext cx="5002831" cy="3326860"/>
          </a:xfrm>
        </p:spPr>
        <p:txBody>
          <a:bodyPr>
            <a:noAutofit/>
          </a:bodyPr>
          <a:lstStyle/>
          <a:p>
            <a:pPr marL="323850" lvl="1" indent="0" algn="just" defTabSz="685800">
              <a:lnSpc>
                <a:spcPct val="100000"/>
              </a:lnSpc>
              <a:buNone/>
              <a:defRPr/>
            </a:pPr>
            <a:r>
              <a:rPr lang="en-US" sz="2800" b="1" dirty="0"/>
              <a:t>Hardware Tools</a:t>
            </a:r>
          </a:p>
          <a:p>
            <a:pPr marL="647700" lvl="1" indent="-323850" algn="just" defTabSz="685800">
              <a:lnSpc>
                <a:spcPct val="100000"/>
              </a:lnSpc>
              <a:buFont typeface="Arial" panose="020B0604020202020204"/>
              <a:buChar char="•"/>
              <a:defRPr/>
            </a:pPr>
            <a:r>
              <a:rPr lang="en-IN" sz="1800" dirty="0" err="1"/>
              <a:t>NodeMCU</a:t>
            </a:r>
            <a:r>
              <a:rPr lang="en-IN" sz="1800" dirty="0"/>
              <a:t> Esp8266</a:t>
            </a:r>
          </a:p>
          <a:p>
            <a:pPr marL="647700" lvl="1" indent="-323850" algn="just" defTabSz="685800">
              <a:lnSpc>
                <a:spcPct val="100000"/>
              </a:lnSpc>
              <a:buFont typeface="Arial" panose="020B0604020202020204"/>
              <a:buChar char="•"/>
              <a:defRPr/>
            </a:pPr>
            <a:r>
              <a:rPr lang="en-IN" sz="1800" dirty="0"/>
              <a:t>Ultrasonic sensor</a:t>
            </a:r>
          </a:p>
          <a:p>
            <a:pPr marL="647700" lvl="1" indent="-323850" algn="just" defTabSz="685800">
              <a:lnSpc>
                <a:spcPct val="100000"/>
              </a:lnSpc>
              <a:buFont typeface="Arial" panose="020B0604020202020204"/>
              <a:buChar char="•"/>
              <a:defRPr/>
            </a:pPr>
            <a:r>
              <a:rPr lang="en-IN" sz="1800" dirty="0" err="1"/>
              <a:t>LED,Buzzer</a:t>
            </a:r>
            <a:endParaRPr lang="en-IN" sz="1800" dirty="0"/>
          </a:p>
          <a:p>
            <a:pPr marL="647700" lvl="1" indent="-323850" algn="just" defTabSz="685800">
              <a:lnSpc>
                <a:spcPct val="100000"/>
              </a:lnSpc>
              <a:buFont typeface="Arial" panose="020B0604020202020204"/>
              <a:buChar char="•"/>
              <a:defRPr/>
            </a:pPr>
            <a:r>
              <a:rPr lang="en-IN" sz="1800" dirty="0"/>
              <a:t>Jumper wires</a:t>
            </a:r>
          </a:p>
          <a:p>
            <a:pPr marL="647700" lvl="1" indent="-323850" algn="just" defTabSz="685800">
              <a:lnSpc>
                <a:spcPct val="100000"/>
              </a:lnSpc>
              <a:buFont typeface="Arial" panose="020B0604020202020204"/>
              <a:buChar char="•"/>
              <a:defRPr/>
            </a:pPr>
            <a:r>
              <a:rPr lang="en-IN" sz="1800" dirty="0"/>
              <a:t>USB Cable</a:t>
            </a:r>
          </a:p>
          <a:p>
            <a:pPr marL="0" indent="0">
              <a:lnSpc>
                <a:spcPct val="100000"/>
              </a:lnSpc>
              <a:buNone/>
            </a:pPr>
            <a:endParaRPr lang="en-US" sz="1600" b="1" dirty="0"/>
          </a:p>
        </p:txBody>
      </p:sp>
      <p:sp>
        <p:nvSpPr>
          <p:cNvPr id="5" name="Rectangle 1">
            <a:extLst>
              <a:ext uri="{FF2B5EF4-FFF2-40B4-BE49-F238E27FC236}">
                <a16:creationId xmlns:a16="http://schemas.microsoft.com/office/drawing/2014/main" id="{0704732A-BAAF-4482-0AAB-984053B831C2}"/>
              </a:ext>
            </a:extLst>
          </p:cNvPr>
          <p:cNvSpPr>
            <a:spLocks noChangeArrowheads="1"/>
          </p:cNvSpPr>
          <p:nvPr/>
        </p:nvSpPr>
        <p:spPr bwMode="auto">
          <a:xfrm>
            <a:off x="274489" y="3705998"/>
            <a:ext cx="5213735"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1B1C1D"/>
                </a:solidFill>
                <a:effectLst/>
                <a:latin typeface="Franklin Gothic Book (Body)"/>
              </a:rPr>
              <a:t>Software Tools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B1C1D"/>
                </a:solidFill>
                <a:effectLst/>
                <a:latin typeface="Franklin Gothic Book (Body)"/>
              </a:rPr>
              <a:t>Programming</a:t>
            </a:r>
            <a:r>
              <a:rPr kumimoji="0" lang="en-US" altLang="en-US" sz="800" b="1" i="0" u="none" strike="noStrike" cap="none" normalizeH="0" baseline="0" dirty="0">
                <a:ln>
                  <a:noFill/>
                </a:ln>
                <a:solidFill>
                  <a:srgbClr val="1B1C1D"/>
                </a:solidFill>
                <a:effectLst/>
                <a:latin typeface="Franklin Gothic Book (Body)"/>
              </a:rPr>
              <a:t> :</a:t>
            </a:r>
            <a:r>
              <a:rPr kumimoji="0" lang="en-US" altLang="en-US" sz="1800" b="0" i="0" u="none" strike="noStrike" cap="none" normalizeH="0" baseline="0" dirty="0">
                <a:ln>
                  <a:noFill/>
                </a:ln>
                <a:solidFill>
                  <a:srgbClr val="1B1C1D"/>
                </a:solidFill>
                <a:effectLst/>
                <a:latin typeface="Franklin Gothic Book (Body)"/>
              </a:rPr>
              <a:t> Python 3.xx</a:t>
            </a:r>
            <a:r>
              <a:rPr kumimoji="0" lang="en-US" altLang="en-US" sz="1800" b="0" i="0" u="none" strike="noStrike" cap="none" normalizeH="0" dirty="0">
                <a:ln>
                  <a:noFill/>
                </a:ln>
                <a:solidFill>
                  <a:srgbClr val="1B1C1D"/>
                </a:solidFill>
                <a:effectLst/>
                <a:latin typeface="Franklin Gothic Book (Body)"/>
              </a:rPr>
              <a:t> </a:t>
            </a:r>
            <a:r>
              <a:rPr kumimoji="0" lang="en-US" altLang="en-US" sz="1800" b="0" i="0" u="none" strike="noStrike" cap="none" normalizeH="0" baseline="0" dirty="0">
                <a:ln>
                  <a:noFill/>
                </a:ln>
                <a:solidFill>
                  <a:srgbClr val="1B1C1D"/>
                </a:solidFill>
                <a:effectLst/>
                <a:latin typeface="Franklin Gothic Book (Body)"/>
              </a:rPr>
              <a:t>,Embedded</a:t>
            </a:r>
            <a:r>
              <a:rPr lang="en-US" altLang="en-US" dirty="0">
                <a:solidFill>
                  <a:srgbClr val="1B1C1D"/>
                </a:solidFill>
                <a:latin typeface="Franklin Gothic Book (Body)"/>
              </a:rPr>
              <a:t>-C</a:t>
            </a:r>
            <a:endParaRPr kumimoji="0" lang="en-US" altLang="en-US" sz="1800" b="0" i="0" u="none" strike="noStrike" cap="none" normalizeH="0" baseline="0" dirty="0">
              <a:ln>
                <a:noFill/>
              </a:ln>
              <a:solidFill>
                <a:srgbClr val="1B1C1D"/>
              </a:solidFill>
              <a:effectLst/>
              <a:latin typeface="Franklin Gothic Book (Body)"/>
            </a:endParaRPr>
          </a:p>
          <a:p>
            <a:pPr lvl="0" eaLnBrk="0" fontAlgn="base" hangingPunct="0">
              <a:spcBef>
                <a:spcPct val="0"/>
              </a:spcBef>
              <a:spcAft>
                <a:spcPct val="0"/>
              </a:spcAft>
              <a:buFontTx/>
              <a:buChar char="•"/>
            </a:pPr>
            <a:r>
              <a:rPr kumimoji="0" lang="en-US" altLang="en-US" sz="1800" b="1" i="0" u="none" strike="noStrike" cap="none" normalizeH="0" baseline="0" dirty="0">
                <a:ln>
                  <a:noFill/>
                </a:ln>
                <a:solidFill>
                  <a:srgbClr val="1B1C1D"/>
                </a:solidFill>
                <a:effectLst/>
                <a:latin typeface="Franklin Gothic Book (Body)"/>
              </a:rPr>
              <a:t>Deep Learning Libraries:</a:t>
            </a:r>
            <a:r>
              <a:rPr kumimoji="0" lang="en-US" altLang="en-US" sz="1800" b="0" i="0" u="none" strike="noStrike" cap="none" normalizeH="0" baseline="0" dirty="0">
                <a:ln>
                  <a:noFill/>
                </a:ln>
                <a:solidFill>
                  <a:srgbClr val="1B1C1D"/>
                </a:solidFill>
                <a:effectLst/>
                <a:latin typeface="Franklin Gothic Book (Body)"/>
              </a:rPr>
              <a:t> TensorFlow, </a:t>
            </a:r>
            <a:r>
              <a:rPr kumimoji="0" lang="en-US" altLang="en-US" sz="1800" b="0" i="0" u="none" strike="noStrike" cap="none" normalizeH="0" baseline="0" dirty="0" err="1">
                <a:ln>
                  <a:noFill/>
                </a:ln>
                <a:solidFill>
                  <a:srgbClr val="1B1C1D"/>
                </a:solidFill>
                <a:effectLst/>
                <a:latin typeface="Franklin Gothic Book (Body)"/>
              </a:rPr>
              <a:t>Keras</a:t>
            </a:r>
            <a:r>
              <a:rPr kumimoji="0" lang="en-US" altLang="en-US" sz="1800" b="0" i="0" u="none" strike="noStrike" cap="none" normalizeH="0" baseline="0" dirty="0">
                <a:ln>
                  <a:noFill/>
                </a:ln>
                <a:solidFill>
                  <a:srgbClr val="1B1C1D"/>
                </a:solidFill>
                <a:effectLst/>
                <a:latin typeface="Franklin Gothic Book (Body)"/>
              </a:rPr>
              <a:t>, </a:t>
            </a:r>
            <a:r>
              <a:rPr kumimoji="0" lang="en-US" altLang="en-US" sz="1800" b="0" i="0" u="none" strike="noStrike" cap="none" normalizeH="0" baseline="0" dirty="0" err="1">
                <a:ln>
                  <a:noFill/>
                </a:ln>
                <a:solidFill>
                  <a:srgbClr val="1B1C1D"/>
                </a:solidFill>
                <a:effectLst/>
                <a:latin typeface="Franklin Gothic Book (Body)"/>
              </a:rPr>
              <a:t>PyTorch</a:t>
            </a:r>
            <a:endParaRPr kumimoji="0" lang="en-US" altLang="en-US" sz="1800" b="0" i="0" u="none" strike="noStrike" cap="none" normalizeH="0" baseline="0" dirty="0">
              <a:ln>
                <a:noFill/>
              </a:ln>
              <a:solidFill>
                <a:srgbClr val="1B1C1D"/>
              </a:solidFill>
              <a:effectLst/>
              <a:latin typeface="Franklin Gothic Book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Franklin Gothic Book (Body)"/>
              </a:rPr>
              <a:t>Machine Learning Algorithms:</a:t>
            </a:r>
            <a:r>
              <a:rPr kumimoji="0" lang="en-US" altLang="en-US" sz="1800" b="0" i="0" u="none" strike="noStrike" cap="none" normalizeH="0" baseline="0" dirty="0">
                <a:ln>
                  <a:noFill/>
                </a:ln>
                <a:solidFill>
                  <a:srgbClr val="1B1C1D"/>
                </a:solidFill>
                <a:effectLst/>
                <a:latin typeface="Franklin Gothic Book (Body)"/>
              </a:rPr>
              <a:t>  Isolation Forest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Franklin Gothic Book (Body)"/>
              </a:rPr>
              <a:t>Federated Learning:</a:t>
            </a:r>
            <a:r>
              <a:rPr kumimoji="0" lang="en-US" altLang="en-US" sz="1800" b="0" i="0" u="none" strike="noStrike" cap="none" normalizeH="0" baseline="0" dirty="0">
                <a:ln>
                  <a:noFill/>
                </a:ln>
                <a:solidFill>
                  <a:srgbClr val="1B1C1D"/>
                </a:solidFill>
                <a:effectLst/>
                <a:latin typeface="Franklin Gothic Book (Body)"/>
              </a:rPr>
              <a:t> TensorFlow Federated (TFF)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Franklin Gothic Book (Body)"/>
              </a:rPr>
              <a:t>Frontend:</a:t>
            </a:r>
            <a:r>
              <a:rPr kumimoji="0" lang="en-US" altLang="en-US" sz="1800" b="0" i="0" u="none" strike="noStrike" cap="none" normalizeH="0" baseline="0" dirty="0">
                <a:ln>
                  <a:noFill/>
                </a:ln>
                <a:solidFill>
                  <a:srgbClr val="1B1C1D"/>
                </a:solidFill>
                <a:effectLst/>
                <a:latin typeface="Franklin Gothic Book (Body)"/>
              </a:rPr>
              <a:t> </a:t>
            </a:r>
            <a:r>
              <a:rPr kumimoji="0" lang="en-US" altLang="en-US" sz="1800" b="0" i="0" u="none" strike="noStrike" cap="none" normalizeH="0" baseline="0" dirty="0" err="1">
                <a:ln>
                  <a:noFill/>
                </a:ln>
                <a:solidFill>
                  <a:srgbClr val="1B1C1D"/>
                </a:solidFill>
                <a:effectLst/>
                <a:latin typeface="Franklin Gothic Book (Body)"/>
              </a:rPr>
              <a:t>React.js,Tailwind</a:t>
            </a:r>
            <a:r>
              <a:rPr kumimoji="0" lang="en-US" altLang="en-US" sz="1800" b="0" i="0" u="none" strike="noStrike" cap="none" normalizeH="0" dirty="0">
                <a:ln>
                  <a:noFill/>
                </a:ln>
                <a:solidFill>
                  <a:srgbClr val="1B1C1D"/>
                </a:solidFill>
                <a:effectLst/>
                <a:latin typeface="Franklin Gothic Book (Body)"/>
              </a:rPr>
              <a:t> CSS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baseline="0" dirty="0">
                <a:solidFill>
                  <a:srgbClr val="1B1C1D"/>
                </a:solidFill>
                <a:latin typeface="Franklin Gothic Book (Body)"/>
              </a:rPr>
              <a:t>Backend</a:t>
            </a:r>
            <a:r>
              <a:rPr lang="en-US" altLang="en-US" dirty="0">
                <a:solidFill>
                  <a:srgbClr val="1B1C1D"/>
                </a:solidFill>
                <a:latin typeface="Franklin Gothic Book (Body)"/>
              </a:rPr>
              <a:t>: FLASK ,Postman</a:t>
            </a:r>
            <a:endParaRPr kumimoji="0" lang="en-US" altLang="en-US" sz="1800" b="0" i="0" u="none" strike="noStrike" cap="none" normalizeH="0" baseline="0" dirty="0">
              <a:ln>
                <a:noFill/>
              </a:ln>
              <a:solidFill>
                <a:srgbClr val="1B1C1D"/>
              </a:solidFill>
              <a:effectLst/>
              <a:latin typeface="Franklin Gothic Book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Franklin Gothic Book (Body)"/>
              </a:rPr>
              <a:t>IDE / Editor:</a:t>
            </a:r>
            <a:r>
              <a:rPr kumimoji="0" lang="en-US" altLang="en-US" sz="1800" b="0" i="0" u="none" strike="noStrike" cap="none" normalizeH="0" baseline="0" dirty="0">
                <a:ln>
                  <a:noFill/>
                </a:ln>
                <a:solidFill>
                  <a:srgbClr val="1B1C1D"/>
                </a:solidFill>
                <a:effectLst/>
                <a:latin typeface="Franklin Gothic Book (Body)"/>
              </a:rPr>
              <a:t> VS Code, Arduino IDE</a:t>
            </a:r>
            <a:endParaRPr kumimoji="0" lang="en-US" altLang="en-US" sz="1800" b="0" i="0" u="none" strike="noStrike" cap="none" normalizeH="0" baseline="0" dirty="0">
              <a:ln>
                <a:noFill/>
              </a:ln>
              <a:solidFill>
                <a:schemeClr val="tx1"/>
              </a:solidFill>
              <a:effectLst/>
              <a:latin typeface="Franklin Gothic Book (Body)"/>
            </a:endParaRPr>
          </a:p>
        </p:txBody>
      </p:sp>
    </p:spTree>
    <p:extLst>
      <p:ext uri="{BB962C8B-B14F-4D97-AF65-F5344CB8AC3E}">
        <p14:creationId xmlns:p14="http://schemas.microsoft.com/office/powerpoint/2010/main" val="3088225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520690" cy="2354026"/>
          </a:xfrm>
        </p:spPr>
        <p:txBody>
          <a:bodyPr/>
          <a:lstStyle/>
          <a:p>
            <a:r>
              <a:rPr lang="en-US" dirty="0">
                <a:latin typeface="Bookman Old Style" panose="02050604050505020204" pitchFamily="18" charset="0"/>
              </a:rPr>
              <a:t>BASE PAPER INFO</a:t>
            </a:r>
            <a:endParaRPr lang="en-US" dirty="0"/>
          </a:p>
        </p:txBody>
      </p:sp>
      <p:sp>
        <p:nvSpPr>
          <p:cNvPr id="3" name="Content Placeholder 2">
            <a:extLst>
              <a:ext uri="{FF2B5EF4-FFF2-40B4-BE49-F238E27FC236}">
                <a16:creationId xmlns:a16="http://schemas.microsoft.com/office/drawing/2014/main" id="{34F2E863-4A4C-76FE-444A-083F93043389}"/>
              </a:ext>
            </a:extLst>
          </p:cNvPr>
          <p:cNvSpPr>
            <a:spLocks noGrp="1"/>
          </p:cNvSpPr>
          <p:nvPr>
            <p:ph sz="quarter" idx="16"/>
          </p:nvPr>
        </p:nvSpPr>
        <p:spPr>
          <a:xfrm>
            <a:off x="224074" y="2910284"/>
            <a:ext cx="5768164" cy="3608961"/>
          </a:xfrm>
        </p:spPr>
        <p:txBody>
          <a:bodyPr>
            <a:noAutofit/>
          </a:bodyPr>
          <a:lstStyle/>
          <a:p>
            <a:pPr marL="342900" indent="-342900" algn="just">
              <a:lnSpc>
                <a:spcPct val="150000"/>
              </a:lnSpc>
              <a:buAutoNum type="arabicPeriod"/>
            </a:pPr>
            <a:r>
              <a:rPr lang="en-IN" sz="1800" dirty="0"/>
              <a:t>S. </a:t>
            </a:r>
            <a:r>
              <a:rPr lang="en-IN" sz="1800" dirty="0" err="1"/>
              <a:t>Kurundkar</a:t>
            </a:r>
            <a:r>
              <a:rPr lang="en-IN" sz="1800" dirty="0"/>
              <a:t>, S. Rathod, R. </a:t>
            </a:r>
            <a:r>
              <a:rPr lang="en-IN" sz="1800" dirty="0" err="1"/>
              <a:t>Sapate</a:t>
            </a:r>
            <a:r>
              <a:rPr lang="en-IN" sz="1800" dirty="0"/>
              <a:t>, S. Raut, and S. </a:t>
            </a:r>
            <a:r>
              <a:rPr lang="en-IN" sz="1800" dirty="0" err="1"/>
              <a:t>Khopade</a:t>
            </a:r>
            <a:r>
              <a:rPr lang="en-IN" sz="1800" dirty="0"/>
              <a:t>, "Vehicle Fuel Theft Detection System," in </a:t>
            </a:r>
            <a:r>
              <a:rPr lang="en-IN" sz="1800" i="1" dirty="0"/>
              <a:t>2024 International Conference on Sustainable Communication Networks and Application (ICSCNA)</a:t>
            </a:r>
            <a:r>
              <a:rPr lang="en-IN" sz="1800" dirty="0"/>
              <a:t>, Pune, India, 2024, pp. 1570-1577, </a:t>
            </a:r>
            <a:r>
              <a:rPr lang="en-IN" sz="1800" dirty="0" err="1"/>
              <a:t>doi</a:t>
            </a:r>
            <a:r>
              <a:rPr lang="en-IN" sz="1800" dirty="0"/>
              <a:t>: 10.1109/ICSCNA63714.2024.10864281</a:t>
            </a:r>
            <a:endParaRPr lang="en-US" sz="1800" dirty="0">
              <a:latin typeface="Times New Roman" panose="02020603050405020304" pitchFamily="18" charset="0"/>
              <a:cs typeface="Times New Roman" panose="02020603050405020304" pitchFamily="18" charset="0"/>
            </a:endParaRPr>
          </a:p>
        </p:txBody>
      </p:sp>
      <p:pic>
        <p:nvPicPr>
          <p:cNvPr id="5" name="Picture Placeholder 52" descr="Hanging lightbulbs">
            <a:extLst>
              <a:ext uri="{FF2B5EF4-FFF2-40B4-BE49-F238E27FC236}">
                <a16:creationId xmlns:a16="http://schemas.microsoft.com/office/drawing/2014/main" id="{F2B2501C-600C-11B3-1ECD-912D988906A5}"/>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6" r="16"/>
          <a:stretch/>
        </p:blipFill>
        <p:spPr>
          <a:xfrm>
            <a:off x="6096000" y="0"/>
            <a:ext cx="6118225" cy="6858000"/>
          </a:xfrm>
        </p:spPr>
      </p:pic>
    </p:spTree>
    <p:extLst>
      <p:ext uri="{BB962C8B-B14F-4D97-AF65-F5344CB8AC3E}">
        <p14:creationId xmlns:p14="http://schemas.microsoft.com/office/powerpoint/2010/main" val="298364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latin typeface="Bookman Old Style" panose="02050604050505020204" pitchFamily="18" charset="0"/>
              </a:rPr>
              <a:t>REFERENCES</a:t>
            </a:r>
            <a:endParaRPr lang="en-US" dirty="0"/>
          </a:p>
        </p:txBody>
      </p:sp>
      <p:sp>
        <p:nvSpPr>
          <p:cNvPr id="9" name="TextBox 11">
            <a:extLst>
              <a:ext uri="{FF2B5EF4-FFF2-40B4-BE49-F238E27FC236}">
                <a16:creationId xmlns:a16="http://schemas.microsoft.com/office/drawing/2014/main" id="{830C429F-D4A8-D04E-C1B5-544FE5B9FA7E}"/>
              </a:ext>
            </a:extLst>
          </p:cNvPr>
          <p:cNvSpPr txBox="1"/>
          <p:nvPr/>
        </p:nvSpPr>
        <p:spPr>
          <a:xfrm>
            <a:off x="113954" y="2481547"/>
            <a:ext cx="12134193" cy="5121530"/>
          </a:xfrm>
          <a:prstGeom prst="rect">
            <a:avLst/>
          </a:prstGeom>
        </p:spPr>
        <p:txBody>
          <a:bodyPr wrap="square" lIns="0" tIns="0" rIns="0" bIns="0">
            <a:spAutoFit/>
          </a:bodyPr>
          <a:lstStyle/>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Madhusudhana Rao, G., et al.</a:t>
            </a:r>
            <a:r>
              <a:rPr lang="en-US" altLang="en-US" sz="1200" dirty="0">
                <a:solidFill>
                  <a:schemeClr val="bg1">
                    <a:lumMod val="95000"/>
                    <a:lumOff val="5000"/>
                  </a:schemeClr>
                </a:solidFill>
                <a:latin typeface="Arial" panose="020B0604020202020204" pitchFamily="34" charset="0"/>
              </a:rPr>
              <a:t> "Fuel Theft Detection System with Automated Calling and Alert Using GSM." </a:t>
            </a:r>
            <a:r>
              <a:rPr lang="en-US" altLang="en-US" sz="1200" i="1" dirty="0">
                <a:solidFill>
                  <a:schemeClr val="bg1">
                    <a:lumMod val="95000"/>
                    <a:lumOff val="5000"/>
                  </a:schemeClr>
                </a:solidFill>
                <a:latin typeface="Arial" panose="020B0604020202020204" pitchFamily="34" charset="0"/>
              </a:rPr>
              <a:t>International Journal of Innovative Research in Science, Engineering and Technology</a:t>
            </a:r>
            <a:r>
              <a:rPr lang="en-US" altLang="en-US" sz="1200" dirty="0">
                <a:solidFill>
                  <a:schemeClr val="bg1">
                    <a:lumMod val="95000"/>
                    <a:lumOff val="5000"/>
                  </a:schemeClr>
                </a:solidFill>
                <a:latin typeface="Arial" panose="020B0604020202020204" pitchFamily="34" charset="0"/>
              </a:rPr>
              <a:t>, 2024.</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Chaudhari, Durvesh S., et al.</a:t>
            </a:r>
            <a:r>
              <a:rPr lang="en-US" altLang="en-US" sz="1200" dirty="0">
                <a:solidFill>
                  <a:schemeClr val="bg1">
                    <a:lumMod val="95000"/>
                    <a:lumOff val="5000"/>
                  </a:schemeClr>
                </a:solidFill>
                <a:latin typeface="Arial" panose="020B0604020202020204" pitchFamily="34" charset="0"/>
              </a:rPr>
              <a:t> "Fuel Monitoring System Using IoT Device." </a:t>
            </a:r>
            <a:r>
              <a:rPr lang="en-US" altLang="en-US" sz="1200" i="1" dirty="0">
                <a:solidFill>
                  <a:schemeClr val="bg1">
                    <a:lumMod val="95000"/>
                    <a:lumOff val="5000"/>
                  </a:schemeClr>
                </a:solidFill>
                <a:latin typeface="Arial" panose="020B0604020202020204" pitchFamily="34" charset="0"/>
              </a:rPr>
              <a:t>International Research Journal of Modernization in Engineering Technology and Science</a:t>
            </a:r>
            <a:r>
              <a:rPr lang="en-US" altLang="en-US" sz="1200" dirty="0">
                <a:solidFill>
                  <a:schemeClr val="bg1">
                    <a:lumMod val="95000"/>
                    <a:lumOff val="5000"/>
                  </a:schemeClr>
                </a:solidFill>
                <a:latin typeface="Arial" panose="020B0604020202020204" pitchFamily="34" charset="0"/>
              </a:rPr>
              <a:t>, 2024.</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err="1">
                <a:solidFill>
                  <a:schemeClr val="bg1">
                    <a:lumMod val="95000"/>
                    <a:lumOff val="5000"/>
                  </a:schemeClr>
                </a:solidFill>
                <a:latin typeface="Arial" panose="020B0604020202020204" pitchFamily="34" charset="0"/>
              </a:rPr>
              <a:t>Pillutla</a:t>
            </a:r>
            <a:r>
              <a:rPr lang="en-US" altLang="en-US" sz="1200" b="1" dirty="0">
                <a:solidFill>
                  <a:schemeClr val="bg1">
                    <a:lumMod val="95000"/>
                    <a:lumOff val="5000"/>
                  </a:schemeClr>
                </a:solidFill>
                <a:latin typeface="Arial" panose="020B0604020202020204" pitchFamily="34" charset="0"/>
              </a:rPr>
              <a:t>, Siva Ramakrishna, et al.</a:t>
            </a:r>
            <a:r>
              <a:rPr lang="en-US" altLang="en-US" sz="1200" dirty="0">
                <a:solidFill>
                  <a:schemeClr val="bg1">
                    <a:lumMod val="95000"/>
                    <a:lumOff val="5000"/>
                  </a:schemeClr>
                </a:solidFill>
                <a:latin typeface="Arial" panose="020B0604020202020204" pitchFamily="34" charset="0"/>
              </a:rPr>
              <a:t> "Design and Implementation of Vehicle Theft Prevention by Operating Fuel Injector." </a:t>
            </a:r>
            <a:r>
              <a:rPr lang="en-US" altLang="en-US" sz="1200" i="1" dirty="0">
                <a:solidFill>
                  <a:schemeClr val="bg1">
                    <a:lumMod val="95000"/>
                    <a:lumOff val="5000"/>
                  </a:schemeClr>
                </a:solidFill>
                <a:latin typeface="Arial" panose="020B0604020202020204" pitchFamily="34" charset="0"/>
              </a:rPr>
              <a:t>Third International Conference on Augmented Intelligence and Sustainable Systems (ICAISS)</a:t>
            </a:r>
            <a:r>
              <a:rPr lang="en-US" altLang="en-US" sz="1200" dirty="0">
                <a:solidFill>
                  <a:schemeClr val="bg1">
                    <a:lumMod val="95000"/>
                    <a:lumOff val="5000"/>
                  </a:schemeClr>
                </a:solidFill>
                <a:latin typeface="Arial" panose="020B0604020202020204" pitchFamily="34" charset="0"/>
              </a:rPr>
              <a:t>, 2025.</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Sharma, Rashika A., et al.</a:t>
            </a:r>
            <a:r>
              <a:rPr lang="en-US" altLang="en-US" sz="1200" dirty="0">
                <a:solidFill>
                  <a:schemeClr val="bg1">
                    <a:lumMod val="95000"/>
                    <a:lumOff val="5000"/>
                  </a:schemeClr>
                </a:solidFill>
                <a:latin typeface="Arial" panose="020B0604020202020204" pitchFamily="34" charset="0"/>
              </a:rPr>
              <a:t> "IoT Based Fuel Tank Monitoring System." </a:t>
            </a:r>
            <a:r>
              <a:rPr lang="en-US" altLang="en-US" sz="1200" i="1" dirty="0">
                <a:solidFill>
                  <a:schemeClr val="bg1">
                    <a:lumMod val="95000"/>
                    <a:lumOff val="5000"/>
                  </a:schemeClr>
                </a:solidFill>
                <a:latin typeface="Arial" panose="020B0604020202020204" pitchFamily="34" charset="0"/>
              </a:rPr>
              <a:t>International Research Journal of Modernization in Engineering Technology and Science</a:t>
            </a:r>
            <a:r>
              <a:rPr lang="en-US" altLang="en-US" sz="1200" dirty="0">
                <a:solidFill>
                  <a:schemeClr val="bg1">
                    <a:lumMod val="95000"/>
                    <a:lumOff val="5000"/>
                  </a:schemeClr>
                </a:solidFill>
                <a:latin typeface="Arial" panose="020B0604020202020204" pitchFamily="34" charset="0"/>
              </a:rPr>
              <a:t>, 2025.</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Deekshitha, R., et al.</a:t>
            </a:r>
            <a:r>
              <a:rPr lang="en-US" altLang="en-US" sz="1200" dirty="0">
                <a:solidFill>
                  <a:schemeClr val="bg1">
                    <a:lumMod val="95000"/>
                    <a:lumOff val="5000"/>
                  </a:schemeClr>
                </a:solidFill>
                <a:latin typeface="Arial" panose="020B0604020202020204" pitchFamily="34" charset="0"/>
              </a:rPr>
              <a:t> "Smart Fuel Level Monitoring and Alerting System Based on IoT." </a:t>
            </a:r>
            <a:r>
              <a:rPr lang="en-US" altLang="en-US" sz="1200" i="1" dirty="0">
                <a:solidFill>
                  <a:schemeClr val="bg1">
                    <a:lumMod val="95000"/>
                    <a:lumOff val="5000"/>
                  </a:schemeClr>
                </a:solidFill>
                <a:latin typeface="Arial" panose="020B0604020202020204" pitchFamily="34" charset="0"/>
              </a:rPr>
              <a:t>Futuristic Trends in IOT</a:t>
            </a:r>
            <a:r>
              <a:rPr lang="en-US" altLang="en-US" sz="1200" dirty="0">
                <a:solidFill>
                  <a:schemeClr val="bg1">
                    <a:lumMod val="95000"/>
                    <a:lumOff val="5000"/>
                  </a:schemeClr>
                </a:solidFill>
                <a:latin typeface="Arial" panose="020B0604020202020204" pitchFamily="34" charset="0"/>
              </a:rPr>
              <a:t>, 2024.</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Madhavan, Adhithya, and Sheela A.</a:t>
            </a:r>
            <a:r>
              <a:rPr lang="en-US" altLang="en-US" sz="1200" dirty="0">
                <a:solidFill>
                  <a:schemeClr val="bg1">
                    <a:lumMod val="95000"/>
                    <a:lumOff val="5000"/>
                  </a:schemeClr>
                </a:solidFill>
                <a:latin typeface="Arial" panose="020B0604020202020204" pitchFamily="34" charset="0"/>
              </a:rPr>
              <a:t> "Detecting Fuel Theft with Arduino." </a:t>
            </a:r>
            <a:r>
              <a:rPr lang="en-US" altLang="en-US" sz="1200" i="1" dirty="0">
                <a:solidFill>
                  <a:schemeClr val="bg1">
                    <a:lumMod val="95000"/>
                    <a:lumOff val="5000"/>
                  </a:schemeClr>
                </a:solidFill>
                <a:latin typeface="Arial" panose="020B0604020202020204" pitchFamily="34" charset="0"/>
              </a:rPr>
              <a:t>Second International Conference on Emerging Trends in Information Technology and Engineering (ICETITE)</a:t>
            </a:r>
            <a:r>
              <a:rPr lang="en-US" altLang="en-US" sz="1200" dirty="0">
                <a:solidFill>
                  <a:schemeClr val="bg1">
                    <a:lumMod val="95000"/>
                    <a:lumOff val="5000"/>
                  </a:schemeClr>
                </a:solidFill>
                <a:latin typeface="Arial" panose="020B0604020202020204" pitchFamily="34" charset="0"/>
              </a:rPr>
              <a:t>, 2024.</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7.Kurundkar, Sangeeta, et al.</a:t>
            </a:r>
            <a:r>
              <a:rPr lang="en-US" altLang="en-US" sz="1200" dirty="0">
                <a:solidFill>
                  <a:schemeClr val="bg1">
                    <a:lumMod val="95000"/>
                    <a:lumOff val="5000"/>
                  </a:schemeClr>
                </a:solidFill>
                <a:latin typeface="Arial" panose="020B0604020202020204" pitchFamily="34" charset="0"/>
              </a:rPr>
              <a:t> "Vehicle Fuel Theft Detection System." </a:t>
            </a:r>
            <a:r>
              <a:rPr lang="en-US" altLang="en-US" sz="1200" i="1" dirty="0">
                <a:solidFill>
                  <a:schemeClr val="bg1">
                    <a:lumMod val="95000"/>
                    <a:lumOff val="5000"/>
                  </a:schemeClr>
                </a:solidFill>
                <a:latin typeface="Arial" panose="020B0604020202020204" pitchFamily="34" charset="0"/>
              </a:rPr>
              <a:t>International Conference on Sustainable Communication Networks and Application (ICSCNA)</a:t>
            </a:r>
            <a:r>
              <a:rPr lang="en-US" altLang="en-US" sz="1200" dirty="0">
                <a:solidFill>
                  <a:schemeClr val="bg1">
                    <a:lumMod val="95000"/>
                    <a:lumOff val="5000"/>
                  </a:schemeClr>
                </a:solidFill>
                <a:latin typeface="Arial" panose="020B0604020202020204" pitchFamily="34" charset="0"/>
              </a:rPr>
              <a:t>, 2024</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8.Mengstie, Berhanu Abnet, and Eden </a:t>
            </a:r>
            <a:r>
              <a:rPr lang="en-US" altLang="en-US" sz="1200" b="1" dirty="0" err="1">
                <a:solidFill>
                  <a:schemeClr val="bg1">
                    <a:lumMod val="95000"/>
                    <a:lumOff val="5000"/>
                  </a:schemeClr>
                </a:solidFill>
                <a:latin typeface="Arial" panose="020B0604020202020204" pitchFamily="34" charset="0"/>
              </a:rPr>
              <a:t>Aragaw</a:t>
            </a:r>
            <a:r>
              <a:rPr lang="en-US" altLang="en-US" sz="1200" b="1" dirty="0">
                <a:solidFill>
                  <a:schemeClr val="bg1">
                    <a:lumMod val="95000"/>
                    <a:lumOff val="5000"/>
                  </a:schemeClr>
                </a:solidFill>
                <a:latin typeface="Arial" panose="020B0604020202020204" pitchFamily="34" charset="0"/>
              </a:rPr>
              <a:t> Addisu.</a:t>
            </a:r>
            <a:r>
              <a:rPr lang="en-US" altLang="en-US" sz="1200" dirty="0">
                <a:solidFill>
                  <a:schemeClr val="bg1">
                    <a:lumMod val="95000"/>
                    <a:lumOff val="5000"/>
                  </a:schemeClr>
                </a:solidFill>
                <a:latin typeface="Arial" panose="020B0604020202020204" pitchFamily="34" charset="0"/>
              </a:rPr>
              <a:t> "Evaluation of Fuel Theft Prevention System with Integrated Sensors." </a:t>
            </a:r>
            <a:r>
              <a:rPr lang="en-US" altLang="en-US" sz="1200" i="1" dirty="0">
                <a:solidFill>
                  <a:schemeClr val="bg1">
                    <a:lumMod val="95000"/>
                    <a:lumOff val="5000"/>
                  </a:schemeClr>
                </a:solidFill>
                <a:latin typeface="Arial" panose="020B0604020202020204" pitchFamily="34" charset="0"/>
              </a:rPr>
              <a:t>SSRN</a:t>
            </a:r>
            <a:r>
              <a:rPr lang="en-US" altLang="en-US" sz="1200" dirty="0">
                <a:solidFill>
                  <a:schemeClr val="bg1">
                    <a:lumMod val="95000"/>
                    <a:lumOff val="5000"/>
                  </a:schemeClr>
                </a:solidFill>
                <a:latin typeface="Arial" panose="020B0604020202020204" pitchFamily="34" charset="0"/>
              </a:rPr>
              <a:t>, 2024.</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9.Kumar, Vasanth, et al.</a:t>
            </a:r>
            <a:r>
              <a:rPr lang="en-US" altLang="en-US" sz="1200" dirty="0">
                <a:solidFill>
                  <a:schemeClr val="bg1">
                    <a:lumMod val="95000"/>
                    <a:lumOff val="5000"/>
                  </a:schemeClr>
                </a:solidFill>
                <a:latin typeface="Arial" panose="020B0604020202020204" pitchFamily="34" charset="0"/>
              </a:rPr>
              <a:t> "Vehicle Fuel Theft Detection and Monitoring System." </a:t>
            </a:r>
            <a:r>
              <a:rPr lang="en-US" altLang="en-US" sz="1200" i="1" dirty="0">
                <a:solidFill>
                  <a:schemeClr val="bg1">
                    <a:lumMod val="95000"/>
                    <a:lumOff val="5000"/>
                  </a:schemeClr>
                </a:solidFill>
                <a:latin typeface="Arial" panose="020B0604020202020204" pitchFamily="34" charset="0"/>
              </a:rPr>
              <a:t>Journal of Emerging Technologies and Innovative Research</a:t>
            </a:r>
            <a:r>
              <a:rPr lang="en-US" altLang="en-US" sz="1200" dirty="0">
                <a:solidFill>
                  <a:schemeClr val="bg1">
                    <a:lumMod val="95000"/>
                    <a:lumOff val="5000"/>
                  </a:schemeClr>
                </a:solidFill>
                <a:latin typeface="Arial" panose="020B0604020202020204" pitchFamily="34" charset="0"/>
              </a:rPr>
              <a:t>, 2024.</a:t>
            </a: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r>
              <a:rPr lang="en-US" altLang="en-US" sz="1200" b="1" dirty="0">
                <a:solidFill>
                  <a:schemeClr val="bg1">
                    <a:lumMod val="95000"/>
                    <a:lumOff val="5000"/>
                  </a:schemeClr>
                </a:solidFill>
                <a:latin typeface="Arial" panose="020B0604020202020204" pitchFamily="34" charset="0"/>
              </a:rPr>
              <a:t>10.Deepika and Sneha H. R.</a:t>
            </a:r>
            <a:r>
              <a:rPr lang="en-US" altLang="en-US" sz="1200" dirty="0">
                <a:solidFill>
                  <a:schemeClr val="bg1">
                    <a:lumMod val="95000"/>
                    <a:lumOff val="5000"/>
                  </a:schemeClr>
                </a:solidFill>
                <a:latin typeface="Arial" panose="020B0604020202020204" pitchFamily="34" charset="0"/>
              </a:rPr>
              <a:t> "Smart Fuel Theft Detection and Monitoring System Using IoT with GPS and GSM Integration." </a:t>
            </a:r>
            <a:r>
              <a:rPr lang="en-US" altLang="en-US" sz="1200" i="1" dirty="0">
                <a:solidFill>
                  <a:schemeClr val="bg1">
                    <a:lumMod val="95000"/>
                    <a:lumOff val="5000"/>
                  </a:schemeClr>
                </a:solidFill>
                <a:latin typeface="Arial" panose="020B0604020202020204" pitchFamily="34" charset="0"/>
              </a:rPr>
              <a:t>Journal of Emerging Technologies and Innovative Research (JETIR)</a:t>
            </a:r>
            <a:r>
              <a:rPr lang="en-US" altLang="en-US" sz="1200" dirty="0">
                <a:solidFill>
                  <a:schemeClr val="bg1">
                    <a:lumMod val="95000"/>
                    <a:lumOff val="5000"/>
                  </a:schemeClr>
                </a:solidFill>
                <a:latin typeface="Arial" panose="020B0604020202020204" pitchFamily="34" charset="0"/>
              </a:rPr>
              <a:t>, 2025.</a:t>
            </a:r>
          </a:p>
          <a:p>
            <a:pPr marL="228600" indent="-228600" algn="ctr">
              <a:lnSpc>
                <a:spcPts val="1999"/>
              </a:lnSpc>
              <a:spcBef>
                <a:spcPct val="0"/>
              </a:spcBef>
              <a:buFont typeface="+mj-lt"/>
              <a:buAutoNum type="arabicPeriod"/>
            </a:pPr>
            <a:endParaRPr lang="en-US" altLang="en-US" sz="1200" dirty="0">
              <a:solidFill>
                <a:schemeClr val="bg1">
                  <a:lumMod val="95000"/>
                  <a:lumOff val="5000"/>
                </a:schemeClr>
              </a:solidFill>
            </a:endParaRP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spcBef>
                <a:spcPct val="0"/>
              </a:spcBef>
              <a:buFont typeface="+mj-lt"/>
              <a:buAutoNum type="arabicPeriod"/>
            </a:pPr>
            <a:endParaRPr lang="en-US" altLang="en-US" sz="1200" dirty="0">
              <a:solidFill>
                <a:schemeClr val="bg1">
                  <a:lumMod val="95000"/>
                  <a:lumOff val="5000"/>
                </a:schemeClr>
              </a:solidFill>
              <a:latin typeface="Arial" panose="020B0604020202020204" pitchFamily="34" charset="0"/>
            </a:endParaRPr>
          </a:p>
          <a:p>
            <a:pPr marL="228600" indent="-228600" algn="ctr" eaLnBrk="1" fontAlgn="auto" hangingPunct="1">
              <a:lnSpc>
                <a:spcPct val="150000"/>
              </a:lnSpc>
              <a:spcBef>
                <a:spcPts val="0"/>
              </a:spcBef>
              <a:spcAft>
                <a:spcPts val="0"/>
              </a:spcAft>
              <a:buFont typeface="+mj-lt"/>
              <a:buAutoNum type="arabicPeriod"/>
              <a:defRPr/>
            </a:pPr>
            <a:endParaRPr lang="en-US" sz="1200" dirty="0">
              <a:solidFill>
                <a:schemeClr val="bg1">
                  <a:lumMod val="95000"/>
                  <a:lumOff val="5000"/>
                </a:schemeClr>
              </a:solidFill>
              <a:latin typeface="Calibri" panose="020F0502020204030204" pitchFamily="34" charset="0"/>
              <a:ea typeface="Calibri" panose="020F0502020204030204" pitchFamily="34" charset="0"/>
              <a:cs typeface="Calibri" panose="020F0502020204030204" pitchFamily="34" charset="0"/>
              <a:sym typeface="Aileron"/>
            </a:endParaRPr>
          </a:p>
        </p:txBody>
      </p:sp>
    </p:spTree>
    <p:extLst>
      <p:ext uri="{BB962C8B-B14F-4D97-AF65-F5344CB8AC3E}">
        <p14:creationId xmlns:p14="http://schemas.microsoft.com/office/powerpoint/2010/main" val="1850768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D24F1A-6251-4B9A-A918-7D6F3A8F7E2A}">
  <ds:schemaRefs>
    <ds:schemaRef ds:uri="http://schemas.microsoft.com/sharepoint/v3/contenttype/forms"/>
  </ds:schemaRefs>
</ds:datastoreItem>
</file>

<file path=customXml/itemProps2.xml><?xml version="1.0" encoding="utf-8"?>
<ds:datastoreItem xmlns:ds="http://schemas.openxmlformats.org/officeDocument/2006/customXml" ds:itemID="{CA0FE134-9032-4C7F-BC57-C7DE3F833363}">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A8A8ECD1-788F-484B-9043-D957FCFDF1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276</TotalTime>
  <Words>2406</Words>
  <Application>Microsoft Office PowerPoint</Application>
  <PresentationFormat>Widescreen</PresentationFormat>
  <Paragraphs>173</Paragraphs>
  <Slides>18</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Aileron</vt:lpstr>
      <vt:lpstr>Alegreya Sans SC Bold</vt:lpstr>
      <vt:lpstr>Arial</vt:lpstr>
      <vt:lpstr>Bookman Old Style</vt:lpstr>
      <vt:lpstr>Calibri</vt:lpstr>
      <vt:lpstr>Franklin Gothic Book</vt:lpstr>
      <vt:lpstr>Franklin Gothic Book (Body)</vt:lpstr>
      <vt:lpstr>Franklin Gothic Demi</vt:lpstr>
      <vt:lpstr>Times New Roman</vt:lpstr>
      <vt:lpstr>Wingdings</vt:lpstr>
      <vt:lpstr>Custom</vt:lpstr>
      <vt:lpstr>First Review 22-11-09-2025</vt:lpstr>
      <vt:lpstr>PowerPoint Presentation</vt:lpstr>
      <vt:lpstr>CONTENT</vt:lpstr>
      <vt:lpstr>ABSTRACT </vt:lpstr>
      <vt:lpstr>ABSTRACT</vt:lpstr>
      <vt:lpstr>OBJECTIVE</vt:lpstr>
      <vt:lpstr>LITERATURE REVIEW </vt:lpstr>
      <vt:lpstr>LITERATURE REVIEW </vt:lpstr>
      <vt:lpstr>LITERATURE REVIEW </vt:lpstr>
      <vt:lpstr>SUMMARY OF LITERATURE REVIEW  </vt:lpstr>
      <vt:lpstr>EXISTING SYSTEM </vt:lpstr>
      <vt:lpstr>ADVANTAGES OF EXISTING SYSTEM</vt:lpstr>
      <vt:lpstr>DISADVANTAGES OF EXISTING SYSTEM</vt:lpstr>
      <vt:lpstr>PROPOSED SYSTEM </vt:lpstr>
      <vt:lpstr>TOOLS FOR IMPLEMENTATION </vt:lpstr>
      <vt:lpstr>BASE PAPER INFO</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Saravanan G</dc:creator>
  <cp:lastModifiedBy>abdul rahman</cp:lastModifiedBy>
  <cp:revision>17</cp:revision>
  <dcterms:created xsi:type="dcterms:W3CDTF">2023-12-20T08:12:12Z</dcterms:created>
  <dcterms:modified xsi:type="dcterms:W3CDTF">2025-12-08T11:41:37Z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