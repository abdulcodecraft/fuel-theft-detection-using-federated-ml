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74" r:id="rId2"/>
    <p:sldId id="328" r:id="rId3"/>
    <p:sldId id="301" r:id="rId4"/>
    <p:sldId id="302" r:id="rId5"/>
    <p:sldId id="329" r:id="rId6"/>
    <p:sldId id="330" r:id="rId7"/>
    <p:sldId id="348" r:id="rId8"/>
    <p:sldId id="345" r:id="rId9"/>
    <p:sldId id="331" r:id="rId10"/>
    <p:sldId id="332" r:id="rId11"/>
    <p:sldId id="346" r:id="rId12"/>
    <p:sldId id="333" r:id="rId13"/>
    <p:sldId id="337" r:id="rId14"/>
    <p:sldId id="355" r:id="rId15"/>
    <p:sldId id="354" r:id="rId16"/>
    <p:sldId id="349" r:id="rId17"/>
    <p:sldId id="350" r:id="rId18"/>
    <p:sldId id="334" r:id="rId19"/>
    <p:sldId id="340" r:id="rId20"/>
    <p:sldId id="341" r:id="rId21"/>
    <p:sldId id="336" r:id="rId22"/>
    <p:sldId id="351" r:id="rId23"/>
    <p:sldId id="33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43F8B48-FB53-4445-83E7-DCF3447029A2}">
          <p14:sldIdLst>
            <p14:sldId id="274"/>
            <p14:sldId id="328"/>
            <p14:sldId id="301"/>
            <p14:sldId id="302"/>
            <p14:sldId id="329"/>
            <p14:sldId id="330"/>
            <p14:sldId id="348"/>
            <p14:sldId id="345"/>
            <p14:sldId id="331"/>
            <p14:sldId id="332"/>
            <p14:sldId id="346"/>
          </p14:sldIdLst>
        </p14:section>
        <p14:section name="Untitled Section" id="{11271B08-6FA2-4FCB-A652-E918D90BCA67}">
          <p14:sldIdLst>
            <p14:sldId id="333"/>
            <p14:sldId id="337"/>
            <p14:sldId id="355"/>
            <p14:sldId id="354"/>
            <p14:sldId id="349"/>
            <p14:sldId id="350"/>
            <p14:sldId id="334"/>
            <p14:sldId id="340"/>
            <p14:sldId id="341"/>
            <p14:sldId id="336"/>
            <p14:sldId id="351"/>
            <p14:sldId id="335"/>
          </p14:sldIdLst>
        </p14:section>
      </p14:sectionLst>
    </p:ext>
    <p:ext uri="{EFAFB233-063F-42B5-8137-9DF3F51BA10A}">
      <p15:sldGuideLst xmlns:p15="http://schemas.microsoft.com/office/powerpoint/2012/main">
        <p15:guide id="1" orient="horz" pos="2160" userDrawn="1">
          <p15:clr>
            <a:srgbClr val="A4A3A4"/>
          </p15:clr>
        </p15:guide>
        <p15:guide id="2" pos="3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24" autoAdjust="0"/>
  </p:normalViewPr>
  <p:slideViewPr>
    <p:cSldViewPr showGuides="1">
      <p:cViewPr>
        <p:scale>
          <a:sx n="66" d="100"/>
          <a:sy n="66" d="100"/>
        </p:scale>
        <p:origin x="1363" y="240"/>
      </p:cViewPr>
      <p:guideLst>
        <p:guide orient="horz" pos="2160"/>
        <p:guide pos="3912"/>
      </p:guideLst>
    </p:cSldViewPr>
  </p:slideViewPr>
  <p:outlineViewPr>
    <p:cViewPr>
      <p:scale>
        <a:sx n="33" d="100"/>
        <a:sy n="33" d="100"/>
      </p:scale>
      <p:origin x="0" y="628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F18F4-4478-476C-92A9-11F1BF174B06}"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F1FD7-3F19-4D08-9235-8C3EFB5EBC0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888"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8" y="4777380"/>
            <a:ext cx="880060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9" name="Freeform 8"/>
          <p:cNvSpPr/>
          <p:nvPr/>
        </p:nvSpPr>
        <p:spPr bwMode="auto">
          <a:xfrm>
            <a:off x="-42292" y="4321158"/>
            <a:ext cx="1860631"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564445" y="4529541"/>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3601"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7" y="2133600"/>
            <a:ext cx="8789313"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10"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887"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7" y="3581400"/>
            <a:ext cx="8789313"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11" name="Freeform 11"/>
          <p:cNvSpPr/>
          <p:nvPr/>
        </p:nvSpPr>
        <p:spPr bwMode="auto">
          <a:xfrm flipV="1">
            <a:off x="77" y="3166527"/>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0"/>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8" y="2136706"/>
            <a:ext cx="4263375"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09" y="2136706"/>
            <a:ext cx="426279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9"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681637" y="787783"/>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887" y="2802888"/>
            <a:ext cx="4263376"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39"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11620" y="2799660"/>
            <a:ext cx="4260907"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en-US"/>
              <a:t>AI: Chapter 4: Informed Search and Exploration</a:t>
            </a:r>
            <a:endParaRPr lang="en-US" dirty="0"/>
          </a:p>
        </p:txBody>
      </p:sp>
      <p:sp>
        <p:nvSpPr>
          <p:cNvPr id="11"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681637" y="787783"/>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en-US"/>
              <a:t>AI: Chapter 4: Informed Search and Exploration</a:t>
            </a:r>
            <a:endParaRPr lang="en-US" dirty="0"/>
          </a:p>
        </p:txBody>
      </p:sp>
      <p:sp>
        <p:nvSpPr>
          <p:cNvPr id="8"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en-US"/>
              <a:t>AI: Chapter 4: Informed Search and Exploration</a:t>
            </a:r>
            <a:endParaRPr lang="en-US" dirty="0"/>
          </a:p>
        </p:txBody>
      </p:sp>
      <p:sp>
        <p:nvSpPr>
          <p:cNvPr id="6"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89"/>
            <a:ext cx="505454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10"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7" y="634965"/>
            <a:ext cx="8789313"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887"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77" y="4910660"/>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8"/>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887"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7"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10" name="Freeform 11"/>
          <p:cNvSpPr/>
          <p:nvPr/>
        </p:nvSpPr>
        <p:spPr bwMode="auto">
          <a:xfrm flipV="1">
            <a:off x="77" y="3166527"/>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0"/>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17497"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887"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19" name="Freeform 11"/>
          <p:cNvSpPr/>
          <p:nvPr/>
        </p:nvSpPr>
        <p:spPr bwMode="auto">
          <a:xfrm flipV="1">
            <a:off x="77" y="3166527"/>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681637" y="3244140"/>
            <a:ext cx="779971" cy="365125"/>
          </a:xfrm>
        </p:spPr>
        <p:txBody>
          <a:bodyPr/>
          <a:lstStyle/>
          <a:p>
            <a:fld id="{B6F15528-21DE-4FAA-801E-634DDDAF4B2B}" type="slidenum">
              <a:rPr lang="en-US" smtClean="0"/>
              <a:t>‹#›</a:t>
            </a:fld>
            <a:endParaRPr lang="en-US" dirty="0"/>
          </a:p>
        </p:txBody>
      </p:sp>
      <p:sp>
        <p:nvSpPr>
          <p:cNvPr id="14" name="TextBox 13"/>
          <p:cNvSpPr txBox="1"/>
          <p:nvPr/>
        </p:nvSpPr>
        <p:spPr>
          <a:xfrm>
            <a:off x="2411088" y="648005"/>
            <a:ext cx="609759"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
        <p:nvSpPr>
          <p:cNvPr id="15" name="TextBox 14"/>
          <p:cNvSpPr txBox="1"/>
          <p:nvPr/>
        </p:nvSpPr>
        <p:spPr>
          <a:xfrm>
            <a:off x="10892711" y="2905306"/>
            <a:ext cx="609759"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887" y="2438401"/>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7"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11" name="Freeform 11"/>
          <p:cNvSpPr/>
          <p:nvPr/>
        </p:nvSpPr>
        <p:spPr bwMode="auto">
          <a:xfrm flipV="1">
            <a:off x="77" y="4910660"/>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8"/>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917497"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20" name="Freeform 11"/>
          <p:cNvSpPr/>
          <p:nvPr/>
        </p:nvSpPr>
        <p:spPr bwMode="auto">
          <a:xfrm flipV="1">
            <a:off x="77" y="4910660"/>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8"/>
            <a:ext cx="779971" cy="365125"/>
          </a:xfrm>
        </p:spPr>
        <p:txBody>
          <a:bodyPr/>
          <a:lstStyle/>
          <a:p>
            <a:fld id="{B6F15528-21DE-4FAA-801E-634DDDAF4B2B}" type="slidenum">
              <a:rPr lang="en-US" smtClean="0"/>
              <a:t>‹#›</a:t>
            </a:fld>
            <a:endParaRPr lang="en-US" dirty="0"/>
          </a:p>
        </p:txBody>
      </p:sp>
      <p:sp>
        <p:nvSpPr>
          <p:cNvPr id="11" name="TextBox 10"/>
          <p:cNvSpPr txBox="1"/>
          <p:nvPr/>
        </p:nvSpPr>
        <p:spPr>
          <a:xfrm>
            <a:off x="2411088" y="648005"/>
            <a:ext cx="609759"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
        <p:nvSpPr>
          <p:cNvPr id="12" name="TextBox 11"/>
          <p:cNvSpPr txBox="1"/>
          <p:nvPr/>
        </p:nvSpPr>
        <p:spPr>
          <a:xfrm>
            <a:off x="10892711" y="2905306"/>
            <a:ext cx="609759" cy="584776"/>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panose="020B0604020202020204"/>
              </a:rPr>
              <a:t>”</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789313"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en-US"/>
              <a:t>AI: Chapter 4: Informed Search and Exploration</a:t>
            </a:r>
            <a:endParaRPr lang="en-US" dirty="0"/>
          </a:p>
        </p:txBody>
      </p:sp>
      <p:sp>
        <p:nvSpPr>
          <p:cNvPr id="10" name="Freeform 11"/>
          <p:cNvSpPr/>
          <p:nvPr/>
        </p:nvSpPr>
        <p:spPr bwMode="auto">
          <a:xfrm flipV="1">
            <a:off x="77" y="4910660"/>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681637" y="4983088"/>
            <a:ext cx="779971" cy="365125"/>
          </a:xfrm>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10"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71380" y="627406"/>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6"/>
            <a:ext cx="6288464"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AI: Chapter 4: Informed Search and Exploration</a:t>
            </a:r>
            <a:endParaRPr lang="en-US" dirty="0"/>
          </a:p>
        </p:txBody>
      </p:sp>
      <p:sp>
        <p:nvSpPr>
          <p:cNvPr id="10" name="Freeform 11"/>
          <p:cNvSpPr/>
          <p:nvPr/>
        </p:nvSpPr>
        <p:spPr bwMode="auto">
          <a:xfrm flipV="1">
            <a:off x="77" y="711194"/>
            <a:ext cx="1811141"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26416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7228" y="285"/>
            <a:ext cx="2603029"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4384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3600" y="624110"/>
            <a:ext cx="87856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887" y="2133600"/>
            <a:ext cx="8789313"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3200" y="6135089"/>
            <a:ext cx="1021840" cy="370171"/>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2589887" y="6135809"/>
            <a:ext cx="7621984"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AI: Chapter 4: Informed Search and Exploration</a:t>
            </a:r>
            <a:endParaRPr lang="en-US" dirty="0"/>
          </a:p>
        </p:txBody>
      </p:sp>
      <p:sp>
        <p:nvSpPr>
          <p:cNvPr id="6" name="Slide Number Placeholder 5"/>
          <p:cNvSpPr>
            <a:spLocks noGrp="1"/>
          </p:cNvSpPr>
          <p:nvPr>
            <p:ph type="sldNum" sz="quarter" idx="4"/>
          </p:nvPr>
        </p:nvSpPr>
        <p:spPr bwMode="gray">
          <a:xfrm>
            <a:off x="681637" y="787783"/>
            <a:ext cx="779971" cy="365125"/>
          </a:xfrm>
          <a:prstGeom prst="rect">
            <a:avLst/>
          </a:prstGeom>
        </p:spPr>
        <p:txBody>
          <a:bodyPr vert="horz" lIns="91440" tIns="45720" rIns="91440" bIns="45720" rtlCol="0" anchor="ctr"/>
          <a:lstStyle>
            <a:lvl1pPr algn="r">
              <a:defRPr sz="2000">
                <a:solidFill>
                  <a:srgbClr val="FEFFFF"/>
                </a:solidFill>
              </a:defRPr>
            </a:lvl1pPr>
          </a:lstStyle>
          <a:p>
            <a:fld id="{B6F15528-21DE-4FAA-801E-634DDDAF4B2B}"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2798" y="3079750"/>
            <a:ext cx="6172200" cy="2457450"/>
          </a:xfrm>
        </p:spPr>
        <p:txBody>
          <a:bodyPr>
            <a:noAutofit/>
          </a:bodyPr>
          <a:lstStyle/>
          <a:p>
            <a:pPr algn="ctr">
              <a:spcBef>
                <a:spcPct val="0"/>
              </a:spcBef>
              <a:buNone/>
            </a:pPr>
            <a:r>
              <a:rPr lang="en-US" altLang="en-US" sz="4000" b="1" dirty="0">
                <a:solidFill>
                  <a:schemeClr val="tx1"/>
                </a:solidFill>
                <a:latin typeface="Times New Roman" panose="02020603050405020304" pitchFamily="18" charset="0"/>
                <a:ea typeface="Alegreya Sans SC Bold" charset="0"/>
                <a:cs typeface="Times New Roman" panose="02020603050405020304" pitchFamily="18" charset="0"/>
                <a:sym typeface="Alegreya Sans SC Bold" charset="0"/>
              </a:rPr>
              <a:t>CS3811 Project Work</a:t>
            </a:r>
          </a:p>
          <a:p>
            <a:pPr algn="ctr">
              <a:spcBef>
                <a:spcPct val="0"/>
              </a:spcBef>
              <a:buNone/>
            </a:pPr>
            <a:endParaRPr lang="en-US" altLang="en-US" sz="4000" b="1" dirty="0">
              <a:solidFill>
                <a:schemeClr val="tx1"/>
              </a:solidFill>
              <a:latin typeface="Times New Roman" panose="02020603050405020304" pitchFamily="18" charset="0"/>
              <a:ea typeface="Alegreya Sans SC Bold" charset="0"/>
              <a:cs typeface="Times New Roman" panose="02020603050405020304" pitchFamily="18" charset="0"/>
              <a:sym typeface="Alegreya Sans SC Bold" charset="0"/>
            </a:endParaRPr>
          </a:p>
          <a:p>
            <a:pPr algn="ctr">
              <a:spcBef>
                <a:spcPct val="0"/>
              </a:spcBef>
              <a:buNone/>
            </a:pPr>
            <a:r>
              <a:rPr lang="en-IN" altLang="en-US" sz="2400" b="1" dirty="0">
                <a:solidFill>
                  <a:schemeClr val="tx1"/>
                </a:solidFill>
                <a:ea typeface="Alegreya Sans SC Bold" charset="0"/>
                <a:cs typeface="Times New Roman" panose="02020603050405020304" pitchFamily="18" charset="0"/>
              </a:rPr>
              <a:t>Academic Year: 2025-26</a:t>
            </a:r>
          </a:p>
          <a:p>
            <a:pPr algn="ctr">
              <a:spcBef>
                <a:spcPct val="0"/>
              </a:spcBef>
              <a:buNone/>
            </a:pPr>
            <a:endParaRPr lang="en-IN" altLang="en-US" sz="2000" b="1" dirty="0">
              <a:solidFill>
                <a:schemeClr val="tx1"/>
              </a:solidFill>
              <a:latin typeface="Times New Roman" panose="02020603050405020304" pitchFamily="18" charset="0"/>
              <a:ea typeface="Alegreya Sans SC Bold" charset="0"/>
              <a:cs typeface="Times New Roman" panose="02020603050405020304" pitchFamily="18" charset="0"/>
              <a:sym typeface="Alegreya Sans SC Bold" charset="0"/>
            </a:endParaRPr>
          </a:p>
          <a:p>
            <a:pPr algn="ctr">
              <a:spcBef>
                <a:spcPct val="0"/>
              </a:spcBef>
              <a:buNone/>
            </a:pPr>
            <a:r>
              <a:rPr lang="en-US" altLang="en-US" sz="3200" b="1" dirty="0">
                <a:solidFill>
                  <a:srgbClr val="000000"/>
                </a:solidFill>
                <a:latin typeface="Times New Roman" panose="02020603050405020304" pitchFamily="18" charset="0"/>
                <a:ea typeface="Alegreya Sans SC Bold" charset="0"/>
                <a:cs typeface="Times New Roman" panose="02020603050405020304" pitchFamily="18" charset="0"/>
                <a:sym typeface="Alegreya Sans SC Bold" charset="0"/>
              </a:rPr>
              <a:t>Review 2 - </a:t>
            </a:r>
            <a:r>
              <a:rPr lang="en-US" altLang="en-US" sz="3200" dirty="0">
                <a:solidFill>
                  <a:srgbClr val="000000"/>
                </a:solidFill>
                <a:latin typeface="Times New Roman" panose="02020603050405020304" pitchFamily="18" charset="0"/>
                <a:ea typeface="Alegreya Sans SC Bold" charset="0"/>
                <a:cs typeface="Times New Roman" panose="02020603050405020304" pitchFamily="18" charset="0"/>
                <a:sym typeface="Alegreya Sans SC Bold" charset="0"/>
              </a:rPr>
              <a:t>22:10:2025</a:t>
            </a:r>
            <a:endParaRPr lang="en-US" altLang="en-US" sz="3200" b="1" dirty="0">
              <a:solidFill>
                <a:srgbClr val="000000"/>
              </a:solidFill>
              <a:latin typeface="Times New Roman" panose="02020603050405020304" pitchFamily="18" charset="0"/>
              <a:ea typeface="Alegreya Sans SC Bold" charset="0"/>
              <a:cs typeface="Times New Roman" panose="02020603050405020304" pitchFamily="18" charset="0"/>
              <a:sym typeface="Alegreya Sans SC Bold" charset="0"/>
            </a:endParaRPr>
          </a:p>
        </p:txBody>
      </p:sp>
      <p:sp>
        <p:nvSpPr>
          <p:cNvPr id="5" name="Slide Number Placeholder 4"/>
          <p:cNvSpPr>
            <a:spLocks noGrp="1"/>
          </p:cNvSpPr>
          <p:nvPr>
            <p:ph type="sldNum" sz="quarter" idx="12"/>
          </p:nvPr>
        </p:nvSpPr>
        <p:spPr/>
        <p:txBody>
          <a:bodyPr/>
          <a:lstStyle/>
          <a:p>
            <a:fld id="{B6F15528-21DE-4FAA-801E-634DDDAF4B2B}" type="slidenum">
              <a:rPr lang="en-US" sz="1500" smtClean="0"/>
              <a:t>1</a:t>
            </a:fld>
            <a:endParaRPr lang="en-US" sz="1500" dirty="0"/>
          </a:p>
        </p:txBody>
      </p:sp>
      <p:pic>
        <p:nvPicPr>
          <p:cNvPr id="7"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81000"/>
            <a:ext cx="10074275" cy="1218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6"/>
          <p:cNvSpPr txBox="1">
            <a:spLocks noChangeArrowheads="1"/>
          </p:cNvSpPr>
          <p:nvPr/>
        </p:nvSpPr>
        <p:spPr bwMode="auto">
          <a:xfrm>
            <a:off x="2923267" y="1900861"/>
            <a:ext cx="6511698"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3600" b="1" dirty="0"/>
              <a:t>Department of Com</a:t>
            </a:r>
            <a:r>
              <a:rPr lang="en-US" altLang="en-IN" sz="3600" b="1" dirty="0"/>
              <a:t>p</a:t>
            </a:r>
            <a:r>
              <a:rPr lang="en-IN" altLang="en-US" sz="3600" b="1" dirty="0"/>
              <a:t>uter Science &amp; Engineering</a:t>
            </a:r>
            <a:endParaRPr lang="en-IN" altLang="en-US" sz="3600" b="1" dirty="0">
              <a:latin typeface="Times New Roman" panose="02020603050405020304" pitchFamily="18" charset="0"/>
              <a:ea typeface="Alegreya Sans SC" charset="0"/>
              <a:cs typeface="Times New Roman" panose="02020603050405020304" pitchFamily="18" charset="0"/>
              <a:sym typeface="Alegreya Sans SC"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z="1500" smtClean="0"/>
              <a:t>2</a:t>
            </a:fld>
            <a:endParaRPr lang="en-US" sz="1500" dirty="0"/>
          </a:p>
        </p:txBody>
      </p:sp>
      <p:sp>
        <p:nvSpPr>
          <p:cNvPr id="8" name="TextBox 6"/>
          <p:cNvSpPr txBox="1">
            <a:spLocks noChangeArrowheads="1"/>
          </p:cNvSpPr>
          <p:nvPr/>
        </p:nvSpPr>
        <p:spPr bwMode="auto">
          <a:xfrm>
            <a:off x="1096010" y="1533525"/>
            <a:ext cx="10946765" cy="1315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algn="ctr" eaLnBrk="1" hangingPunct="1">
              <a:spcBef>
                <a:spcPct val="0"/>
              </a:spcBef>
              <a:buNone/>
            </a:pPr>
            <a:r>
              <a:rPr lang="en-US" altLang="en-US" sz="2800" b="1" dirty="0">
                <a:solidFill>
                  <a:srgbClr val="000000"/>
                </a:solidFill>
                <a:latin typeface="Times New Roman" panose="02020603050405020304" pitchFamily="18" charset="0"/>
                <a:ea typeface="Alegreya Sans SC" charset="0"/>
                <a:sym typeface="Alegreya Sans SC" charset="0"/>
              </a:rPr>
              <a:t>Federated Machine Learning for Secure and Adaptive </a:t>
            </a:r>
          </a:p>
          <a:p>
            <a:pPr marL="0" indent="0" algn="ctr" eaLnBrk="1" hangingPunct="1">
              <a:spcBef>
                <a:spcPct val="0"/>
              </a:spcBef>
              <a:buNone/>
            </a:pPr>
            <a:r>
              <a:rPr lang="en-US" altLang="en-US" sz="2800" b="1" dirty="0">
                <a:solidFill>
                  <a:srgbClr val="000000"/>
                </a:solidFill>
                <a:latin typeface="Times New Roman" panose="02020603050405020304" pitchFamily="18" charset="0"/>
                <a:ea typeface="Alegreya Sans SC" charset="0"/>
                <a:sym typeface="Alegreya Sans SC" charset="0"/>
              </a:rPr>
              <a:t>Fuels Theft Detection in Vehicles</a:t>
            </a:r>
          </a:p>
          <a:p>
            <a:pPr algn="ctr">
              <a:spcBef>
                <a:spcPct val="0"/>
              </a:spcBef>
              <a:buNone/>
            </a:pPr>
            <a:endParaRPr lang="en-US" altLang="en-US" sz="2800" b="1" dirty="0">
              <a:solidFill>
                <a:srgbClr val="000000"/>
              </a:solidFill>
              <a:latin typeface="Times New Roman" panose="02020603050405020304" pitchFamily="18" charset="0"/>
              <a:ea typeface="Alegreya Sans SC" charset="0"/>
              <a:cs typeface="Times New Roman" panose="02020603050405020304" pitchFamily="18" charset="0"/>
              <a:sym typeface="Alegreya Sans SC" charset="0"/>
            </a:endParaRPr>
          </a:p>
        </p:txBody>
      </p:sp>
      <p:sp>
        <p:nvSpPr>
          <p:cNvPr id="13" name="TextBox 12"/>
          <p:cNvSpPr txBox="1"/>
          <p:nvPr/>
        </p:nvSpPr>
        <p:spPr>
          <a:xfrm>
            <a:off x="1600200" y="2743200"/>
            <a:ext cx="4470400" cy="2181860"/>
          </a:xfrm>
          <a:prstGeom prst="rect">
            <a:avLst/>
          </a:prstGeom>
        </p:spPr>
        <p:txBody>
          <a:bodyPr wrap="square" lIns="0" tIns="0" rIns="0" bIns="0">
            <a:noAutofit/>
          </a:bodyPr>
          <a:lstStyle/>
          <a:p>
            <a:pPr algn="ctr" eaLnBrk="1" fontAlgn="auto" hangingPunct="1">
              <a:spcBef>
                <a:spcPts val="0"/>
              </a:spcBef>
              <a:spcAft>
                <a:spcPts val="0"/>
              </a:spcAft>
              <a:defRPr/>
            </a:pPr>
            <a:r>
              <a:rPr lang="en-IN" sz="3300" b="1" dirty="0">
                <a:solidFill>
                  <a:srgbClr val="C00000"/>
                </a:solidFill>
                <a:latin typeface="Calibri" panose="020F0502020204030204" pitchFamily="34" charset="0"/>
                <a:ea typeface="Calibri" panose="020F0502020204030204" pitchFamily="34" charset="0"/>
                <a:cs typeface="Calibri" panose="020F0502020204030204" pitchFamily="34" charset="0"/>
              </a:rPr>
              <a:t>Batch Members :</a:t>
            </a:r>
            <a:endParaRPr lang="en-IN" sz="2700" dirty="0"/>
          </a:p>
          <a:p>
            <a:pPr marL="742950" indent="-742950">
              <a:buFont typeface="+mj-lt"/>
              <a:buAutoNum type="arabicPeriod"/>
              <a:defRPr/>
            </a:pPr>
            <a:r>
              <a:rPr lang="en-US" altLang="en-IN" sz="2400" dirty="0">
                <a:latin typeface="Times New Roman" panose="02020603050405020304" pitchFamily="18" charset="0"/>
                <a:cs typeface="Times New Roman" panose="02020603050405020304" pitchFamily="18" charset="0"/>
              </a:rPr>
              <a:t>Mr.Abdul Rahman A</a:t>
            </a:r>
          </a:p>
          <a:p>
            <a:pPr marL="742950" indent="-742950">
              <a:buFont typeface="+mj-lt"/>
              <a:buAutoNum type="arabicPeriod"/>
              <a:defRPr/>
            </a:pPr>
            <a:r>
              <a:rPr lang="en-US" altLang="en-IN" sz="2400" dirty="0">
                <a:latin typeface="Times New Roman" panose="02020603050405020304" pitchFamily="18" charset="0"/>
                <a:cs typeface="Times New Roman" panose="02020603050405020304" pitchFamily="18" charset="0"/>
              </a:rPr>
              <a:t>Mr.Bala Subramanian </a:t>
            </a:r>
            <a:r>
              <a:rPr lang="en-IN" sz="2400" dirty="0">
                <a:latin typeface="Times New Roman" panose="02020603050405020304" pitchFamily="18" charset="0"/>
                <a:cs typeface="Times New Roman" panose="02020603050405020304" pitchFamily="18" charset="0"/>
              </a:rPr>
              <a:t> </a:t>
            </a:r>
            <a:r>
              <a:rPr lang="en-US" altLang="en-IN" sz="2400" dirty="0">
                <a:latin typeface="Times New Roman" panose="02020603050405020304" pitchFamily="18" charset="0"/>
                <a:cs typeface="Times New Roman" panose="02020603050405020304" pitchFamily="18" charset="0"/>
              </a:rPr>
              <a:t>M</a:t>
            </a:r>
          </a:p>
          <a:p>
            <a:pPr marL="742950" indent="-742950">
              <a:buFont typeface="+mj-lt"/>
              <a:buAutoNum type="arabicPeriod"/>
              <a:defRPr/>
            </a:pPr>
            <a:r>
              <a:rPr lang="en-US" altLang="en-IN" sz="2400" dirty="0">
                <a:latin typeface="Times New Roman" panose="02020603050405020304" pitchFamily="18" charset="0"/>
                <a:cs typeface="Times New Roman" panose="02020603050405020304" pitchFamily="18" charset="0"/>
              </a:rPr>
              <a:t>Mr.Saravanan G</a:t>
            </a:r>
          </a:p>
          <a:p>
            <a:pPr marL="742950" indent="-742950">
              <a:buFont typeface="+mj-lt"/>
              <a:buAutoNum type="arabicPeriod"/>
              <a:defRPr/>
            </a:pPr>
            <a:r>
              <a:rPr lang="en-US" altLang="en-IN" sz="2400" dirty="0">
                <a:latin typeface="Times New Roman" panose="02020603050405020304" pitchFamily="18" charset="0"/>
                <a:cs typeface="Times New Roman" panose="02020603050405020304" pitchFamily="18" charset="0"/>
              </a:rPr>
              <a:t>Mr.Jenin Raj K</a:t>
            </a:r>
            <a:endParaRPr lang="en-IN" sz="2400" dirty="0">
              <a:latin typeface="Times New Roman" panose="02020603050405020304" pitchFamily="18" charset="0"/>
              <a:cs typeface="Times New Roman" panose="02020603050405020304" pitchFamily="18" charset="0"/>
            </a:endParaRPr>
          </a:p>
          <a:p>
            <a:pPr indent="0">
              <a:buFont typeface="+mj-lt"/>
              <a:buNone/>
              <a:defRPr/>
            </a:pPr>
            <a:r>
              <a:rPr lang="en-IN" sz="2400" dirty="0">
                <a:latin typeface="Times New Roman" panose="02020603050405020304" pitchFamily="18" charset="0"/>
                <a:cs typeface="Times New Roman" panose="02020603050405020304" pitchFamily="18" charset="0"/>
              </a:rPr>
              <a:t> </a:t>
            </a:r>
          </a:p>
          <a:p>
            <a:pPr marL="742950" indent="-742950">
              <a:buFont typeface="+mj-lt"/>
              <a:buAutoNum type="arabicPeriod"/>
              <a:defRPr/>
            </a:pPr>
            <a:endParaRPr lang="en-US" altLang="en-IN" sz="2700" dirty="0">
              <a:latin typeface="Calibri" panose="020F0502020204030204" pitchFamily="34" charset="0"/>
              <a:ea typeface="Calibri" panose="020F0502020204030204" pitchFamily="34" charset="0"/>
              <a:cs typeface="Calibri" panose="020F0502020204030204" pitchFamily="34" charset="0"/>
              <a:sym typeface="Alegreya Sans SC Bold"/>
            </a:endParaRPr>
          </a:p>
        </p:txBody>
      </p:sp>
      <p:sp>
        <p:nvSpPr>
          <p:cNvPr id="14" name="TextBox 7"/>
          <p:cNvSpPr txBox="1">
            <a:spLocks noChangeArrowheads="1"/>
          </p:cNvSpPr>
          <p:nvPr/>
        </p:nvSpPr>
        <p:spPr bwMode="auto">
          <a:xfrm>
            <a:off x="7696200" y="5257555"/>
            <a:ext cx="4229100" cy="1338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3300" b="1" dirty="0">
                <a:solidFill>
                  <a:srgbClr val="C00000"/>
                </a:solidFill>
              </a:rPr>
              <a:t>Supervisor:</a:t>
            </a:r>
          </a:p>
          <a:p>
            <a:pPr algn="ctr">
              <a:spcBef>
                <a:spcPct val="0"/>
              </a:spcBef>
              <a:buNone/>
            </a:pPr>
            <a:r>
              <a:rPr lang="en-GB" sz="2700" dirty="0" err="1">
                <a:latin typeface="Times New Roman" panose="02020603050405020304" pitchFamily="18" charset="0"/>
                <a:cs typeface="Times New Roman" panose="02020603050405020304" pitchFamily="18" charset="0"/>
              </a:rPr>
              <a:t>A.Merry</a:t>
            </a:r>
            <a:r>
              <a:rPr lang="en-GB" sz="2700" dirty="0">
                <a:latin typeface="Times New Roman" panose="02020603050405020304" pitchFamily="18" charset="0"/>
                <a:cs typeface="Times New Roman" panose="02020603050405020304" pitchFamily="18" charset="0"/>
              </a:rPr>
              <a:t> </a:t>
            </a:r>
            <a:r>
              <a:rPr lang="en-GB" sz="2700" dirty="0" err="1">
                <a:latin typeface="Times New Roman" panose="02020603050405020304" pitchFamily="18" charset="0"/>
                <a:cs typeface="Times New Roman" panose="02020603050405020304" pitchFamily="18" charset="0"/>
              </a:rPr>
              <a:t>Ida,M.E</a:t>
            </a:r>
            <a:r>
              <a:rPr lang="en-GB" sz="2700" dirty="0">
                <a:latin typeface="Times New Roman" panose="02020603050405020304" pitchFamily="18" charset="0"/>
                <a:cs typeface="Times New Roman" panose="02020603050405020304" pitchFamily="18" charset="0"/>
              </a:rPr>
              <a:t>.,</a:t>
            </a:r>
            <a:r>
              <a:rPr lang="en-US" altLang="en-GB" sz="2700" dirty="0">
                <a:latin typeface="Times New Roman" panose="02020603050405020304" pitchFamily="18" charset="0"/>
                <a:cs typeface="Times New Roman" panose="02020603050405020304" pitchFamily="18" charset="0"/>
              </a:rPr>
              <a:t>(Ph.D)</a:t>
            </a:r>
            <a:endParaRPr lang="en-GB" sz="2700" dirty="0">
              <a:latin typeface="Times New Roman" panose="02020603050405020304" pitchFamily="18" charset="0"/>
              <a:cs typeface="Times New Roman" panose="02020603050405020304" pitchFamily="18" charset="0"/>
            </a:endParaRPr>
          </a:p>
          <a:p>
            <a:pPr algn="ctr">
              <a:spcBef>
                <a:spcPct val="0"/>
              </a:spcBef>
              <a:buNone/>
            </a:pPr>
            <a:r>
              <a:rPr lang="en-IN" altLang="en-US" sz="2700" dirty="0">
                <a:latin typeface="Times New Roman" panose="02020603050405020304" pitchFamily="18" charset="0"/>
                <a:cs typeface="Times New Roman" panose="02020603050405020304" pitchFamily="18" charset="0"/>
              </a:rPr>
              <a:t>Assistant Professor, CSE </a:t>
            </a:r>
            <a:endParaRPr lang="en-US" altLang="en-US" sz="3600" dirty="0">
              <a:latin typeface="Times New Roman" panose="02020603050405020304" pitchFamily="18" charset="0"/>
              <a:ea typeface="Alegreya Sans SC Bold" charset="0"/>
              <a:cs typeface="Times New Roman" panose="02020603050405020304" pitchFamily="18" charset="0"/>
              <a:sym typeface="Alegreya Sans SC Bold" charset="0"/>
            </a:endParaRPr>
          </a:p>
        </p:txBody>
      </p:sp>
      <p:pic>
        <p:nvPicPr>
          <p:cNvPr id="1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626110"/>
            <a:ext cx="10297795" cy="71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3546475" y="685800"/>
            <a:ext cx="5099051" cy="749300"/>
          </a:xfrm>
        </p:spPr>
        <p:txBody>
          <a:bodyPr>
            <a:normAutofit/>
          </a:bodyPr>
          <a:lstStyle/>
          <a:p>
            <a:pPr algn="ctr"/>
            <a:r>
              <a:rPr lang="en-US" sz="3000" dirty="0"/>
              <a:t> </a:t>
            </a:r>
            <a:r>
              <a:rPr lang="en-US" sz="3000" b="1" dirty="0">
                <a:latin typeface="Bookman Old Style" panose="02050604050505020204" pitchFamily="18" charset="0"/>
              </a:rPr>
              <a:t>CONTENT</a:t>
            </a:r>
          </a:p>
        </p:txBody>
      </p:sp>
      <p:sp>
        <p:nvSpPr>
          <p:cNvPr id="201731" name="Rectangle 3"/>
          <p:cNvSpPr>
            <a:spLocks noGrp="1" noChangeArrowheads="1"/>
          </p:cNvSpPr>
          <p:nvPr>
            <p:ph idx="1"/>
          </p:nvPr>
        </p:nvSpPr>
        <p:spPr>
          <a:xfrm>
            <a:off x="3352799" y="1218972"/>
            <a:ext cx="5099052" cy="2908300"/>
          </a:xfrm>
        </p:spPr>
        <p:txBody>
          <a:bodyPr>
            <a:noAutofit/>
          </a:bodyPr>
          <a:lstStyle/>
          <a:p>
            <a:pPr lvl="0">
              <a:buFont typeface="Wingdings" panose="05000000000000000000" pitchFamily="2" charset="2"/>
              <a:buChar char="§"/>
            </a:pPr>
            <a:r>
              <a:rPr lang="en-US" b="1" dirty="0">
                <a:latin typeface="Bookman Old Style" panose="02050604050505020204" pitchFamily="18" charset="0"/>
              </a:rPr>
              <a:t>Abstract</a:t>
            </a:r>
          </a:p>
          <a:p>
            <a:pPr lvl="0">
              <a:buFont typeface="Wingdings" panose="05000000000000000000" pitchFamily="2" charset="2"/>
              <a:buChar char="§"/>
            </a:pPr>
            <a:r>
              <a:rPr lang="en-US" b="1" dirty="0">
                <a:latin typeface="Bookman Old Style" panose="02050604050505020204" pitchFamily="18" charset="0"/>
              </a:rPr>
              <a:t>Objective</a:t>
            </a:r>
          </a:p>
          <a:p>
            <a:pPr lvl="0">
              <a:buFont typeface="Wingdings" panose="05000000000000000000" pitchFamily="2" charset="2"/>
              <a:buChar char="§"/>
            </a:pPr>
            <a:r>
              <a:rPr lang="en-US" b="1" dirty="0">
                <a:latin typeface="Bookman Old Style" panose="02050604050505020204" pitchFamily="18" charset="0"/>
              </a:rPr>
              <a:t>Literature review</a:t>
            </a:r>
          </a:p>
          <a:p>
            <a:pPr lvl="0">
              <a:buFont typeface="Wingdings" panose="05000000000000000000" pitchFamily="2" charset="2"/>
              <a:buChar char="§"/>
            </a:pPr>
            <a:r>
              <a:rPr lang="en-US" b="1" dirty="0">
                <a:latin typeface="Bookman Old Style" panose="02050604050505020204" pitchFamily="18" charset="0"/>
              </a:rPr>
              <a:t>Existing System</a:t>
            </a:r>
          </a:p>
          <a:p>
            <a:pPr lvl="0">
              <a:buFont typeface="Wingdings" panose="05000000000000000000" pitchFamily="2" charset="2"/>
              <a:buChar char="§"/>
            </a:pPr>
            <a:r>
              <a:rPr lang="en-US" b="1" dirty="0">
                <a:latin typeface="Bookman Old Style" panose="02050604050505020204" pitchFamily="18" charset="0"/>
              </a:rPr>
              <a:t>Proposed System</a:t>
            </a:r>
          </a:p>
          <a:p>
            <a:pPr>
              <a:buFont typeface="Wingdings" panose="05000000000000000000" pitchFamily="2" charset="2"/>
              <a:buChar char="§"/>
            </a:pPr>
            <a:r>
              <a:rPr lang="en-US" b="1" dirty="0">
                <a:latin typeface="Bookman Old Style" panose="02050604050505020204" pitchFamily="18" charset="0"/>
              </a:rPr>
              <a:t>Architecture of Proposed System</a:t>
            </a:r>
          </a:p>
          <a:p>
            <a:pPr lvl="0">
              <a:buFont typeface="Wingdings" panose="05000000000000000000" pitchFamily="2" charset="2"/>
              <a:buChar char="§"/>
            </a:pPr>
            <a:r>
              <a:rPr lang="en-US" b="1" dirty="0">
                <a:latin typeface="Bookman Old Style" panose="02050604050505020204" pitchFamily="18" charset="0"/>
              </a:rPr>
              <a:t>Tools for Implementation</a:t>
            </a:r>
          </a:p>
          <a:p>
            <a:pPr lvl="0">
              <a:buFont typeface="Wingdings" panose="05000000000000000000" pitchFamily="2" charset="2"/>
              <a:buChar char="§"/>
            </a:pPr>
            <a:r>
              <a:rPr lang="en-US" b="1" dirty="0">
                <a:latin typeface="Bookman Old Style" panose="02050604050505020204" pitchFamily="18" charset="0"/>
              </a:rPr>
              <a:t>Modules </a:t>
            </a:r>
          </a:p>
          <a:p>
            <a:pPr lvl="0">
              <a:buFont typeface="Wingdings" panose="05000000000000000000" pitchFamily="2" charset="2"/>
              <a:buChar char="§"/>
            </a:pPr>
            <a:r>
              <a:rPr lang="en-US" b="1" dirty="0">
                <a:latin typeface="Bookman Old Style" panose="02050604050505020204" pitchFamily="18" charset="0"/>
              </a:rPr>
              <a:t>Output/Results</a:t>
            </a:r>
          </a:p>
          <a:p>
            <a:pPr lvl="0">
              <a:buFont typeface="Wingdings" panose="05000000000000000000" pitchFamily="2" charset="2"/>
              <a:buChar char="§"/>
            </a:pPr>
            <a:r>
              <a:rPr lang="en-US" b="1" dirty="0">
                <a:latin typeface="Bookman Old Style" panose="02050604050505020204" pitchFamily="18" charset="0"/>
              </a:rPr>
              <a:t>References</a:t>
            </a:r>
          </a:p>
        </p:txBody>
      </p:sp>
      <p:sp>
        <p:nvSpPr>
          <p:cNvPr id="6" name="Slide Number Placeholder 5"/>
          <p:cNvSpPr>
            <a:spLocks noGrp="1"/>
          </p:cNvSpPr>
          <p:nvPr>
            <p:ph type="sldNum" sz="quarter" idx="12"/>
          </p:nvPr>
        </p:nvSpPr>
        <p:spPr/>
        <p:txBody>
          <a:bodyPr/>
          <a:lstStyle/>
          <a:p>
            <a:fld id="{C19C4A2A-81EA-4717-8712-5819200252CC}" type="slidenum">
              <a:rPr lang="en-US" sz="1500"/>
              <a:t>3</a:t>
            </a:fld>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a:xfrm>
            <a:off x="3505199" y="598805"/>
            <a:ext cx="5099051" cy="742950"/>
          </a:xfrm>
        </p:spPr>
        <p:txBody>
          <a:bodyPr>
            <a:normAutofit/>
          </a:bodyPr>
          <a:lstStyle/>
          <a:p>
            <a:pPr lvl="0" algn="ctr"/>
            <a:r>
              <a:rPr lang="en-US" sz="2700" b="1" dirty="0">
                <a:latin typeface="Bookman Old Style" panose="02050604050505020204" pitchFamily="18" charset="0"/>
              </a:rPr>
              <a:t>ABSTRACT </a:t>
            </a:r>
          </a:p>
        </p:txBody>
      </p:sp>
      <p:sp>
        <p:nvSpPr>
          <p:cNvPr id="204803" name="Rectangle 3"/>
          <p:cNvSpPr>
            <a:spLocks noGrp="1" noChangeArrowheads="1"/>
          </p:cNvSpPr>
          <p:nvPr>
            <p:ph idx="1"/>
          </p:nvPr>
        </p:nvSpPr>
        <p:spPr>
          <a:xfrm>
            <a:off x="1830705" y="990600"/>
            <a:ext cx="9243695" cy="5360035"/>
          </a:xfrm>
        </p:spPr>
        <p:txBody>
          <a:bodyPr>
            <a:noAutofit/>
          </a:bodyPr>
          <a:lstStyle/>
          <a:p>
            <a:pPr marL="342900" indent="-342900" defTabSz="685800">
              <a:lnSpc>
                <a:spcPts val="3810"/>
              </a:lnSpc>
              <a:buFont typeface="Wingdings" panose="05000000000000000000" pitchFamily="2" charset="2"/>
              <a:buChar char="q"/>
              <a:defRPr/>
            </a:pPr>
            <a:r>
              <a:rPr lang="en-US" b="1" dirty="0">
                <a:sym typeface="+mn-ea"/>
              </a:rPr>
              <a:t>Problem Statement:</a:t>
            </a:r>
            <a:r>
              <a:rPr lang="en-US" dirty="0">
                <a:sym typeface="+mn-ea"/>
              </a:rPr>
              <a:t> Fuel theft is a major economic issue, particularly for commercial fleets, as traditional detection methods are limited.</a:t>
            </a:r>
            <a:endParaRPr lang="en-US" dirty="0"/>
          </a:p>
          <a:p>
            <a:pPr marL="342900" indent="-342900" defTabSz="685800">
              <a:lnSpc>
                <a:spcPts val="3810"/>
              </a:lnSpc>
              <a:buFont typeface="Wingdings" panose="05000000000000000000" pitchFamily="2" charset="2"/>
              <a:buChar char="q"/>
              <a:defRPr/>
            </a:pPr>
            <a:r>
              <a:rPr lang="en-US" b="1" dirty="0">
                <a:sym typeface="+mn-ea"/>
              </a:rPr>
              <a:t>Proposed Solution:</a:t>
            </a:r>
            <a:r>
              <a:rPr lang="en-US" dirty="0">
                <a:sym typeface="+mn-ea"/>
              </a:rPr>
              <a:t> This project introduces a new hybrid system that uses Internet of Things (IoT) sensors and federated machine learning.</a:t>
            </a:r>
            <a:endParaRPr lang="en-US" dirty="0"/>
          </a:p>
          <a:p>
            <a:pPr marL="342900" indent="-342900" defTabSz="685800">
              <a:lnSpc>
                <a:spcPts val="3810"/>
              </a:lnSpc>
              <a:buFont typeface="Wingdings" panose="05000000000000000000" pitchFamily="2" charset="2"/>
              <a:buChar char="q"/>
              <a:defRPr/>
            </a:pPr>
            <a:r>
              <a:rPr lang="en-US" altLang="en-US" b="1" dirty="0">
                <a:sym typeface="+mn-ea"/>
              </a:rPr>
              <a:t>Project Goal:</a:t>
            </a:r>
            <a:r>
              <a:rPr lang="en-US" altLang="en-US" dirty="0">
                <a:sym typeface="+mn-ea"/>
              </a:rPr>
              <a:t> The aim is to create a secure, privacy-friendly, and flexible solution for detecting fuel theft in real-time.</a:t>
            </a:r>
            <a:endParaRPr lang="en-US" altLang="en-US" dirty="0"/>
          </a:p>
          <a:p>
            <a:pPr marL="342900" indent="-342900" defTabSz="685800">
              <a:lnSpc>
                <a:spcPts val="3810"/>
              </a:lnSpc>
              <a:buFont typeface="Wingdings" panose="05000000000000000000" pitchFamily="2" charset="2"/>
              <a:buChar char="q"/>
              <a:defRPr/>
            </a:pPr>
            <a:r>
              <a:rPr lang="en-US" b="1" dirty="0">
                <a:sym typeface="+mn-ea"/>
              </a:rPr>
              <a:t>Methodology:</a:t>
            </a:r>
            <a:r>
              <a:rPr lang="en-US" dirty="0">
                <a:sym typeface="+mn-ea"/>
              </a:rPr>
              <a:t> The system will learn consumption patterns and spot anomalies, avoiding a reliance on fixed thresholds which are often unreliable.</a:t>
            </a:r>
            <a:endParaRPr lang="en-US" dirty="0"/>
          </a:p>
          <a:p>
            <a:pPr marL="342900" indent="-342900" defTabSz="685800">
              <a:lnSpc>
                <a:spcPts val="3810"/>
              </a:lnSpc>
              <a:buFont typeface="Wingdings" panose="05000000000000000000" pitchFamily="2" charset="2"/>
              <a:buChar char="q"/>
              <a:defRPr/>
            </a:pPr>
            <a:r>
              <a:rPr lang="en-US" b="1" dirty="0">
                <a:sym typeface="+mn-ea"/>
              </a:rPr>
              <a:t>Key Advantage:</a:t>
            </a:r>
            <a:r>
              <a:rPr lang="en-US" dirty="0">
                <a:sym typeface="+mn-ea"/>
              </a:rPr>
              <a:t> By learning consumption patterns and detecting anomalies, the system will offer a more effective solution for real-time fuel theft detection.</a:t>
            </a:r>
            <a:endParaRPr lang="en-US" dirty="0">
              <a:solidFill>
                <a:srgbClr val="000000"/>
              </a:solidFill>
              <a:latin typeface="+mj-lt"/>
              <a:ea typeface="Aileron"/>
              <a:cs typeface="Aileron"/>
              <a:sym typeface="Aileron"/>
            </a:endParaRPr>
          </a:p>
          <a:p>
            <a:pPr algn="just" defTabSz="914400" eaLnBrk="0" fontAlgn="base" hangingPunct="0">
              <a:spcBef>
                <a:spcPct val="0"/>
              </a:spcBef>
              <a:spcAft>
                <a:spcPct val="0"/>
              </a:spcAft>
              <a:buClrTx/>
            </a:pPr>
            <a:endParaRPr lang="en-US" altLang="en-US" dirty="0">
              <a:solidFill>
                <a:srgbClr val="000000"/>
              </a:solidFill>
              <a:latin typeface="+mj-lt"/>
              <a:ea typeface="Aileron"/>
              <a:cs typeface="Aileron"/>
              <a:sym typeface="Aileron"/>
            </a:endParaRPr>
          </a:p>
        </p:txBody>
      </p:sp>
      <p:sp>
        <p:nvSpPr>
          <p:cNvPr id="6" name="Slide Number Placeholder 5"/>
          <p:cNvSpPr>
            <a:spLocks noGrp="1"/>
          </p:cNvSpPr>
          <p:nvPr>
            <p:ph type="sldNum" sz="quarter" idx="12"/>
          </p:nvPr>
        </p:nvSpPr>
        <p:spPr/>
        <p:txBody>
          <a:bodyPr/>
          <a:lstStyle/>
          <a:p>
            <a:fld id="{6A9AC29F-A1C5-4BC9-A32D-14C260CBCCDC}" type="slidenum">
              <a:rPr lang="en-US" sz="1500"/>
              <a:t>4</a:t>
            </a:fld>
            <a:endParaRPr lang="en-US" sz="15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788035"/>
            <a:ext cx="6172200" cy="536972"/>
          </a:xfrm>
        </p:spPr>
        <p:txBody>
          <a:bodyPr/>
          <a:lstStyle/>
          <a:p>
            <a:pPr algn="ctr"/>
            <a:r>
              <a:rPr lang="en-US" sz="2700" b="1" dirty="0">
                <a:latin typeface="Bookman Old Style" panose="02050604050505020204" pitchFamily="18" charset="0"/>
              </a:rPr>
              <a:t>OBJECTIVE</a:t>
            </a:r>
          </a:p>
        </p:txBody>
      </p:sp>
      <p:sp>
        <p:nvSpPr>
          <p:cNvPr id="3" name="Content Placeholder 2"/>
          <p:cNvSpPr>
            <a:spLocks noGrp="1"/>
          </p:cNvSpPr>
          <p:nvPr>
            <p:ph idx="1"/>
          </p:nvPr>
        </p:nvSpPr>
        <p:spPr>
          <a:xfrm>
            <a:off x="1600200" y="1752600"/>
            <a:ext cx="9605010" cy="4978400"/>
          </a:xfrm>
        </p:spPr>
        <p:txBody>
          <a:bodyPr>
            <a:noAutofit/>
          </a:bodyPr>
          <a:lstStyle/>
          <a:p>
            <a:pPr>
              <a:lnSpc>
                <a:spcPct val="100000"/>
              </a:lnSpc>
            </a:pPr>
            <a:r>
              <a:rPr lang="en-US" sz="2000" b="1" dirty="0">
                <a:sym typeface="+mn-ea"/>
              </a:rPr>
              <a:t>Develop a smart, adaptive system to detect fuel theft in vehicles.</a:t>
            </a:r>
            <a:r>
              <a:rPr lang="en-US" sz="2000" dirty="0">
                <a:sym typeface="+mn-ea"/>
              </a:rPr>
              <a:t> This system aims to be intelligent and adjust to different conditions to accurately identify theft.</a:t>
            </a:r>
            <a:endParaRPr lang="en-US" sz="2000" dirty="0"/>
          </a:p>
          <a:p>
            <a:pPr defTabSz="685800">
              <a:lnSpc>
                <a:spcPct val="100000"/>
              </a:lnSpc>
              <a:defRPr/>
            </a:pPr>
            <a:r>
              <a:rPr lang="en-US" sz="2000" b="1" dirty="0">
                <a:sym typeface="+mn-ea"/>
              </a:rPr>
              <a:t>Integrate IoT-based fuel monitoring with a Federated machine learning model to spot theft events.</a:t>
            </a:r>
            <a:r>
              <a:rPr lang="en-US" sz="2000" dirty="0">
                <a:sym typeface="+mn-ea"/>
              </a:rPr>
              <a:t> The goal is to combine hardware sensors with a collaborative learning model to improve detection capabilities.</a:t>
            </a:r>
            <a:endParaRPr lang="en-US" sz="2000" dirty="0"/>
          </a:p>
          <a:p>
            <a:pPr defTabSz="685800">
              <a:lnSpc>
                <a:spcPct val="100000"/>
              </a:lnSpc>
              <a:defRPr/>
            </a:pPr>
            <a:r>
              <a:rPr lang="en-US" sz="2000" b="1" dirty="0">
                <a:sym typeface="+mn-ea"/>
              </a:rPr>
              <a:t>Minimize false alarms by including contextual features and learning typical consumption patterns.</a:t>
            </a:r>
            <a:r>
              <a:rPr lang="en-US" sz="2000" dirty="0">
                <a:sym typeface="+mn-ea"/>
              </a:rPr>
              <a:t> This will make the system more reliable by differentiating between normal fuel usage and actual theft.</a:t>
            </a:r>
            <a:endParaRPr lang="en-US" sz="2000" dirty="0"/>
          </a:p>
          <a:p>
            <a:pPr defTabSz="685800">
              <a:lnSpc>
                <a:spcPct val="100000"/>
              </a:lnSpc>
              <a:defRPr/>
            </a:pPr>
            <a:r>
              <a:rPr lang="en-US" sz="2000" b="1" dirty="0">
                <a:sym typeface="+mn-ea"/>
              </a:rPr>
              <a:t>Evaluate the model's accuracy, precision, recall, and detection latency.</a:t>
            </a:r>
            <a:r>
              <a:rPr lang="en-US" sz="2000" dirty="0">
                <a:sym typeface="+mn-ea"/>
              </a:rPr>
              <a:t> This is to measure the effectiveness and efficiency of the proposed system.</a:t>
            </a:r>
            <a:endParaRPr lang="en-US" sz="2000" dirty="0"/>
          </a:p>
          <a:p>
            <a:pPr>
              <a:lnSpc>
                <a:spcPct val="100000"/>
              </a:lnSpc>
            </a:pPr>
            <a:endParaRPr lang="en-US" sz="2000" dirty="0"/>
          </a:p>
          <a:p>
            <a:pPr algn="just"/>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5</a:t>
            </a:fld>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009900" y="788171"/>
            <a:ext cx="6172200" cy="857250"/>
          </a:xfrm>
        </p:spPr>
        <p:txBody>
          <a:bodyPr/>
          <a:lstStyle/>
          <a:p>
            <a:pPr algn="ctr"/>
            <a:r>
              <a:rPr lang="en-US" sz="2700" b="1" dirty="0">
                <a:latin typeface="Bookman Old Style" panose="02050604050505020204" pitchFamily="18" charset="0"/>
              </a:rPr>
              <a:t>LITERATURE REVIEW </a:t>
            </a:r>
            <a:endParaRPr lang="en-US" sz="27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6</a:t>
            </a:fld>
            <a:endParaRPr lang="en-US" sz="1500" dirty="0"/>
          </a:p>
        </p:txBody>
      </p:sp>
      <p:graphicFrame>
        <p:nvGraphicFramePr>
          <p:cNvPr id="5" name="Table Placeholder 3"/>
          <p:cNvGraphicFramePr/>
          <p:nvPr>
            <p:custDataLst>
              <p:tags r:id="rId1"/>
            </p:custDataLst>
          </p:nvPr>
        </p:nvGraphicFramePr>
        <p:xfrm>
          <a:off x="1040765" y="1341755"/>
          <a:ext cx="10678160" cy="5449570"/>
        </p:xfrm>
        <a:graphic>
          <a:graphicData uri="http://schemas.openxmlformats.org/drawingml/2006/table">
            <a:tbl>
              <a:tblPr firstRow="1" bandRow="1">
                <a:tableStyleId>{69CF1AB2-1976-4502-BF36-3FF5EA218861}</a:tableStyleId>
              </a:tblPr>
              <a:tblGrid>
                <a:gridCol w="3409315">
                  <a:extLst>
                    <a:ext uri="{9D8B030D-6E8A-4147-A177-3AD203B41FA5}">
                      <a16:colId xmlns:a16="http://schemas.microsoft.com/office/drawing/2014/main" val="20000"/>
                    </a:ext>
                  </a:extLst>
                </a:gridCol>
                <a:gridCol w="2392045">
                  <a:extLst>
                    <a:ext uri="{9D8B030D-6E8A-4147-A177-3AD203B41FA5}">
                      <a16:colId xmlns:a16="http://schemas.microsoft.com/office/drawing/2014/main" val="20001"/>
                    </a:ext>
                  </a:extLst>
                </a:gridCol>
                <a:gridCol w="2207260">
                  <a:extLst>
                    <a:ext uri="{9D8B030D-6E8A-4147-A177-3AD203B41FA5}">
                      <a16:colId xmlns:a16="http://schemas.microsoft.com/office/drawing/2014/main" val="20002"/>
                    </a:ext>
                  </a:extLst>
                </a:gridCol>
                <a:gridCol w="2669540">
                  <a:extLst>
                    <a:ext uri="{9D8B030D-6E8A-4147-A177-3AD203B41FA5}">
                      <a16:colId xmlns:a16="http://schemas.microsoft.com/office/drawing/2014/main" val="20003"/>
                    </a:ext>
                  </a:extLst>
                </a:gridCol>
              </a:tblGrid>
              <a:tr h="553085">
                <a:tc>
                  <a:txBody>
                    <a:bodyPr/>
                    <a:lstStyle/>
                    <a:p>
                      <a:pPr>
                        <a:buNone/>
                      </a:pPr>
                      <a:r>
                        <a:rPr lang="en-IN" sz="1600" b="1"/>
                        <a:t>Title</a:t>
                      </a:r>
                    </a:p>
                  </a:txBody>
                  <a:tcPr marL="68580" marR="68580" marT="34290" marB="34290" anchor="ctr"/>
                </a:tc>
                <a:tc>
                  <a:txBody>
                    <a:bodyPr/>
                    <a:lstStyle/>
                    <a:p>
                      <a:pPr>
                        <a:buNone/>
                      </a:pPr>
                      <a:r>
                        <a:rPr lang="en-IN" sz="1600" b="1"/>
                        <a:t>Year</a:t>
                      </a:r>
                    </a:p>
                  </a:txBody>
                  <a:tcPr marL="68580" marR="68580" marT="34290" marB="34290" anchor="ctr"/>
                </a:tc>
                <a:tc>
                  <a:txBody>
                    <a:bodyPr/>
                    <a:lstStyle/>
                    <a:p>
                      <a:pPr>
                        <a:buNone/>
                      </a:pPr>
                      <a:r>
                        <a:rPr lang="en-IN" sz="1600" b="1"/>
                        <a:t>Authors</a:t>
                      </a:r>
                    </a:p>
                  </a:txBody>
                  <a:tcPr marL="68580" marR="68580" marT="34290" marB="34290" anchor="ctr"/>
                </a:tc>
                <a:tc>
                  <a:txBody>
                    <a:bodyPr/>
                    <a:lstStyle/>
                    <a:p>
                      <a:pPr>
                        <a:buNone/>
                      </a:pPr>
                      <a:r>
                        <a:rPr lang="en-IN" sz="1600" b="1" dirty="0"/>
                        <a:t>Contribution</a:t>
                      </a:r>
                    </a:p>
                  </a:txBody>
                  <a:tcPr marL="68580" marR="68580" marT="34290" marB="34290" anchor="ctr"/>
                </a:tc>
                <a:extLst>
                  <a:ext uri="{0D108BD9-81ED-4DB2-BD59-A6C34878D82A}">
                    <a16:rowId xmlns:a16="http://schemas.microsoft.com/office/drawing/2014/main" val="10000"/>
                  </a:ext>
                </a:extLst>
              </a:tr>
              <a:tr h="1232535">
                <a:tc>
                  <a:txBody>
                    <a:bodyPr/>
                    <a:lstStyle/>
                    <a:p>
                      <a:pPr algn="ctr"/>
                      <a:r>
                        <a:rPr lang="en-US" sz="1200" dirty="0">
                          <a:sym typeface="+mn-ea"/>
                        </a:rPr>
                        <a:t>Fuel Monitoring System Using IOT Device</a:t>
                      </a:r>
                      <a:endParaRPr lang="en-US" sz="1200" b="1" dirty="0">
                        <a:sym typeface="+mn-ea"/>
                      </a:endParaRPr>
                    </a:p>
                  </a:txBody>
                  <a:tcPr marL="68580" marR="68580" marT="34290" marB="34290" anchor="ctr"/>
                </a:tc>
                <a:tc>
                  <a:txBody>
                    <a:bodyPr/>
                    <a:lstStyle/>
                    <a:p>
                      <a:pPr>
                        <a:buNone/>
                      </a:pPr>
                      <a:r>
                        <a:rPr lang="en-IN" sz="1400"/>
                        <a:t>20</a:t>
                      </a:r>
                      <a:r>
                        <a:rPr lang="en-US" altLang="en-IN" sz="1400"/>
                        <a:t>24</a:t>
                      </a:r>
                    </a:p>
                  </a:txBody>
                  <a:tcPr marL="68580" marR="68580" marT="34290" marB="34290" anchor="ctr"/>
                </a:tc>
                <a:tc>
                  <a:txBody>
                    <a:bodyPr/>
                    <a:lstStyle/>
                    <a:p>
                      <a:pPr>
                        <a:buNone/>
                      </a:pPr>
                      <a:r>
                        <a:rPr lang="en-IN" sz="1000" dirty="0">
                          <a:sym typeface="+mn-ea"/>
                        </a:rPr>
                        <a:t>Durvesh S. Chaudhari, Aditya P. </a:t>
                      </a:r>
                      <a:r>
                        <a:rPr lang="en-IN" sz="1000" dirty="0" err="1">
                          <a:sym typeface="+mn-ea"/>
                        </a:rPr>
                        <a:t>Talmale</a:t>
                      </a:r>
                      <a:r>
                        <a:rPr lang="en-IN" sz="1000" dirty="0">
                          <a:sym typeface="+mn-ea"/>
                        </a:rPr>
                        <a:t>, Guruprasad R. </a:t>
                      </a:r>
                      <a:r>
                        <a:rPr lang="en-IN" sz="1000" dirty="0" err="1">
                          <a:sym typeface="+mn-ea"/>
                        </a:rPr>
                        <a:t>Phulwale</a:t>
                      </a:r>
                      <a:r>
                        <a:rPr lang="en-IN" sz="1000" dirty="0">
                          <a:sym typeface="+mn-ea"/>
                        </a:rPr>
                        <a:t>, Nikhil R. </a:t>
                      </a:r>
                      <a:r>
                        <a:rPr lang="en-IN" sz="1000" dirty="0" err="1">
                          <a:sym typeface="+mn-ea"/>
                        </a:rPr>
                        <a:t>Bangal</a:t>
                      </a:r>
                      <a:r>
                        <a:rPr lang="en-IN" sz="1000" dirty="0">
                          <a:sym typeface="+mn-ea"/>
                        </a:rPr>
                        <a:t>, Prof. Neha U. </a:t>
                      </a:r>
                      <a:r>
                        <a:rPr lang="en-IN" sz="1000" dirty="0" err="1">
                          <a:sym typeface="+mn-ea"/>
                        </a:rPr>
                        <a:t>Karande</a:t>
                      </a:r>
                    </a:p>
                  </a:txBody>
                  <a:tcPr marL="68580" marR="68580" marT="34290" marB="34290" anchor="ctr"/>
                </a:tc>
                <a:tc>
                  <a:txBody>
                    <a:bodyPr/>
                    <a:lstStyle/>
                    <a:p>
                      <a:pPr>
                        <a:buNone/>
                      </a:pPr>
                      <a:r>
                        <a:rPr lang="en-US" sz="1000" dirty="0">
                          <a:sym typeface="+mn-ea"/>
                        </a:rPr>
                        <a:t>This system uses a </a:t>
                      </a:r>
                      <a:r>
                        <a:rPr lang="en-US" sz="1000" b="1" dirty="0">
                          <a:sym typeface="+mn-ea"/>
                        </a:rPr>
                        <a:t>capacitive fuel sensor</a:t>
                      </a:r>
                      <a:r>
                        <a:rPr lang="en-US" sz="1000" dirty="0">
                          <a:sym typeface="+mn-ea"/>
                        </a:rPr>
                        <a:t> for level monitoring and an </a:t>
                      </a:r>
                      <a:r>
                        <a:rPr lang="en-US" sz="1000" b="1" dirty="0">
                          <a:sym typeface="+mn-ea"/>
                        </a:rPr>
                        <a:t>RFID locking mechanism</a:t>
                      </a:r>
                      <a:r>
                        <a:rPr lang="en-US" sz="1000" dirty="0">
                          <a:sym typeface="+mn-ea"/>
                        </a:rPr>
                        <a:t> to prevent theft. A </a:t>
                      </a:r>
                      <a:r>
                        <a:rPr lang="en-US" sz="1000" b="1" dirty="0">
                          <a:sym typeface="+mn-ea"/>
                        </a:rPr>
                        <a:t>SIM900D</a:t>
                      </a:r>
                      <a:r>
                        <a:rPr lang="en-US" sz="1000" dirty="0">
                          <a:sym typeface="+mn-ea"/>
                        </a:rPr>
                        <a:t> and a </a:t>
                      </a:r>
                      <a:r>
                        <a:rPr lang="en-US" sz="1000" b="1" dirty="0">
                          <a:sym typeface="+mn-ea"/>
                        </a:rPr>
                        <a:t>GPS module</a:t>
                      </a:r>
                      <a:r>
                        <a:rPr lang="en-US" sz="1000" dirty="0">
                          <a:sym typeface="+mn-ea"/>
                        </a:rPr>
                        <a:t> are used for alerts and real-time tracking of the tank. The system is designed to be easily retrofitted to existing tanks.</a:t>
                      </a:r>
                    </a:p>
                  </a:txBody>
                  <a:tcPr marL="68580" marR="68580" marT="34290" marB="34290" anchor="ctr"/>
                </a:tc>
                <a:extLst>
                  <a:ext uri="{0D108BD9-81ED-4DB2-BD59-A6C34878D82A}">
                    <a16:rowId xmlns:a16="http://schemas.microsoft.com/office/drawing/2014/main" val="10001"/>
                  </a:ext>
                </a:extLst>
              </a:tr>
              <a:tr h="108712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dirty="0">
                          <a:sym typeface="+mn-ea"/>
                        </a:rPr>
                        <a:t>Smart Fuel Theft Detection And Monitoring System Using IOT With </a:t>
                      </a:r>
                      <a:r>
                        <a:rPr lang="en-US" sz="1200" dirty="0" err="1">
                          <a:sym typeface="+mn-ea"/>
                        </a:rPr>
                        <a:t>Gps</a:t>
                      </a:r>
                      <a:r>
                        <a:rPr lang="en-US" sz="1200" dirty="0">
                          <a:sym typeface="+mn-ea"/>
                        </a:rPr>
                        <a:t> And GSM Integration</a:t>
                      </a:r>
                      <a:endParaRPr lang="en-US" sz="1200" b="1" dirty="0">
                        <a:sym typeface="+mn-ea"/>
                      </a:endParaRPr>
                    </a:p>
                  </a:txBody>
                  <a:tcPr marL="68580" marR="68580" marT="34290" marB="34290" anchor="ctr"/>
                </a:tc>
                <a:tc>
                  <a:txBody>
                    <a:bodyPr/>
                    <a:lstStyle/>
                    <a:p>
                      <a:pPr>
                        <a:buNone/>
                      </a:pPr>
                      <a:r>
                        <a:rPr lang="en-IN" sz="1400"/>
                        <a:t>20</a:t>
                      </a:r>
                      <a:r>
                        <a:rPr lang="en-US" altLang="en-IN" sz="1400"/>
                        <a:t>25</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000" dirty="0">
                          <a:sym typeface="+mn-ea"/>
                        </a:rPr>
                        <a:t>Smart Fuel Theft Detection And Monitoring System Using IOT With </a:t>
                      </a:r>
                      <a:r>
                        <a:rPr lang="en-US" sz="1000" dirty="0" err="1">
                          <a:sym typeface="+mn-ea"/>
                        </a:rPr>
                        <a:t>Gps</a:t>
                      </a:r>
                      <a:r>
                        <a:rPr lang="en-US" sz="1000" dirty="0">
                          <a:sym typeface="+mn-ea"/>
                        </a:rPr>
                        <a:t> And GSM Integration</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000" dirty="0">
                          <a:sym typeface="+mn-ea"/>
                        </a:rPr>
                        <a:t>A hybrid system that uses a </a:t>
                      </a:r>
                      <a:r>
                        <a:rPr lang="en-US" sz="1000" b="1" dirty="0">
                          <a:sym typeface="+mn-ea"/>
                        </a:rPr>
                        <a:t>resistance-based sensor</a:t>
                      </a:r>
                      <a:r>
                        <a:rPr lang="en-US" sz="1000" dirty="0">
                          <a:sym typeface="+mn-ea"/>
                        </a:rPr>
                        <a:t> for fuel level and a </a:t>
                      </a:r>
                      <a:r>
                        <a:rPr lang="en-US" sz="1000" b="1" dirty="0">
                          <a:sym typeface="+mn-ea"/>
                        </a:rPr>
                        <a:t>voltage sensor</a:t>
                      </a:r>
                      <a:r>
                        <a:rPr lang="en-US" sz="1000" dirty="0">
                          <a:sym typeface="+mn-ea"/>
                        </a:rPr>
                        <a:t> for battery State of Charge. An </a:t>
                      </a:r>
                      <a:r>
                        <a:rPr lang="en-US" sz="1000" b="1" dirty="0">
                          <a:sym typeface="+mn-ea"/>
                        </a:rPr>
                        <a:t>Arduino Uno</a:t>
                      </a:r>
                      <a:r>
                        <a:rPr lang="en-US" sz="1000" dirty="0">
                          <a:sym typeface="+mn-ea"/>
                        </a:rPr>
                        <a:t> records </a:t>
                      </a:r>
                      <a:r>
                        <a:rPr lang="en-US" sz="1000" b="1" dirty="0">
                          <a:sym typeface="+mn-ea"/>
                        </a:rPr>
                        <a:t>GPS coordinates</a:t>
                      </a:r>
                      <a:r>
                        <a:rPr lang="en-US" sz="1000" dirty="0">
                          <a:sym typeface="+mn-ea"/>
                        </a:rPr>
                        <a:t> and sends </a:t>
                      </a:r>
                      <a:r>
                        <a:rPr lang="en-US" sz="1000" b="1" dirty="0">
                          <a:sym typeface="+mn-ea"/>
                        </a:rPr>
                        <a:t>SMS alerts</a:t>
                      </a:r>
                      <a:r>
                        <a:rPr lang="en-US" sz="1000" dirty="0">
                          <a:sym typeface="+mn-ea"/>
                        </a:rPr>
                        <a:t> via a </a:t>
                      </a:r>
                      <a:r>
                        <a:rPr lang="en-US" sz="1000" b="1" dirty="0">
                          <a:sym typeface="+mn-ea"/>
                        </a:rPr>
                        <a:t>GSM module</a:t>
                      </a:r>
                      <a:r>
                        <a:rPr lang="en-US" sz="1000" dirty="0">
                          <a:sym typeface="+mn-ea"/>
                        </a:rPr>
                        <a:t> when anomalies are detected.</a:t>
                      </a:r>
                    </a:p>
                  </a:txBody>
                  <a:tcPr marL="68580" marR="68580" marT="34290" marB="34290" anchor="ctr"/>
                </a:tc>
                <a:extLst>
                  <a:ext uri="{0D108BD9-81ED-4DB2-BD59-A6C34878D82A}">
                    <a16:rowId xmlns:a16="http://schemas.microsoft.com/office/drawing/2014/main" val="10002"/>
                  </a:ext>
                </a:extLst>
              </a:tr>
              <a:tr h="86995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dirty="0">
                          <a:sym typeface="+mn-ea"/>
                        </a:rPr>
                        <a:t>Fuel Theft Detection System with Automated Calling and Alert Using GSM</a:t>
                      </a:r>
                      <a:endParaRPr lang="en-US" sz="1200" b="1" dirty="0">
                        <a:sym typeface="+mn-ea"/>
                      </a:endParaRPr>
                    </a:p>
                  </a:txBody>
                  <a:tcPr marL="68580" marR="68580" marT="34290" marB="34290" anchor="ctr"/>
                </a:tc>
                <a:tc>
                  <a:txBody>
                    <a:bodyPr/>
                    <a:lstStyle/>
                    <a:p>
                      <a:pPr>
                        <a:buNone/>
                      </a:pPr>
                      <a:r>
                        <a:rPr lang="en-IN" sz="1400"/>
                        <a:t>20</a:t>
                      </a:r>
                      <a:r>
                        <a:rPr lang="en-US" altLang="en-IN" sz="1400"/>
                        <a:t>24</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000" dirty="0">
                          <a:sym typeface="+mn-ea"/>
                        </a:rPr>
                        <a:t>G Madhusudhana Rao, </a:t>
                      </a:r>
                      <a:r>
                        <a:rPr lang="en-IN" sz="1000" dirty="0" err="1">
                          <a:sym typeface="+mn-ea"/>
                        </a:rPr>
                        <a:t>Kowtharapu</a:t>
                      </a:r>
                      <a:r>
                        <a:rPr lang="en-IN" sz="1000" dirty="0">
                          <a:sym typeface="+mn-ea"/>
                        </a:rPr>
                        <a:t> Kranthi Kumar, </a:t>
                      </a:r>
                      <a:r>
                        <a:rPr lang="en-IN" sz="1000" dirty="0" err="1">
                          <a:sym typeface="+mn-ea"/>
                        </a:rPr>
                        <a:t>Lakkavaram</a:t>
                      </a:r>
                      <a:r>
                        <a:rPr lang="en-IN" sz="1000" dirty="0">
                          <a:sym typeface="+mn-ea"/>
                        </a:rPr>
                        <a:t> </a:t>
                      </a:r>
                      <a:r>
                        <a:rPr lang="en-IN" sz="1000" dirty="0" err="1">
                          <a:sym typeface="+mn-ea"/>
                        </a:rPr>
                        <a:t>Ponnuswami</a:t>
                      </a:r>
                      <a:r>
                        <a:rPr lang="en-IN" sz="1000" dirty="0">
                          <a:sym typeface="+mn-ea"/>
                        </a:rPr>
                        <a:t> Linus, Kummari Sathwik, </a:t>
                      </a:r>
                      <a:r>
                        <a:rPr lang="en-IN" sz="1000" dirty="0" err="1">
                          <a:sym typeface="+mn-ea"/>
                        </a:rPr>
                        <a:t>Karyamsetty</a:t>
                      </a:r>
                      <a:r>
                        <a:rPr lang="en-IN" sz="1000" dirty="0">
                          <a:sym typeface="+mn-ea"/>
                        </a:rPr>
                        <a:t> Vamsi, </a:t>
                      </a:r>
                      <a:r>
                        <a:rPr lang="en-IN" sz="1000" dirty="0" err="1">
                          <a:sym typeface="+mn-ea"/>
                        </a:rPr>
                        <a:t>Jonnakuti</a:t>
                      </a:r>
                      <a:r>
                        <a:rPr lang="en-IN" sz="1000" dirty="0">
                          <a:sym typeface="+mn-ea"/>
                        </a:rPr>
                        <a:t> Pavan Charith</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900" dirty="0">
                          <a:sym typeface="+mn-ea"/>
                        </a:rPr>
                        <a:t>This system uses specialized </a:t>
                      </a:r>
                      <a:r>
                        <a:rPr lang="en-US" sz="900" b="1" dirty="0">
                          <a:sym typeface="+mn-ea"/>
                        </a:rPr>
                        <a:t>sensors</a:t>
                      </a:r>
                      <a:r>
                        <a:rPr lang="en-US" sz="900" dirty="0">
                          <a:sym typeface="+mn-ea"/>
                        </a:rPr>
                        <a:t> to detect a sudden drop in fuel. When theft is detected, the system sends an </a:t>
                      </a:r>
                      <a:r>
                        <a:rPr lang="en-US" sz="900" b="1" dirty="0">
                          <a:sym typeface="+mn-ea"/>
                        </a:rPr>
                        <a:t>SMS</a:t>
                      </a:r>
                      <a:r>
                        <a:rPr lang="en-US" sz="900" dirty="0">
                          <a:sym typeface="+mn-ea"/>
                        </a:rPr>
                        <a:t> and makes an </a:t>
                      </a:r>
                      <a:r>
                        <a:rPr lang="en-US" sz="900" b="1" dirty="0">
                          <a:sym typeface="+mn-ea"/>
                        </a:rPr>
                        <a:t>automated phone call</a:t>
                      </a:r>
                      <a:r>
                        <a:rPr lang="en-US" sz="900" dirty="0">
                          <a:sym typeface="+mn-ea"/>
                        </a:rPr>
                        <a:t> to the owner and activates an audible </a:t>
                      </a:r>
                      <a:r>
                        <a:rPr lang="en-US" sz="900" b="1" dirty="0">
                          <a:sym typeface="+mn-ea"/>
                        </a:rPr>
                        <a:t>alarm</a:t>
                      </a:r>
                      <a:r>
                        <a:rPr lang="en-US" sz="900" dirty="0">
                          <a:sym typeface="+mn-ea"/>
                        </a:rPr>
                        <a:t> as a deterrent.</a:t>
                      </a:r>
                    </a:p>
                  </a:txBody>
                  <a:tcPr marL="68580" marR="68580" marT="34290" marB="34290" anchor="ctr"/>
                </a:tc>
                <a:extLst>
                  <a:ext uri="{0D108BD9-81ED-4DB2-BD59-A6C34878D82A}">
                    <a16:rowId xmlns:a16="http://schemas.microsoft.com/office/drawing/2014/main" val="10003"/>
                  </a:ext>
                </a:extLst>
              </a:tr>
              <a:tr h="93091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000" dirty="0">
                          <a:sym typeface="+mn-ea"/>
                        </a:rPr>
                        <a:t>I</a:t>
                      </a:r>
                      <a:r>
                        <a:rPr lang="en-IN" sz="1200" dirty="0">
                          <a:sym typeface="+mn-ea"/>
                        </a:rPr>
                        <a:t>OT Based Fuel Tank Monitoring System</a:t>
                      </a:r>
                      <a:endParaRPr lang="en-IN" sz="1200" b="1" dirty="0">
                        <a:sym typeface="+mn-ea"/>
                      </a:endParaRPr>
                    </a:p>
                  </a:txBody>
                  <a:tcPr marL="68580" marR="68580" marT="34290" marB="34290" anchor="ctr"/>
                </a:tc>
                <a:tc>
                  <a:txBody>
                    <a:bodyPr/>
                    <a:lstStyle/>
                    <a:p>
                      <a:pPr>
                        <a:buNone/>
                      </a:pPr>
                      <a:r>
                        <a:rPr lang="en-IN" sz="1200"/>
                        <a:t>20</a:t>
                      </a:r>
                      <a:r>
                        <a:rPr lang="en-US" altLang="en-IN" sz="1200"/>
                        <a:t>25</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200" dirty="0">
                          <a:sym typeface="+mn-ea"/>
                        </a:rPr>
                        <a:t>IOT Based Fuel Tank Monitoring System</a:t>
                      </a:r>
                    </a:p>
                  </a:txBody>
                  <a:tcPr marL="68580" marR="68580" marT="34290" marB="34290" anchor="ctr"/>
                </a:tc>
                <a:tc>
                  <a:txBody>
                    <a:bodyPr/>
                    <a:lstStyle/>
                    <a:p>
                      <a:pPr>
                        <a:buNone/>
                      </a:pPr>
                      <a:r>
                        <a:rPr lang="en-IN" sz="830" dirty="0">
                          <a:sym typeface="+mn-ea"/>
                        </a:rPr>
                        <a:t>This system uses an </a:t>
                      </a:r>
                      <a:r>
                        <a:rPr lang="en-IN" sz="830" b="1" dirty="0">
                          <a:sym typeface="+mn-ea"/>
                        </a:rPr>
                        <a:t>ESP32 microcontroller</a:t>
                      </a:r>
                      <a:r>
                        <a:rPr lang="en-IN" sz="830" dirty="0">
                          <a:sym typeface="+mn-ea"/>
                        </a:rPr>
                        <a:t> with an </a:t>
                      </a:r>
                      <a:r>
                        <a:rPr lang="en-IN" sz="830" b="1" dirty="0">
                          <a:sym typeface="+mn-ea"/>
                        </a:rPr>
                        <a:t>ultrasonic sensor</a:t>
                      </a:r>
                      <a:r>
                        <a:rPr lang="en-IN" sz="830" dirty="0">
                          <a:sym typeface="+mn-ea"/>
                        </a:rPr>
                        <a:t> for fuel monitoring. It includes a </a:t>
                      </a:r>
                      <a:r>
                        <a:rPr lang="en-IN" sz="830" b="1" dirty="0">
                          <a:sym typeface="+mn-ea"/>
                        </a:rPr>
                        <a:t>keypad</a:t>
                      </a:r>
                      <a:r>
                        <a:rPr lang="en-IN" sz="830" dirty="0">
                          <a:sym typeface="+mn-ea"/>
                        </a:rPr>
                        <a:t> for password entry and a </a:t>
                      </a:r>
                      <a:r>
                        <a:rPr lang="en-IN" sz="830" b="1" dirty="0">
                          <a:sym typeface="+mn-ea"/>
                        </a:rPr>
                        <a:t>servo motor</a:t>
                      </a:r>
                      <a:r>
                        <a:rPr lang="en-IN" sz="830" dirty="0">
                          <a:sym typeface="+mn-ea"/>
                        </a:rPr>
                        <a:t> for tank locking. A </a:t>
                      </a:r>
                      <a:r>
                        <a:rPr lang="en-IN" sz="830" b="1" dirty="0">
                          <a:sym typeface="+mn-ea"/>
                        </a:rPr>
                        <a:t>GSM module</a:t>
                      </a:r>
                      <a:r>
                        <a:rPr lang="en-IN" sz="830" dirty="0">
                          <a:sym typeface="+mn-ea"/>
                        </a:rPr>
                        <a:t> sends </a:t>
                      </a:r>
                      <a:r>
                        <a:rPr lang="en-IN" sz="830" b="1" dirty="0">
                          <a:sym typeface="+mn-ea"/>
                        </a:rPr>
                        <a:t>SMS alerts</a:t>
                      </a:r>
                      <a:r>
                        <a:rPr lang="en-IN" sz="830" dirty="0">
                          <a:sym typeface="+mn-ea"/>
                        </a:rPr>
                        <a:t> for unauthorized attempts, and a </a:t>
                      </a:r>
                      <a:r>
                        <a:rPr lang="en-IN" sz="830" b="1" dirty="0">
                          <a:sym typeface="+mn-ea"/>
                        </a:rPr>
                        <a:t>buzzer</a:t>
                      </a:r>
                      <a:r>
                        <a:rPr lang="en-IN" sz="830" dirty="0">
                          <a:sym typeface="+mn-ea"/>
                        </a:rPr>
                        <a:t> is triggered after three incorrect password entries.</a:t>
                      </a:r>
                    </a:p>
                  </a:txBody>
                  <a:tcPr marL="68580" marR="68580" marT="34290" marB="34290" anchor="ctr"/>
                </a:tc>
                <a:extLst>
                  <a:ext uri="{0D108BD9-81ED-4DB2-BD59-A6C34878D82A}">
                    <a16:rowId xmlns:a16="http://schemas.microsoft.com/office/drawing/2014/main" val="10004"/>
                  </a:ext>
                </a:extLst>
              </a:tr>
              <a:tr h="75438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400" dirty="0">
                          <a:sym typeface="+mn-ea"/>
                        </a:rPr>
                        <a:t>Detecting Fuel Theft with Arduino</a:t>
                      </a:r>
                      <a:endParaRPr lang="en-US" sz="1400" b="1" dirty="0">
                        <a:sym typeface="+mn-ea"/>
                      </a:endParaRPr>
                    </a:p>
                  </a:txBody>
                  <a:tcPr marL="68580" marR="68580" marT="34290" marB="34290" anchor="ctr"/>
                </a:tc>
                <a:tc>
                  <a:txBody>
                    <a:bodyPr/>
                    <a:lstStyle/>
                    <a:p>
                      <a:pPr>
                        <a:buNone/>
                      </a:pPr>
                      <a:r>
                        <a:rPr lang="en-IN" sz="1050"/>
                        <a:t>20</a:t>
                      </a:r>
                      <a:r>
                        <a:rPr lang="en-US" altLang="en-IN" sz="1050"/>
                        <a:t>25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000" dirty="0">
                          <a:sym typeface="+mn-ea"/>
                        </a:rPr>
                        <a:t>Adhithya Madhavan, Santhosh Sivan J, </a:t>
                      </a:r>
                      <a:r>
                        <a:rPr lang="en-IN" sz="1000" dirty="0" err="1">
                          <a:sym typeface="+mn-ea"/>
                        </a:rPr>
                        <a:t>Ayyarraja</a:t>
                      </a:r>
                      <a:r>
                        <a:rPr lang="en-IN" sz="1000" dirty="0">
                          <a:sym typeface="+mn-ea"/>
                        </a:rPr>
                        <a:t>, Mrs. Sheela A</a:t>
                      </a:r>
                    </a:p>
                  </a:txBody>
                  <a:tcPr marL="68580" marR="68580" marT="34290" marB="34290" anchor="ctr"/>
                </a:tc>
                <a:tc>
                  <a:txBody>
                    <a:bodyPr/>
                    <a:lstStyle/>
                    <a:p>
                      <a:pPr>
                        <a:buNone/>
                      </a:pPr>
                      <a:r>
                        <a:rPr lang="en-US" sz="750" dirty="0">
                          <a:sym typeface="+mn-ea"/>
                        </a:rPr>
                        <a:t>An </a:t>
                      </a:r>
                      <a:r>
                        <a:rPr lang="en-US" sz="750" b="1" dirty="0">
                          <a:sym typeface="+mn-ea"/>
                        </a:rPr>
                        <a:t>Arduino-based</a:t>
                      </a:r>
                      <a:r>
                        <a:rPr lang="en-US" sz="750" dirty="0">
                          <a:sym typeface="+mn-ea"/>
                        </a:rPr>
                        <a:t> system with a </a:t>
                      </a:r>
                      <a:r>
                        <a:rPr lang="en-US" sz="750" b="1" dirty="0">
                          <a:sym typeface="+mn-ea"/>
                        </a:rPr>
                        <a:t>submersible level sensor</a:t>
                      </a:r>
                      <a:r>
                        <a:rPr lang="en-US" sz="750" dirty="0">
                          <a:sym typeface="+mn-ea"/>
                        </a:rPr>
                        <a:t> that detects a rapid decrease in fuel when the ignition is off. It uses a </a:t>
                      </a:r>
                      <a:r>
                        <a:rPr lang="en-US" sz="750" b="1" dirty="0">
                          <a:sym typeface="+mn-ea"/>
                        </a:rPr>
                        <a:t>GSM module</a:t>
                      </a:r>
                      <a:r>
                        <a:rPr lang="en-US" sz="750" dirty="0">
                          <a:sym typeface="+mn-ea"/>
                        </a:rPr>
                        <a:t> to send an </a:t>
                      </a:r>
                      <a:r>
                        <a:rPr lang="en-US" sz="750" b="1" dirty="0">
                          <a:sym typeface="+mn-ea"/>
                        </a:rPr>
                        <a:t>SMS alert</a:t>
                      </a:r>
                      <a:r>
                        <a:rPr lang="en-US" sz="750" dirty="0">
                          <a:sym typeface="+mn-ea"/>
                        </a:rPr>
                        <a:t> and a </a:t>
                      </a:r>
                      <a:r>
                        <a:rPr lang="en-US" sz="750" b="1" dirty="0">
                          <a:sym typeface="+mn-ea"/>
                        </a:rPr>
                        <a:t>buzzer</a:t>
                      </a:r>
                      <a:r>
                        <a:rPr lang="en-US" sz="750" dirty="0">
                          <a:sym typeface="+mn-ea"/>
                        </a:rPr>
                        <a:t> for an audible warning. A </a:t>
                      </a:r>
                      <a:r>
                        <a:rPr lang="en-US" sz="750" b="1" dirty="0">
                          <a:sym typeface="+mn-ea"/>
                        </a:rPr>
                        <a:t>clip sensor</a:t>
                      </a:r>
                      <a:r>
                        <a:rPr lang="en-US" sz="750" dirty="0">
                          <a:sym typeface="+mn-ea"/>
                        </a:rPr>
                        <a:t> on the fuel cap helps to prevent false alerts during refueling.</a:t>
                      </a:r>
                    </a:p>
                  </a:txBody>
                  <a:tcPr marL="68580" marR="68580" marT="34290" marB="3429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009900" y="788171"/>
            <a:ext cx="6172200" cy="857250"/>
          </a:xfrm>
        </p:spPr>
        <p:txBody>
          <a:bodyPr/>
          <a:lstStyle/>
          <a:p>
            <a:pPr algn="ctr"/>
            <a:r>
              <a:rPr lang="en-US" sz="2700" b="1" dirty="0">
                <a:latin typeface="Bookman Old Style" panose="02050604050505020204" pitchFamily="18" charset="0"/>
              </a:rPr>
              <a:t>LITERATURE REVIEW </a:t>
            </a:r>
            <a:endParaRPr lang="en-US" sz="27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7</a:t>
            </a:fld>
            <a:endParaRPr lang="en-US" sz="1500" dirty="0"/>
          </a:p>
        </p:txBody>
      </p:sp>
      <p:graphicFrame>
        <p:nvGraphicFramePr>
          <p:cNvPr id="5" name="Table Placeholder 3"/>
          <p:cNvGraphicFramePr/>
          <p:nvPr>
            <p:custDataLst>
              <p:tags r:id="rId1"/>
            </p:custDataLst>
          </p:nvPr>
        </p:nvGraphicFramePr>
        <p:xfrm>
          <a:off x="928370" y="1372870"/>
          <a:ext cx="10861040" cy="5345430"/>
        </p:xfrm>
        <a:graphic>
          <a:graphicData uri="http://schemas.openxmlformats.org/drawingml/2006/table">
            <a:tbl>
              <a:tblPr firstRow="1" bandRow="1">
                <a:tableStyleId>{69CF1AB2-1976-4502-BF36-3FF5EA218861}</a:tableStyleId>
              </a:tblPr>
              <a:tblGrid>
                <a:gridCol w="3467100">
                  <a:extLst>
                    <a:ext uri="{9D8B030D-6E8A-4147-A177-3AD203B41FA5}">
                      <a16:colId xmlns:a16="http://schemas.microsoft.com/office/drawing/2014/main" val="20000"/>
                    </a:ext>
                  </a:extLst>
                </a:gridCol>
                <a:gridCol w="2433955">
                  <a:extLst>
                    <a:ext uri="{9D8B030D-6E8A-4147-A177-3AD203B41FA5}">
                      <a16:colId xmlns:a16="http://schemas.microsoft.com/office/drawing/2014/main" val="20001"/>
                    </a:ext>
                  </a:extLst>
                </a:gridCol>
                <a:gridCol w="224536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470535">
                <a:tc>
                  <a:txBody>
                    <a:bodyPr/>
                    <a:lstStyle/>
                    <a:p>
                      <a:pPr>
                        <a:buNone/>
                      </a:pPr>
                      <a:r>
                        <a:rPr lang="en-IN" sz="1600" b="1"/>
                        <a:t>Title</a:t>
                      </a:r>
                    </a:p>
                  </a:txBody>
                  <a:tcPr marL="68580" marR="68580" marT="34290" marB="34290" anchor="ctr"/>
                </a:tc>
                <a:tc>
                  <a:txBody>
                    <a:bodyPr/>
                    <a:lstStyle/>
                    <a:p>
                      <a:pPr>
                        <a:buNone/>
                      </a:pPr>
                      <a:r>
                        <a:rPr lang="en-IN" sz="1600" b="1"/>
                        <a:t>Year</a:t>
                      </a:r>
                    </a:p>
                  </a:txBody>
                  <a:tcPr marL="68580" marR="68580" marT="34290" marB="34290" anchor="ctr"/>
                </a:tc>
                <a:tc>
                  <a:txBody>
                    <a:bodyPr/>
                    <a:lstStyle/>
                    <a:p>
                      <a:pPr>
                        <a:buNone/>
                      </a:pPr>
                      <a:r>
                        <a:rPr lang="en-IN" sz="1600" b="1"/>
                        <a:t>Authors</a:t>
                      </a:r>
                    </a:p>
                  </a:txBody>
                  <a:tcPr marL="68580" marR="68580" marT="34290" marB="34290" anchor="ctr"/>
                </a:tc>
                <a:tc>
                  <a:txBody>
                    <a:bodyPr/>
                    <a:lstStyle/>
                    <a:p>
                      <a:pPr>
                        <a:buNone/>
                      </a:pPr>
                      <a:r>
                        <a:rPr lang="en-IN" sz="1600" b="1" dirty="0"/>
                        <a:t>Contribution</a:t>
                      </a:r>
                    </a:p>
                  </a:txBody>
                  <a:tcPr marL="68580" marR="68580" marT="34290" marB="34290" anchor="ctr"/>
                </a:tc>
                <a:extLst>
                  <a:ext uri="{0D108BD9-81ED-4DB2-BD59-A6C34878D82A}">
                    <a16:rowId xmlns:a16="http://schemas.microsoft.com/office/drawing/2014/main" val="10000"/>
                  </a:ext>
                </a:extLst>
              </a:tr>
              <a:tr h="1252220">
                <a:tc>
                  <a:txBody>
                    <a:bodyPr/>
                    <a:lstStyle/>
                    <a:p>
                      <a:pPr algn="ctr"/>
                      <a:r>
                        <a:rPr lang="en-US" sz="1000" dirty="0">
                          <a:sym typeface="+mn-ea"/>
                        </a:rPr>
                        <a:t>Smart Fuel Level Monitoring and Alerting System Based on IOT</a:t>
                      </a:r>
                      <a:endParaRPr lang="en-US" sz="1000" b="1" dirty="0">
                        <a:sym typeface="+mn-ea"/>
                      </a:endParaRPr>
                    </a:p>
                  </a:txBody>
                  <a:tcPr marL="68580" marR="68580" marT="34290" marB="34290" anchor="ctr"/>
                </a:tc>
                <a:tc>
                  <a:txBody>
                    <a:bodyPr/>
                    <a:lstStyle/>
                    <a:p>
                      <a:pPr>
                        <a:buNone/>
                      </a:pPr>
                      <a:r>
                        <a:rPr lang="en-IN" sz="1000"/>
                        <a:t>20</a:t>
                      </a:r>
                      <a:r>
                        <a:rPr lang="en-US" altLang="en-IN" sz="1000"/>
                        <a:t>24</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000" dirty="0">
                          <a:sym typeface="+mn-ea"/>
                        </a:rPr>
                        <a:t>R Deekshitha, Mahadevan S, Pearl Abey Thomas, Sree Varsha </a:t>
                      </a:r>
                      <a:r>
                        <a:rPr lang="en-IN" sz="1000" dirty="0" err="1">
                          <a:sym typeface="+mn-ea"/>
                        </a:rPr>
                        <a:t>Nagammagari</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000" dirty="0">
                          <a:sym typeface="+mn-ea"/>
                        </a:rPr>
                        <a:t>This </a:t>
                      </a:r>
                      <a:r>
                        <a:rPr lang="en-US" sz="1000" b="1" dirty="0">
                          <a:sym typeface="+mn-ea"/>
                        </a:rPr>
                        <a:t>IoT-based system</a:t>
                      </a:r>
                      <a:r>
                        <a:rPr lang="en-US" sz="1000" dirty="0">
                          <a:sym typeface="+mn-ea"/>
                        </a:rPr>
                        <a:t> uses an </a:t>
                      </a:r>
                      <a:r>
                        <a:rPr lang="en-US" sz="1000" b="1" dirty="0">
                          <a:sym typeface="+mn-ea"/>
                        </a:rPr>
                        <a:t>ultrasonic sensor</a:t>
                      </a:r>
                      <a:r>
                        <a:rPr lang="en-US" sz="1000" dirty="0">
                          <a:sym typeface="+mn-ea"/>
                        </a:rPr>
                        <a:t> and a </a:t>
                      </a:r>
                      <a:r>
                        <a:rPr lang="en-US" sz="1000" b="1" dirty="0" err="1">
                          <a:sym typeface="+mn-ea"/>
                        </a:rPr>
                        <a:t>NodeMCU</a:t>
                      </a:r>
                      <a:r>
                        <a:rPr lang="en-US" sz="1000" dirty="0">
                          <a:sym typeface="+mn-ea"/>
                        </a:rPr>
                        <a:t> to monitor fuel levels. If the level drops, an </a:t>
                      </a:r>
                      <a:r>
                        <a:rPr lang="en-US" sz="1000" b="1" dirty="0">
                          <a:sym typeface="+mn-ea"/>
                        </a:rPr>
                        <a:t>IFTTT</a:t>
                      </a:r>
                      <a:r>
                        <a:rPr lang="en-US" sz="1000" dirty="0">
                          <a:sym typeface="+mn-ea"/>
                        </a:rPr>
                        <a:t> application sends an alert and launches </a:t>
                      </a:r>
                      <a:r>
                        <a:rPr lang="en-US" sz="1000" b="1" dirty="0">
                          <a:sym typeface="+mn-ea"/>
                        </a:rPr>
                        <a:t>Google Maps</a:t>
                      </a:r>
                      <a:r>
                        <a:rPr lang="en-US" sz="1000" dirty="0">
                          <a:sym typeface="+mn-ea"/>
                        </a:rPr>
                        <a:t> to guide the user to a nearby fuel station.</a:t>
                      </a:r>
                    </a:p>
                  </a:txBody>
                  <a:tcPr marL="68580" marR="68580" marT="34290" marB="34290" anchor="ctr"/>
                </a:tc>
                <a:extLst>
                  <a:ext uri="{0D108BD9-81ED-4DB2-BD59-A6C34878D82A}">
                    <a16:rowId xmlns:a16="http://schemas.microsoft.com/office/drawing/2014/main" val="10001"/>
                  </a:ext>
                </a:extLst>
              </a:tr>
              <a:tr h="920115">
                <a:tc>
                  <a:txBody>
                    <a:bodyPr/>
                    <a:lstStyle/>
                    <a:p>
                      <a:pPr>
                        <a:buNone/>
                      </a:pPr>
                      <a:r>
                        <a:rPr lang="en-US" sz="1000" dirty="0">
                          <a:sym typeface="+mn-ea"/>
                        </a:rPr>
                        <a:t>Vehicle Fuel Theft Detection and Monitoring</a:t>
                      </a:r>
                      <a:endParaRPr lang="en-US" sz="1000" b="1" dirty="0">
                        <a:sym typeface="+mn-ea"/>
                      </a:endParaRPr>
                    </a:p>
                  </a:txBody>
                  <a:tcPr marL="68580" marR="68580" marT="34290" marB="34290" anchor="ctr"/>
                </a:tc>
                <a:tc>
                  <a:txBody>
                    <a:bodyPr/>
                    <a:lstStyle/>
                    <a:p>
                      <a:pPr>
                        <a:buNone/>
                      </a:pPr>
                      <a:r>
                        <a:rPr lang="en-IN" sz="1000"/>
                        <a:t>20</a:t>
                      </a:r>
                      <a:r>
                        <a:rPr lang="en-US" altLang="en-IN" sz="1000"/>
                        <a:t>24</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000" dirty="0">
                          <a:sym typeface="+mn-ea"/>
                        </a:rPr>
                        <a:t>Berhanu Abnet </a:t>
                      </a:r>
                      <a:r>
                        <a:rPr lang="en-IN" sz="1000" dirty="0" err="1">
                          <a:sym typeface="+mn-ea"/>
                        </a:rPr>
                        <a:t>Mengstie</a:t>
                      </a:r>
                      <a:r>
                        <a:rPr lang="en-IN" sz="1000" dirty="0">
                          <a:sym typeface="+mn-ea"/>
                        </a:rPr>
                        <a:t>, Eden </a:t>
                      </a:r>
                      <a:r>
                        <a:rPr lang="en-IN" sz="1000" dirty="0" err="1">
                          <a:sym typeface="+mn-ea"/>
                        </a:rPr>
                        <a:t>Aragaw</a:t>
                      </a:r>
                      <a:r>
                        <a:rPr lang="en-IN" sz="1000" dirty="0">
                          <a:sym typeface="+mn-ea"/>
                        </a:rPr>
                        <a:t> Addisu</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000" dirty="0">
                          <a:sym typeface="+mn-ea"/>
                        </a:rPr>
                        <a:t>An </a:t>
                      </a:r>
                      <a:r>
                        <a:rPr lang="en-US" sz="1000" b="1" dirty="0">
                          <a:sym typeface="+mn-ea"/>
                        </a:rPr>
                        <a:t>Arduino Uno</a:t>
                      </a:r>
                      <a:r>
                        <a:rPr lang="en-US" sz="1000" dirty="0">
                          <a:sym typeface="+mn-ea"/>
                        </a:rPr>
                        <a:t> and an </a:t>
                      </a:r>
                      <a:r>
                        <a:rPr lang="en-US" sz="1000" b="1" dirty="0">
                          <a:sym typeface="+mn-ea"/>
                        </a:rPr>
                        <a:t>ultrasonic sensor</a:t>
                      </a:r>
                      <a:r>
                        <a:rPr lang="en-US" sz="1000" dirty="0">
                          <a:sym typeface="+mn-ea"/>
                        </a:rPr>
                        <a:t> are used to detect excessive fuel loss. If theft is detected, an alert is sent via a </a:t>
                      </a:r>
                      <a:r>
                        <a:rPr lang="en-US" sz="1000" b="1" dirty="0">
                          <a:sym typeface="+mn-ea"/>
                        </a:rPr>
                        <a:t>GSM module</a:t>
                      </a:r>
                      <a:r>
                        <a:rPr lang="en-US" sz="1000" dirty="0">
                          <a:sym typeface="+mn-ea"/>
                        </a:rPr>
                        <a:t>, and a </a:t>
                      </a:r>
                      <a:r>
                        <a:rPr lang="en-US" sz="1000" b="1" dirty="0">
                          <a:sym typeface="+mn-ea"/>
                        </a:rPr>
                        <a:t>buzzer</a:t>
                      </a:r>
                      <a:r>
                        <a:rPr lang="en-US" sz="1000" dirty="0">
                          <a:sym typeface="+mn-ea"/>
                        </a:rPr>
                        <a:t> is activated.</a:t>
                      </a:r>
                    </a:p>
                  </a:txBody>
                  <a:tcPr marL="68580" marR="68580" marT="34290" marB="34290" anchor="ctr"/>
                </a:tc>
                <a:extLst>
                  <a:ext uri="{0D108BD9-81ED-4DB2-BD59-A6C34878D82A}">
                    <a16:rowId xmlns:a16="http://schemas.microsoft.com/office/drawing/2014/main" val="10002"/>
                  </a:ext>
                </a:extLst>
              </a:tr>
              <a:tr h="84074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80" dirty="0">
                          <a:sym typeface="+mn-ea"/>
                        </a:rPr>
                        <a:t>Vehicle Fuel Theft Detection and Monitoring System</a:t>
                      </a:r>
                      <a:endParaRPr lang="en-US" sz="880" b="1" dirty="0">
                        <a:sym typeface="+mn-ea"/>
                      </a:endParaRPr>
                    </a:p>
                  </a:txBody>
                  <a:tcPr marL="68580" marR="68580" marT="34290" marB="34290" anchor="ctr"/>
                </a:tc>
                <a:tc>
                  <a:txBody>
                    <a:bodyPr/>
                    <a:lstStyle/>
                    <a:p>
                      <a:pPr>
                        <a:buNone/>
                      </a:pPr>
                      <a:r>
                        <a:rPr lang="en-IN" sz="880"/>
                        <a:t>202</a:t>
                      </a:r>
                      <a:r>
                        <a:rPr lang="en-US" altLang="en-IN" sz="880"/>
                        <a:t>4</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880" dirty="0">
                          <a:sym typeface="+mn-ea"/>
                        </a:rPr>
                        <a:t>Vasanth Kumar, </a:t>
                      </a:r>
                      <a:r>
                        <a:rPr lang="en-IN" sz="880" dirty="0" err="1">
                          <a:sym typeface="+mn-ea"/>
                        </a:rPr>
                        <a:t>T.Girishchowdary</a:t>
                      </a:r>
                      <a:r>
                        <a:rPr lang="en-IN" sz="880" dirty="0">
                          <a:sym typeface="+mn-ea"/>
                        </a:rPr>
                        <a:t>, Pavan C, Praveen D B, Satish Kumar B</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80" dirty="0">
                          <a:sym typeface="+mn-ea"/>
                        </a:rPr>
                        <a:t>This system uses a </a:t>
                      </a:r>
                      <a:r>
                        <a:rPr lang="en-US" sz="880" b="1" dirty="0">
                          <a:sym typeface="+mn-ea"/>
                        </a:rPr>
                        <a:t>flow sensor</a:t>
                      </a:r>
                      <a:r>
                        <a:rPr lang="en-US" sz="880" dirty="0">
                          <a:sym typeface="+mn-ea"/>
                        </a:rPr>
                        <a:t> and an </a:t>
                      </a:r>
                      <a:r>
                        <a:rPr lang="en-US" sz="880" b="1" dirty="0">
                          <a:sym typeface="+mn-ea"/>
                        </a:rPr>
                        <a:t>ultrasonic sensor</a:t>
                      </a:r>
                      <a:r>
                        <a:rPr lang="en-US" sz="880" dirty="0">
                          <a:sym typeface="+mn-ea"/>
                        </a:rPr>
                        <a:t> to monitor fuel levels. When a drop is detected with the ignition off, an alert is sent via a </a:t>
                      </a:r>
                      <a:r>
                        <a:rPr lang="en-US" sz="880" b="1" dirty="0">
                          <a:sym typeface="+mn-ea"/>
                        </a:rPr>
                        <a:t>GSM module</a:t>
                      </a:r>
                      <a:r>
                        <a:rPr lang="en-US" sz="880" dirty="0">
                          <a:sym typeface="+mn-ea"/>
                        </a:rPr>
                        <a:t> and a </a:t>
                      </a:r>
                      <a:r>
                        <a:rPr lang="en-US" sz="880" b="1" dirty="0">
                          <a:sym typeface="+mn-ea"/>
                        </a:rPr>
                        <a:t>buzzer</a:t>
                      </a:r>
                      <a:r>
                        <a:rPr lang="en-US" sz="880" dirty="0">
                          <a:sym typeface="+mn-ea"/>
                        </a:rPr>
                        <a:t> is activated.</a:t>
                      </a:r>
                    </a:p>
                  </a:txBody>
                  <a:tcPr marL="68580" marR="68580" marT="34290" marB="34290" anchor="ctr"/>
                </a:tc>
                <a:extLst>
                  <a:ext uri="{0D108BD9-81ED-4DB2-BD59-A6C34878D82A}">
                    <a16:rowId xmlns:a16="http://schemas.microsoft.com/office/drawing/2014/main" val="10003"/>
                  </a:ext>
                </a:extLst>
              </a:tr>
              <a:tr h="110871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80" dirty="0">
                          <a:sym typeface="+mn-ea"/>
                        </a:rPr>
                        <a:t>Design and Implementation of Vehicle Theft Prevention by Operating Fuel Injector</a:t>
                      </a:r>
                      <a:endParaRPr lang="en-US" sz="880" b="1" dirty="0">
                        <a:sym typeface="+mn-ea"/>
                      </a:endParaRPr>
                    </a:p>
                  </a:txBody>
                  <a:tcPr marL="68580" marR="68580" marT="34290" marB="34290" anchor="ctr"/>
                </a:tc>
                <a:tc>
                  <a:txBody>
                    <a:bodyPr/>
                    <a:lstStyle/>
                    <a:p>
                      <a:pPr>
                        <a:buNone/>
                      </a:pPr>
                      <a:r>
                        <a:rPr lang="en-IN" sz="880"/>
                        <a:t>2024</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80" dirty="0">
                          <a:sym typeface="+mn-ea"/>
                        </a:rPr>
                        <a:t>Design and Implementation of Vehicle Theft Prevention by Operating Fuel Injector</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80" dirty="0">
                          <a:sym typeface="+mn-ea"/>
                        </a:rPr>
                        <a:t>This system uses </a:t>
                      </a:r>
                      <a:r>
                        <a:rPr lang="en-US" sz="880" b="1" dirty="0">
                          <a:sym typeface="+mn-ea"/>
                        </a:rPr>
                        <a:t>facial recognition</a:t>
                      </a:r>
                      <a:r>
                        <a:rPr lang="en-US" sz="880" dirty="0">
                          <a:sym typeface="+mn-ea"/>
                        </a:rPr>
                        <a:t> with a camera and a </a:t>
                      </a:r>
                      <a:r>
                        <a:rPr lang="en-US" sz="880" b="1" dirty="0">
                          <a:sym typeface="+mn-ea"/>
                        </a:rPr>
                        <a:t>Raspberry Pi</a:t>
                      </a:r>
                      <a:r>
                        <a:rPr lang="en-US" sz="880" dirty="0">
                          <a:sym typeface="+mn-ea"/>
                        </a:rPr>
                        <a:t> for user authentication. If an unauthorized person is detected, the system halts the </a:t>
                      </a:r>
                      <a:r>
                        <a:rPr lang="en-US" sz="880" b="1" dirty="0">
                          <a:sym typeface="+mn-ea"/>
                        </a:rPr>
                        <a:t>fuel injector</a:t>
                      </a:r>
                      <a:r>
                        <a:rPr lang="en-US" sz="880" dirty="0">
                          <a:sym typeface="+mn-ea"/>
                        </a:rPr>
                        <a:t> and sends a notification with </a:t>
                      </a:r>
                      <a:r>
                        <a:rPr lang="en-US" sz="880" b="1" dirty="0">
                          <a:sym typeface="+mn-ea"/>
                        </a:rPr>
                        <a:t>GPS location</a:t>
                      </a:r>
                      <a:r>
                        <a:rPr lang="en-US" sz="880" dirty="0">
                          <a:sym typeface="+mn-ea"/>
                        </a:rPr>
                        <a:t> via the </a:t>
                      </a:r>
                      <a:r>
                        <a:rPr lang="en-US" sz="880" b="1" dirty="0">
                          <a:sym typeface="+mn-ea"/>
                        </a:rPr>
                        <a:t>Blynk app</a:t>
                      </a:r>
                      <a:r>
                        <a:rPr lang="en-US" sz="880" dirty="0">
                          <a:sym typeface="+mn-ea"/>
                        </a:rPr>
                        <a:t> and a </a:t>
                      </a:r>
                      <a:r>
                        <a:rPr lang="en-US" sz="880" b="1" dirty="0">
                          <a:sym typeface="+mn-ea"/>
                        </a:rPr>
                        <a:t>Wi-Fi module</a:t>
                      </a:r>
                      <a:r>
                        <a:rPr lang="en-US" sz="880" dirty="0">
                          <a:sym typeface="+mn-ea"/>
                        </a:rPr>
                        <a:t>.</a:t>
                      </a:r>
                    </a:p>
                  </a:txBody>
                  <a:tcPr marL="68580" marR="68580" marT="34290" marB="34290" anchor="ctr"/>
                </a:tc>
                <a:extLst>
                  <a:ext uri="{0D108BD9-81ED-4DB2-BD59-A6C34878D82A}">
                    <a16:rowId xmlns:a16="http://schemas.microsoft.com/office/drawing/2014/main" val="10004"/>
                  </a:ext>
                </a:extLst>
              </a:tr>
              <a:tr h="753110">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00" dirty="0">
                          <a:sym typeface="+mn-ea"/>
                        </a:rPr>
                        <a:t>Vehicle Fuel Theft Detection System</a:t>
                      </a:r>
                      <a:endParaRPr lang="en-US" sz="800" b="1" dirty="0">
                        <a:sym typeface="+mn-ea"/>
                      </a:endParaRPr>
                    </a:p>
                  </a:txBody>
                  <a:tcPr marL="68580" marR="68580" marT="34290" marB="34290" anchor="ctr"/>
                </a:tc>
                <a:tc>
                  <a:txBody>
                    <a:bodyPr/>
                    <a:lstStyle/>
                    <a:p>
                      <a:pPr>
                        <a:buNone/>
                      </a:pPr>
                      <a:r>
                        <a:rPr lang="en-IN" sz="800"/>
                        <a:t>202</a:t>
                      </a:r>
                      <a:r>
                        <a:rPr lang="en-US" altLang="en-IN" sz="800"/>
                        <a:t>4</a:t>
                      </a:r>
                    </a:p>
                  </a:txBody>
                  <a:tcPr marL="68580" marR="68580" marT="34290" marB="34290" anchor="ctr"/>
                </a:tc>
                <a:tc>
                  <a:txBody>
                    <a:bodyPr/>
                    <a:lstStyle/>
                    <a:p>
                      <a:pPr>
                        <a:buNone/>
                      </a:pPr>
                      <a:r>
                        <a:rPr lang="en-IN" sz="800" dirty="0">
                          <a:sym typeface="+mn-ea"/>
                        </a:rPr>
                        <a:t>Sangeeta </a:t>
                      </a:r>
                      <a:r>
                        <a:rPr lang="en-IN" sz="800" dirty="0" err="1">
                          <a:sym typeface="+mn-ea"/>
                        </a:rPr>
                        <a:t>Kurundkar</a:t>
                      </a:r>
                      <a:r>
                        <a:rPr lang="en-IN" sz="800" dirty="0">
                          <a:sym typeface="+mn-ea"/>
                        </a:rPr>
                        <a:t>, Sakshi Rathod, Ruta </a:t>
                      </a:r>
                      <a:r>
                        <a:rPr lang="en-IN" sz="800" dirty="0" err="1">
                          <a:sym typeface="+mn-ea"/>
                        </a:rPr>
                        <a:t>Sapate</a:t>
                      </a:r>
                      <a:r>
                        <a:rPr lang="en-IN" sz="800" dirty="0">
                          <a:sym typeface="+mn-ea"/>
                        </a:rPr>
                        <a:t>, Samruddhi Raut, Shantanu </a:t>
                      </a:r>
                      <a:r>
                        <a:rPr lang="en-IN" sz="800" dirty="0" err="1">
                          <a:sym typeface="+mn-ea"/>
                        </a:rPr>
                        <a:t>Khopade</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800" dirty="0">
                          <a:sym typeface="+mn-ea"/>
                        </a:rPr>
                        <a:t>A </a:t>
                      </a:r>
                      <a:r>
                        <a:rPr lang="en-US" sz="800" b="1" dirty="0">
                          <a:sym typeface="+mn-ea"/>
                        </a:rPr>
                        <a:t>GSM-based system</a:t>
                      </a:r>
                      <a:r>
                        <a:rPr lang="en-US" sz="800" dirty="0">
                          <a:sym typeface="+mn-ea"/>
                        </a:rPr>
                        <a:t> that activates when the </a:t>
                      </a:r>
                      <a:r>
                        <a:rPr lang="en-US" sz="800" b="1" dirty="0">
                          <a:sym typeface="+mn-ea"/>
                        </a:rPr>
                        <a:t>ignition key</a:t>
                      </a:r>
                      <a:r>
                        <a:rPr lang="en-US" sz="800" dirty="0">
                          <a:sym typeface="+mn-ea"/>
                        </a:rPr>
                        <a:t> is removed. A </a:t>
                      </a:r>
                      <a:r>
                        <a:rPr lang="en-US" sz="800" b="1" dirty="0">
                          <a:sym typeface="+mn-ea"/>
                        </a:rPr>
                        <a:t>capacitive level sensor</a:t>
                      </a:r>
                      <a:r>
                        <a:rPr lang="en-US" sz="800" dirty="0">
                          <a:sym typeface="+mn-ea"/>
                        </a:rPr>
                        <a:t> detects a drop in fuel, and an </a:t>
                      </a:r>
                      <a:r>
                        <a:rPr lang="en-US" sz="800" b="1" dirty="0">
                          <a:sym typeface="+mn-ea"/>
                        </a:rPr>
                        <a:t>Arduino microcontroller</a:t>
                      </a:r>
                      <a:r>
                        <a:rPr lang="en-US" sz="800" dirty="0">
                          <a:sym typeface="+mn-ea"/>
                        </a:rPr>
                        <a:t> activates a </a:t>
                      </a:r>
                      <a:r>
                        <a:rPr lang="en-US" sz="800" b="1" dirty="0">
                          <a:sym typeface="+mn-ea"/>
                        </a:rPr>
                        <a:t>buzzer</a:t>
                      </a:r>
                      <a:r>
                        <a:rPr lang="en-US" sz="800" dirty="0">
                          <a:sym typeface="+mn-ea"/>
                        </a:rPr>
                        <a:t> and sends an </a:t>
                      </a:r>
                      <a:r>
                        <a:rPr lang="en-US" sz="800" b="1" dirty="0">
                          <a:sym typeface="+mn-ea"/>
                        </a:rPr>
                        <a:t>SMS alert</a:t>
                      </a:r>
                      <a:r>
                        <a:rPr lang="en-US" sz="800" dirty="0">
                          <a:sym typeface="+mn-ea"/>
                        </a:rPr>
                        <a:t> via a </a:t>
                      </a:r>
                      <a:r>
                        <a:rPr lang="en-US" sz="800" b="1" dirty="0">
                          <a:sym typeface="+mn-ea"/>
                        </a:rPr>
                        <a:t>GSM modem</a:t>
                      </a:r>
                      <a:r>
                        <a:rPr lang="en-US" sz="800" dirty="0">
                          <a:sym typeface="+mn-ea"/>
                        </a:rPr>
                        <a:t>.</a:t>
                      </a:r>
                    </a:p>
                  </a:txBody>
                  <a:tcPr marL="68580" marR="68580" marT="34290" marB="3429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2819400" y="542426"/>
            <a:ext cx="6172200" cy="857250"/>
          </a:xfrm>
        </p:spPr>
        <p:txBody>
          <a:bodyPr>
            <a:normAutofit fontScale="90000"/>
          </a:bodyPr>
          <a:lstStyle/>
          <a:p>
            <a:pPr algn="ctr"/>
            <a:r>
              <a:rPr lang="en-US" b="1" dirty="0">
                <a:latin typeface="Bookman Old Style" panose="02050604050505020204" pitchFamily="18" charset="0"/>
              </a:rPr>
              <a:t>SUMMARY OF LITERATURE REVIEW </a:t>
            </a:r>
            <a:endParaRPr lang="en-US" sz="2700" b="1"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8</a:t>
            </a:fld>
            <a:endParaRPr lang="en-US" sz="1500" dirty="0"/>
          </a:p>
        </p:txBody>
      </p:sp>
      <p:sp>
        <p:nvSpPr>
          <p:cNvPr id="3" name="Content Placeholder 2"/>
          <p:cNvSpPr>
            <a:spLocks noGrp="1"/>
          </p:cNvSpPr>
          <p:nvPr>
            <p:ph idx="1"/>
          </p:nvPr>
        </p:nvSpPr>
        <p:spPr>
          <a:xfrm>
            <a:off x="1075690" y="1786255"/>
            <a:ext cx="10516870" cy="4144010"/>
          </a:xfrm>
        </p:spPr>
        <p:txBody>
          <a:bodyPr>
            <a:noAutofit/>
          </a:bodyPr>
          <a:lstStyle/>
          <a:p>
            <a:pPr marL="342900" indent="-342900" defTabSz="685800">
              <a:lnSpc>
                <a:spcPct val="100000"/>
              </a:lnSpc>
              <a:buFont typeface="Arial" panose="020B0604020202020204" pitchFamily="34" charset="0"/>
              <a:buChar char="•"/>
              <a:defRPr/>
            </a:pPr>
            <a:r>
              <a:rPr lang="en-US" b="1" dirty="0">
                <a:sym typeface="+mn-ea"/>
              </a:rPr>
              <a:t>Traditional methods are flawed in their design.</a:t>
            </a:r>
            <a:r>
              <a:rPr lang="en-US" dirty="0">
                <a:sym typeface="+mn-ea"/>
              </a:rPr>
              <a:t> They rely on physical locks or simple sensors that are easily overcome and only detect theft after it has already happened.</a:t>
            </a:r>
            <a:endParaRPr lang="en-US" dirty="0"/>
          </a:p>
          <a:p>
            <a:pPr marL="342900" indent="-342900" defTabSz="685800">
              <a:lnSpc>
                <a:spcPct val="100000"/>
              </a:lnSpc>
              <a:buFont typeface="Arial" panose="020B0604020202020204" pitchFamily="34" charset="0"/>
              <a:buChar char="•"/>
              <a:defRPr/>
            </a:pPr>
            <a:r>
              <a:rPr lang="en-US" b="1" dirty="0">
                <a:sym typeface="+mn-ea"/>
              </a:rPr>
              <a:t>Fixed-threshold systems are not effective.</a:t>
            </a:r>
            <a:r>
              <a:rPr lang="en-US" dirty="0">
                <a:sym typeface="+mn-ea"/>
              </a:rPr>
              <a:t> These systems frequently produce false alarms because they cannot differentiate between normal fuel usage and actual theft.</a:t>
            </a:r>
            <a:endParaRPr lang="en-US" dirty="0"/>
          </a:p>
          <a:p>
            <a:pPr marL="342900" indent="-342900" defTabSz="685800">
              <a:lnSpc>
                <a:spcPct val="100000"/>
              </a:lnSpc>
              <a:buFont typeface="Arial" panose="020B0604020202020204" pitchFamily="34" charset="0"/>
              <a:buChar char="•"/>
              <a:defRPr/>
            </a:pPr>
            <a:r>
              <a:rPr lang="en-US" b="1" dirty="0">
                <a:sym typeface="+mn-ea"/>
              </a:rPr>
              <a:t>Machine learning improves detection accuracy.</a:t>
            </a:r>
            <a:r>
              <a:rPr lang="en-US" dirty="0">
                <a:sym typeface="+mn-ea"/>
              </a:rPr>
              <a:t> Advanced models are used to learn normal fuel consumption patterns, which allows for more precise anomaly detection and reduces false alarms.</a:t>
            </a:r>
            <a:endParaRPr lang="en-US" dirty="0"/>
          </a:p>
          <a:p>
            <a:pPr marL="342900" indent="-342900" defTabSz="685800">
              <a:lnSpc>
                <a:spcPct val="100000"/>
              </a:lnSpc>
              <a:buFont typeface="Arial" panose="020B0604020202020204" pitchFamily="34" charset="0"/>
              <a:buChar char="•"/>
              <a:defRPr/>
            </a:pPr>
            <a:r>
              <a:rPr lang="en-US" b="1" dirty="0">
                <a:sym typeface="+mn-ea"/>
              </a:rPr>
              <a:t>Federated learning is the new, secure approach.</a:t>
            </a:r>
            <a:r>
              <a:rPr lang="en-US" dirty="0">
                <a:sym typeface="+mn-ea"/>
              </a:rPr>
              <a:t> This framework enables a collaborative model to be trained across multiple vehicles while protecting individual data privacy.</a:t>
            </a:r>
            <a:endParaRPr lang="en-US" dirty="0"/>
          </a:p>
          <a:p>
            <a:pPr marL="342900" indent="-342900" defTabSz="685800">
              <a:lnSpc>
                <a:spcPct val="100000"/>
              </a:lnSpc>
              <a:buFont typeface="Arial" panose="020B0604020202020204" pitchFamily="34" charset="0"/>
              <a:buChar char="•"/>
              <a:defRPr/>
            </a:pPr>
            <a:r>
              <a:rPr lang="en-US" b="1" dirty="0">
                <a:sym typeface="+mn-ea"/>
              </a:rPr>
              <a:t>The proposed project is highly innovative.</a:t>
            </a:r>
            <a:r>
              <a:rPr lang="en-US" dirty="0">
                <a:sym typeface="+mn-ea"/>
              </a:rPr>
              <a:t> It uniquely combines IoT sensors for real-time monitoring with a federated learning framework for a secure, adaptive, and accurate theft detection system.</a:t>
            </a:r>
            <a:endParaRPr lang="en-US" altLang="en-US" dirty="0">
              <a:solidFill>
                <a:schemeClr val="tx1"/>
              </a:solidFill>
              <a:latin typeface="Arial" panose="020B0604020202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764" y="609539"/>
            <a:ext cx="6172200" cy="685800"/>
          </a:xfrm>
        </p:spPr>
        <p:txBody>
          <a:bodyPr/>
          <a:lstStyle/>
          <a:p>
            <a:pPr algn="ctr"/>
            <a:r>
              <a:rPr lang="en-US" sz="2700" b="1" dirty="0">
                <a:latin typeface="Bookman Old Style" panose="02050604050505020204" pitchFamily="18" charset="0"/>
              </a:rPr>
              <a:t>EXISTING SYSTEM </a:t>
            </a:r>
            <a:endParaRPr lang="en-US" sz="27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9</a:t>
            </a:fld>
            <a:endParaRPr lang="en-US" sz="1500" dirty="0"/>
          </a:p>
        </p:txBody>
      </p:sp>
      <p:sp>
        <p:nvSpPr>
          <p:cNvPr id="7" name="Content Placeholder 2"/>
          <p:cNvSpPr>
            <a:spLocks noGrp="1"/>
          </p:cNvSpPr>
          <p:nvPr>
            <p:ph idx="1"/>
          </p:nvPr>
        </p:nvSpPr>
        <p:spPr>
          <a:xfrm>
            <a:off x="884555" y="1391285"/>
            <a:ext cx="10617200" cy="4956810"/>
          </a:xfrm>
        </p:spPr>
        <p:txBody>
          <a:bodyPr>
            <a:noAutofit/>
          </a:bodyPr>
          <a:lstStyle/>
          <a:p>
            <a:pPr marL="342900" indent="-342900">
              <a:buFont typeface="Arial" panose="020B0604020202020204" pitchFamily="34" charset="0"/>
              <a:buChar char="•"/>
            </a:pPr>
            <a:r>
              <a:rPr lang="en-US" sz="1600" b="1" dirty="0">
                <a:sym typeface="+mn-ea"/>
              </a:rPr>
              <a:t>Fixed-Threshold Detection</a:t>
            </a:r>
            <a:r>
              <a:rPr lang="en-US" sz="1600" dirty="0">
                <a:sym typeface="+mn-ea"/>
              </a:rPr>
              <a:t> : Many current systems rely on fixed thresholds to identify fuel theft. They trigger an alarm when a fuel level drops below a predefined point without considering normal consumption patterns or contextual data. This approach is often flawed because it can lead to false alarms and may not be effective against evolving theft techniques.</a:t>
            </a:r>
            <a:endParaRPr lang="en-US" sz="1600" dirty="0"/>
          </a:p>
          <a:p>
            <a:pPr marL="342900" indent="-342900">
              <a:buFont typeface="Arial" panose="020B0604020202020204" pitchFamily="34" charset="0"/>
              <a:buChar char="•"/>
            </a:pPr>
            <a:r>
              <a:rPr lang="en-US" sz="1600" b="1" dirty="0">
                <a:sym typeface="+mn-ea"/>
              </a:rPr>
              <a:t>Reliance on Hardware for Detection</a:t>
            </a:r>
            <a:r>
              <a:rPr lang="en-US" sz="1600" dirty="0">
                <a:sym typeface="+mn-ea"/>
              </a:rPr>
              <a:t> : The majority of existing systems are heavily dependent on physical hardware components. These systems typically use an Arduino or similar microcontroller along with sensors like ultrasonic or capacitive to measure fuel levels. They often integrate a GSM module to send SMS alerts and a buzzer for a local audible alarm</a:t>
            </a:r>
            <a:endParaRPr lang="en-US" sz="1600" dirty="0"/>
          </a:p>
          <a:p>
            <a:pPr marL="342900" indent="-342900">
              <a:buFont typeface="Arial" panose="020B0604020202020204" pitchFamily="34" charset="0"/>
              <a:buChar char="•"/>
            </a:pPr>
            <a:r>
              <a:rPr lang="en-US" sz="1600" b="1" dirty="0">
                <a:sym typeface="+mn-ea"/>
              </a:rPr>
              <a:t>Real-time Alerts</a:t>
            </a:r>
            <a:r>
              <a:rPr lang="en-US" sz="1600" dirty="0">
                <a:sym typeface="+mn-ea"/>
              </a:rPr>
              <a:t> : A common feature is the ability to provide real-time alerts to the vehicle owner. When a theft event is detected, systems use communication modules like GSM to send instant notifications, such as SMS messages or automated phone calls.</a:t>
            </a:r>
            <a:endParaRPr lang="en-US" sz="1600" dirty="0"/>
          </a:p>
          <a:p>
            <a:pPr marL="342900" indent="-342900">
              <a:buFont typeface="Arial" panose="020B0604020202020204" pitchFamily="34" charset="0"/>
              <a:buChar char="•"/>
            </a:pPr>
            <a:r>
              <a:rPr lang="en-US" sz="1600" b="1" dirty="0">
                <a:sym typeface="+mn-ea"/>
              </a:rPr>
              <a:t>Lack of Privacy-Preserving Features</a:t>
            </a:r>
            <a:r>
              <a:rPr lang="en-US" sz="1600" dirty="0">
                <a:sym typeface="+mn-ea"/>
              </a:rPr>
              <a:t> : Traditional systems often send raw data, including vehicle location and fuel status, to a central server or mobile application. This creates a security risk and compromises user privacy, as sensitive information could be exposed or compromised if the central system is breached.</a:t>
            </a:r>
            <a:endParaRPr lang="en-US" sz="1600" dirty="0"/>
          </a:p>
          <a:p>
            <a:pPr marL="342900" indent="-342900">
              <a:buFont typeface="Arial" panose="020B0604020202020204" pitchFamily="34" charset="0"/>
              <a:buChar char="•"/>
            </a:pPr>
            <a:r>
              <a:rPr lang="en-US" sz="1600" b="1" dirty="0">
                <a:sym typeface="+mn-ea"/>
              </a:rPr>
              <a:t>Limited Adaptive Capability</a:t>
            </a:r>
            <a:r>
              <a:rPr lang="en-US" sz="1600" dirty="0">
                <a:sym typeface="+mn-ea"/>
              </a:rPr>
              <a:t> : Existing systems are generally not designed to learn or adapt to new conditions or consumption patterns. They operate based on predefined rules, making them less effective at identifying new theft methods or differentiating between normal fuel use and an actual theft incident.</a:t>
            </a:r>
            <a:endParaRPr lang="en-US" altLang="en-US" sz="1600" dirty="0">
              <a:solidFill>
                <a:schemeClr val="tx1"/>
              </a:solidFill>
              <a:latin typeface="Arial" panose="020B0604020202020204" pitchFamily="3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762000"/>
            <a:ext cx="6172200" cy="640715"/>
          </a:xfrm>
        </p:spPr>
        <p:txBody>
          <a:bodyPr/>
          <a:lstStyle/>
          <a:p>
            <a:pPr algn="ctr"/>
            <a:r>
              <a:rPr lang="en-US" sz="2700" b="1" dirty="0">
                <a:latin typeface="Bookman Old Style" panose="02050604050505020204" pitchFamily="18" charset="0"/>
              </a:rPr>
              <a:t>PROPOSED SYSTEM </a:t>
            </a:r>
            <a:endParaRPr lang="en-US" sz="27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10</a:t>
            </a:fld>
            <a:endParaRPr lang="en-US" sz="1500" dirty="0"/>
          </a:p>
        </p:txBody>
      </p:sp>
      <p:sp>
        <p:nvSpPr>
          <p:cNvPr id="3" name="Content Placeholder 2"/>
          <p:cNvSpPr>
            <a:spLocks noGrp="1"/>
          </p:cNvSpPr>
          <p:nvPr>
            <p:ph idx="1"/>
          </p:nvPr>
        </p:nvSpPr>
        <p:spPr>
          <a:xfrm>
            <a:off x="1170305" y="1905000"/>
            <a:ext cx="10390505" cy="4117340"/>
          </a:xfrm>
        </p:spPr>
        <p:txBody>
          <a:bodyPr>
            <a:normAutofit/>
          </a:bodyPr>
          <a:lstStyle/>
          <a:p>
            <a:pPr marL="342900" indent="-342900" defTabSz="685800">
              <a:lnSpc>
                <a:spcPct val="100000"/>
              </a:lnSpc>
              <a:buFont typeface="Wingdings" panose="05000000000000000000" pitchFamily="2" charset="2"/>
              <a:buChar char="q"/>
              <a:defRPr/>
            </a:pPr>
            <a:r>
              <a:rPr lang="en-US" b="1" dirty="0">
                <a:sym typeface="+mn-ea"/>
              </a:rPr>
              <a:t>Hybrid System Architecture:</a:t>
            </a:r>
            <a:r>
              <a:rPr lang="en-US" dirty="0">
                <a:sym typeface="+mn-ea"/>
              </a:rPr>
              <a:t> The system is designed as a hybrid solution that combines two key technologies. It integrates an IoT-based fuel monitoring system with a federated machine learning framework. </a:t>
            </a:r>
            <a:r>
              <a:rPr lang="en-US" b="1" dirty="0">
                <a:sym typeface="+mn-ea"/>
              </a:rPr>
              <a:t>(Federated Machine Learning , Embedded – C)</a:t>
            </a:r>
            <a:endParaRPr lang="en-US" b="1" dirty="0"/>
          </a:p>
          <a:p>
            <a:pPr marL="342900" indent="-342900" defTabSz="685800">
              <a:lnSpc>
                <a:spcPct val="100000"/>
              </a:lnSpc>
              <a:buFont typeface="Wingdings" panose="05000000000000000000" pitchFamily="2" charset="2"/>
              <a:buChar char="q"/>
              <a:defRPr/>
            </a:pPr>
            <a:r>
              <a:rPr lang="en-US" b="1" dirty="0">
                <a:sym typeface="+mn-ea"/>
              </a:rPr>
              <a:t>IoT for Real-time Monitoring:</a:t>
            </a:r>
            <a:r>
              <a:rPr lang="en-US" dirty="0">
                <a:sym typeface="+mn-ea"/>
              </a:rPr>
              <a:t> The system will use hardware such as an Arduino, an ultrasonic sensor. These components will enable continuous, real-time monitoring of a vehicle's fuel level and consumption patterns.</a:t>
            </a:r>
            <a:endParaRPr lang="en-US" dirty="0"/>
          </a:p>
          <a:p>
            <a:pPr marL="342900" indent="-342900" defTabSz="685800">
              <a:lnSpc>
                <a:spcPct val="100000"/>
              </a:lnSpc>
              <a:buFont typeface="Wingdings" panose="05000000000000000000" pitchFamily="2" charset="2"/>
              <a:buChar char="q"/>
              <a:defRPr/>
            </a:pPr>
            <a:r>
              <a:rPr lang="en-US" b="1" dirty="0">
                <a:sym typeface="+mn-ea"/>
              </a:rPr>
              <a:t>Federated Learning for Anomaly Detection:</a:t>
            </a:r>
            <a:r>
              <a:rPr lang="en-US" dirty="0">
                <a:sym typeface="+mn-ea"/>
              </a:rPr>
              <a:t> The core of the system's intelligence lies in its federated learning model. This model will learn to detect fuel theft as an anomaly by analyzing patterns from a fleet of vehicles without sending private data to a central server. (TensorFlow)</a:t>
            </a:r>
            <a:endParaRPr lang="en-US" dirty="0"/>
          </a:p>
          <a:p>
            <a:pPr marL="342900" indent="-342900" defTabSz="685800">
              <a:lnSpc>
                <a:spcPct val="100000"/>
              </a:lnSpc>
              <a:buFont typeface="Wingdings" panose="05000000000000000000" pitchFamily="2" charset="2"/>
              <a:buChar char="q"/>
              <a:defRPr/>
            </a:pPr>
            <a:r>
              <a:rPr lang="en-US" b="1" dirty="0">
                <a:sym typeface="+mn-ea"/>
              </a:rPr>
              <a:t>Privacy and Security Focus:</a:t>
            </a:r>
            <a:r>
              <a:rPr lang="en-US" dirty="0">
                <a:sym typeface="+mn-ea"/>
              </a:rPr>
              <a:t> The system's federated learning framework ensures that raw data remains on the vehicle. This approach prioritizes data privacy and security by preventing sensitive information from being exposed or compromised.</a:t>
            </a:r>
            <a:endParaRPr lang="en-US" altLang="en-US" dirty="0">
              <a:solidFill>
                <a:schemeClr val="tx1"/>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259" y="627361"/>
            <a:ext cx="6172200" cy="857250"/>
          </a:xfrm>
        </p:spPr>
        <p:txBody>
          <a:bodyPr>
            <a:normAutofit fontScale="90000"/>
          </a:bodyPr>
          <a:lstStyle/>
          <a:p>
            <a:pPr algn="ctr"/>
            <a:r>
              <a:rPr lang="en-US" sz="2700" b="1" dirty="0">
                <a:latin typeface="Bookman Old Style" panose="02050604050505020204" pitchFamily="18" charset="0"/>
              </a:rPr>
              <a:t>PROPOSED </a:t>
            </a:r>
            <a:br>
              <a:rPr lang="en-US" sz="2700" b="1" dirty="0">
                <a:latin typeface="Bookman Old Style" panose="02050604050505020204" pitchFamily="18" charset="0"/>
              </a:rPr>
            </a:br>
            <a:r>
              <a:rPr lang="en-US" sz="2700" b="1" dirty="0">
                <a:latin typeface="Bookman Old Style" panose="02050604050505020204" pitchFamily="18" charset="0"/>
              </a:rPr>
              <a:t>SYSTEM ARCHITECTURE </a:t>
            </a:r>
            <a:endParaRPr lang="en-US" sz="2700" dirty="0">
              <a:latin typeface="Bookman Old Style" panose="02050604050505020204" pitchFamily="18" charset="0"/>
            </a:endParaRPr>
          </a:p>
        </p:txBody>
      </p:sp>
      <p:sp>
        <p:nvSpPr>
          <p:cNvPr id="4" name="Slide Number Placeholder 3"/>
          <p:cNvSpPr>
            <a:spLocks noGrp="1"/>
          </p:cNvSpPr>
          <p:nvPr>
            <p:ph type="sldNum" sz="quarter" idx="12"/>
          </p:nvPr>
        </p:nvSpPr>
        <p:spPr>
          <a:xfrm>
            <a:off x="3074294" y="1484849"/>
            <a:ext cx="438734" cy="273844"/>
          </a:xfrm>
        </p:spPr>
        <p:txBody>
          <a:bodyPr/>
          <a:lstStyle/>
          <a:p>
            <a:fld id="{B6F15528-21DE-4FAA-801E-634DDDAF4B2B}" type="slidenum">
              <a:rPr lang="en-US" sz="1500" smtClean="0"/>
              <a:t>11</a:t>
            </a:fld>
            <a:endParaRPr lang="en-US" sz="1500" dirty="0"/>
          </a:p>
        </p:txBody>
      </p:sp>
      <p:pic>
        <p:nvPicPr>
          <p:cNvPr id="7" name="Picture 6">
            <a:extLst>
              <a:ext uri="{FF2B5EF4-FFF2-40B4-BE49-F238E27FC236}">
                <a16:creationId xmlns:a16="http://schemas.microsoft.com/office/drawing/2014/main" id="{6A99D793-BCAB-85C7-65E2-2D71085578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106" y="1748533"/>
            <a:ext cx="11256094" cy="48540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0" y="719620"/>
            <a:ext cx="6172200" cy="857250"/>
          </a:xfrm>
        </p:spPr>
        <p:txBody>
          <a:bodyPr>
            <a:normAutofit/>
          </a:bodyPr>
          <a:lstStyle/>
          <a:p>
            <a:pPr algn="ctr"/>
            <a:r>
              <a:rPr lang="en-US" sz="2700" b="1" dirty="0">
                <a:latin typeface="Bookman Old Style" panose="02050604050505020204" pitchFamily="18" charset="0"/>
              </a:rPr>
              <a:t>TOOLS FOR IMPLEMENTATION </a:t>
            </a:r>
            <a:endParaRPr lang="en-US" sz="2700" dirty="0">
              <a:latin typeface="Bookman Old Style" panose="02050604050505020204" pitchFamily="18" charset="0"/>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12</a:t>
            </a:fld>
            <a:endParaRPr lang="en-US" sz="1500" dirty="0"/>
          </a:p>
        </p:txBody>
      </p:sp>
      <p:sp>
        <p:nvSpPr>
          <p:cNvPr id="7" name="Content Placeholder 3"/>
          <p:cNvSpPr txBox="1"/>
          <p:nvPr/>
        </p:nvSpPr>
        <p:spPr>
          <a:xfrm>
            <a:off x="1263015" y="1722120"/>
            <a:ext cx="8250555" cy="1729105"/>
          </a:xfrm>
          <a:prstGeom prst="rect">
            <a:avLst/>
          </a:prstGeom>
        </p:spPr>
        <p:txBody>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0" indent="0">
              <a:buFont typeface="Wingdings 3" panose="05040102010807070707" charset="2"/>
              <a:buNone/>
            </a:pPr>
            <a:r>
              <a:rPr lang="en-US" sz="2700" b="1" dirty="0">
                <a:latin typeface="Franklin Gothic Book (Body)"/>
                <a:ea typeface="Calibri" panose="020F0502020204030204" pitchFamily="34" charset="0"/>
                <a:cs typeface="Calibri" panose="020F0502020204030204" pitchFamily="34" charset="0"/>
              </a:rPr>
              <a:t>Hardware Tools</a:t>
            </a:r>
          </a:p>
          <a:p>
            <a:pPr marL="647700" lvl="1" indent="-323850" algn="just" defTabSz="685800">
              <a:lnSpc>
                <a:spcPct val="100000"/>
              </a:lnSpc>
              <a:buFont typeface="Arial" panose="020B0604020202020204"/>
              <a:buChar char="•"/>
              <a:defRPr/>
            </a:pPr>
            <a:r>
              <a:rPr lang="en-IN" sz="1500" dirty="0" err="1">
                <a:latin typeface="Franklin Gothic Book (Body)"/>
                <a:sym typeface="+mn-ea"/>
              </a:rPr>
              <a:t>NodeMCU</a:t>
            </a:r>
            <a:r>
              <a:rPr lang="en-IN" sz="1500" dirty="0">
                <a:latin typeface="Franklin Gothic Book (Body)"/>
                <a:sym typeface="+mn-ea"/>
              </a:rPr>
              <a:t> Esp8266</a:t>
            </a:r>
            <a:endParaRPr lang="en-IN" sz="1500" dirty="0">
              <a:latin typeface="Franklin Gothic Book (Body)"/>
            </a:endParaRPr>
          </a:p>
          <a:p>
            <a:pPr marL="647700" lvl="1" indent="-323850" algn="just" defTabSz="685800">
              <a:lnSpc>
                <a:spcPct val="100000"/>
              </a:lnSpc>
              <a:buFont typeface="Arial" panose="020B0604020202020204"/>
              <a:buChar char="•"/>
              <a:defRPr/>
            </a:pPr>
            <a:r>
              <a:rPr lang="en-IN" sz="1500" dirty="0">
                <a:latin typeface="Franklin Gothic Book (Body)"/>
                <a:sym typeface="+mn-ea"/>
              </a:rPr>
              <a:t>Ultrasonic sensor</a:t>
            </a:r>
            <a:endParaRPr lang="en-IN" sz="1500" dirty="0">
              <a:latin typeface="Franklin Gothic Book (Body)"/>
            </a:endParaRPr>
          </a:p>
          <a:p>
            <a:pPr marL="647700" lvl="1" indent="-323850" algn="just" defTabSz="685800">
              <a:lnSpc>
                <a:spcPct val="100000"/>
              </a:lnSpc>
              <a:buFont typeface="Arial" panose="020B0604020202020204"/>
              <a:buChar char="•"/>
              <a:defRPr/>
            </a:pPr>
            <a:r>
              <a:rPr lang="en-IN" sz="1500" dirty="0" err="1">
                <a:latin typeface="Franklin Gothic Book (Body)"/>
                <a:sym typeface="+mn-ea"/>
              </a:rPr>
              <a:t>LED,Buzzer</a:t>
            </a:r>
            <a:endParaRPr lang="en-IN" sz="1500" dirty="0">
              <a:latin typeface="Franklin Gothic Book (Body)"/>
            </a:endParaRPr>
          </a:p>
          <a:p>
            <a:pPr marL="647700" lvl="1" indent="-323850" algn="just" defTabSz="685800">
              <a:lnSpc>
                <a:spcPct val="100000"/>
              </a:lnSpc>
              <a:buFont typeface="Arial" panose="020B0604020202020204"/>
              <a:buChar char="•"/>
              <a:defRPr/>
            </a:pPr>
            <a:r>
              <a:rPr lang="en-IN" sz="1500" dirty="0">
                <a:latin typeface="Franklin Gothic Book (Body)"/>
                <a:sym typeface="+mn-ea"/>
              </a:rPr>
              <a:t>Jumper wires</a:t>
            </a:r>
            <a:endParaRPr lang="en-IN" sz="1500" dirty="0">
              <a:latin typeface="Franklin Gothic Book (Body)"/>
            </a:endParaRPr>
          </a:p>
          <a:p>
            <a:pPr marL="647700" lvl="1" indent="-323850" algn="just" defTabSz="685800">
              <a:lnSpc>
                <a:spcPct val="100000"/>
              </a:lnSpc>
              <a:buFont typeface="Arial" panose="020B0604020202020204"/>
              <a:buChar char="•"/>
              <a:defRPr/>
            </a:pPr>
            <a:r>
              <a:rPr lang="en-IN" sz="1500" dirty="0">
                <a:latin typeface="Franklin Gothic Book (Body)"/>
                <a:sym typeface="+mn-ea"/>
              </a:rPr>
              <a:t>USB Cable</a:t>
            </a:r>
            <a:endParaRPr lang="en-IN" altLang="en-US" sz="1500" dirty="0">
              <a:solidFill>
                <a:schemeClr val="tx1"/>
              </a:solidFill>
              <a:latin typeface="Franklin Gothic Book (Body)"/>
              <a:sym typeface="+mn-ea"/>
            </a:endParaRPr>
          </a:p>
        </p:txBody>
      </p:sp>
      <p:sp>
        <p:nvSpPr>
          <p:cNvPr id="8" name="Content Placeholder 2"/>
          <p:cNvSpPr txBox="1"/>
          <p:nvPr/>
        </p:nvSpPr>
        <p:spPr>
          <a:xfrm>
            <a:off x="5334000" y="3657600"/>
            <a:ext cx="5965190" cy="2336165"/>
          </a:xfrm>
          <a:prstGeom prst="rect">
            <a:avLst/>
          </a:prstGeom>
        </p:spPr>
        <p:txBody>
          <a:bodyPr>
            <a:noAutofit/>
          </a:bodyPr>
          <a:lst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US" sz="3600" b="1" dirty="0">
                <a:latin typeface="Calibri" panose="020F0502020204030204" pitchFamily="34" charset="0"/>
                <a:ea typeface="Calibri" panose="020F0502020204030204" pitchFamily="34" charset="0"/>
                <a:cs typeface="Calibri" panose="020F0502020204030204" pitchFamily="34" charset="0"/>
              </a:rPr>
              <a:t>Software Tools</a:t>
            </a: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rgbClr val="1B1C1D"/>
                </a:solidFill>
                <a:effectLst/>
                <a:latin typeface="Franklin Gothic Book (Body)"/>
                <a:sym typeface="+mn-ea"/>
              </a:rPr>
              <a:t>Programming :</a:t>
            </a:r>
            <a:r>
              <a:rPr lang="en-US" altLang="en-US" dirty="0">
                <a:ln>
                  <a:noFill/>
                </a:ln>
                <a:solidFill>
                  <a:srgbClr val="1B1C1D"/>
                </a:solidFill>
                <a:effectLst/>
                <a:latin typeface="Franklin Gothic Book (Body)"/>
                <a:sym typeface="+mn-ea"/>
              </a:rPr>
              <a:t> Python 3.xx ,Embedded</a:t>
            </a:r>
            <a:r>
              <a:rPr lang="en-US" altLang="en-US" dirty="0">
                <a:solidFill>
                  <a:srgbClr val="1B1C1D"/>
                </a:solidFill>
                <a:latin typeface="Franklin Gothic Book (Body)"/>
                <a:sym typeface="+mn-ea"/>
              </a:rPr>
              <a:t>-C</a:t>
            </a:r>
            <a:endParaRPr kumimoji="0" lang="en-US" altLang="en-US" b="0" i="0" u="none" strike="noStrike" cap="none" normalizeH="0" baseline="0" dirty="0">
              <a:ln>
                <a:noFill/>
              </a:ln>
              <a:solidFill>
                <a:srgbClr val="1B1C1D"/>
              </a:solidFill>
              <a:effectLst/>
              <a:latin typeface="Franklin Gothic Book (Body)"/>
            </a:endParaRPr>
          </a:p>
          <a:p>
            <a:pPr lvl="0" eaLnBrk="0" fontAlgn="base" hangingPunct="0">
              <a:spcBef>
                <a:spcPct val="0"/>
              </a:spcBef>
              <a:spcAft>
                <a:spcPct val="0"/>
              </a:spcAft>
              <a:buFontTx/>
              <a:buChar char="•"/>
            </a:pPr>
            <a:r>
              <a:rPr lang="en-US" altLang="en-US" b="1" dirty="0">
                <a:ln>
                  <a:noFill/>
                </a:ln>
                <a:solidFill>
                  <a:srgbClr val="1B1C1D"/>
                </a:solidFill>
                <a:effectLst/>
                <a:latin typeface="Franklin Gothic Book (Body)"/>
                <a:sym typeface="+mn-ea"/>
              </a:rPr>
              <a:t>Deep Learning Libraries:</a:t>
            </a:r>
            <a:r>
              <a:rPr lang="en-US" altLang="en-US" dirty="0">
                <a:ln>
                  <a:noFill/>
                </a:ln>
                <a:solidFill>
                  <a:srgbClr val="1B1C1D"/>
                </a:solidFill>
                <a:effectLst/>
                <a:latin typeface="Franklin Gothic Book (Body)"/>
                <a:sym typeface="+mn-ea"/>
              </a:rPr>
              <a:t> TensorFlow, </a:t>
            </a:r>
            <a:r>
              <a:rPr lang="en-US" altLang="en-US" dirty="0" err="1">
                <a:ln>
                  <a:noFill/>
                </a:ln>
                <a:solidFill>
                  <a:srgbClr val="1B1C1D"/>
                </a:solidFill>
                <a:effectLst/>
                <a:latin typeface="Franklin Gothic Book (Body)"/>
                <a:sym typeface="+mn-ea"/>
              </a:rPr>
              <a:t>Keras</a:t>
            </a:r>
            <a:r>
              <a:rPr lang="en-US" altLang="en-US" dirty="0">
                <a:ln>
                  <a:noFill/>
                </a:ln>
                <a:solidFill>
                  <a:srgbClr val="1B1C1D"/>
                </a:solidFill>
                <a:effectLst/>
                <a:latin typeface="Franklin Gothic Book (Body)"/>
                <a:sym typeface="+mn-ea"/>
              </a:rPr>
              <a:t>, </a:t>
            </a:r>
            <a:r>
              <a:rPr lang="en-US" altLang="en-US" dirty="0" err="1">
                <a:ln>
                  <a:noFill/>
                </a:ln>
                <a:solidFill>
                  <a:srgbClr val="1B1C1D"/>
                </a:solidFill>
                <a:effectLst/>
                <a:latin typeface="Franklin Gothic Book (Body)"/>
                <a:sym typeface="+mn-ea"/>
              </a:rPr>
              <a:t>PyTorch</a:t>
            </a:r>
            <a:endParaRPr kumimoji="0" lang="en-US" altLang="en-US" b="0" i="0" u="none" strike="noStrike" cap="none" normalizeH="0" baseline="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rgbClr val="1B1C1D"/>
                </a:solidFill>
                <a:effectLst/>
                <a:latin typeface="Franklin Gothic Book (Body)"/>
                <a:sym typeface="+mn-ea"/>
              </a:rPr>
              <a:t>Machine Learning Algorithms:</a:t>
            </a:r>
            <a:r>
              <a:rPr lang="en-US" altLang="en-US" dirty="0">
                <a:ln>
                  <a:noFill/>
                </a:ln>
                <a:solidFill>
                  <a:srgbClr val="1B1C1D"/>
                </a:solidFill>
                <a:effectLst/>
                <a:latin typeface="Franklin Gothic Book (Body)"/>
                <a:sym typeface="+mn-ea"/>
              </a:rPr>
              <a:t>  Isolation Forest</a:t>
            </a:r>
            <a:endParaRPr kumimoji="0" lang="en-US" altLang="en-US" b="0" i="0" u="none" strike="noStrike" cap="none" normalizeH="0" baseline="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rgbClr val="1B1C1D"/>
                </a:solidFill>
                <a:effectLst/>
                <a:latin typeface="Franklin Gothic Book (Body)"/>
                <a:sym typeface="+mn-ea"/>
              </a:rPr>
              <a:t>Federated Learning:</a:t>
            </a:r>
            <a:r>
              <a:rPr lang="en-US" altLang="en-US" dirty="0">
                <a:ln>
                  <a:noFill/>
                </a:ln>
                <a:solidFill>
                  <a:srgbClr val="1B1C1D"/>
                </a:solidFill>
                <a:effectLst/>
                <a:latin typeface="Franklin Gothic Book (Body)"/>
                <a:sym typeface="+mn-ea"/>
              </a:rPr>
              <a:t> TensorFlow Federated (TFF)</a:t>
            </a:r>
            <a:endParaRPr kumimoji="0" lang="en-US" altLang="en-US" b="0" i="0" u="none" strike="noStrike" cap="none" normalizeH="0" baseline="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rgbClr val="1B1C1D"/>
                </a:solidFill>
                <a:effectLst/>
                <a:latin typeface="Franklin Gothic Book (Body)"/>
                <a:sym typeface="+mn-ea"/>
              </a:rPr>
              <a:t>Frontend:</a:t>
            </a:r>
            <a:r>
              <a:rPr lang="en-US" altLang="en-US" dirty="0">
                <a:ln>
                  <a:noFill/>
                </a:ln>
                <a:solidFill>
                  <a:srgbClr val="1B1C1D"/>
                </a:solidFill>
                <a:effectLst/>
                <a:latin typeface="Franklin Gothic Book (Body)"/>
                <a:sym typeface="+mn-ea"/>
              </a:rPr>
              <a:t> </a:t>
            </a:r>
            <a:r>
              <a:rPr lang="en-US" altLang="en-US" dirty="0" err="1">
                <a:ln>
                  <a:noFill/>
                </a:ln>
                <a:solidFill>
                  <a:srgbClr val="1B1C1D"/>
                </a:solidFill>
                <a:effectLst/>
                <a:latin typeface="Franklin Gothic Book (Body)"/>
                <a:sym typeface="+mn-ea"/>
              </a:rPr>
              <a:t>React.js,Tailwind</a:t>
            </a:r>
            <a:r>
              <a:rPr lang="en-US" altLang="en-US" dirty="0">
                <a:ln>
                  <a:noFill/>
                </a:ln>
                <a:solidFill>
                  <a:srgbClr val="1B1C1D"/>
                </a:solidFill>
                <a:effectLst/>
                <a:latin typeface="Franklin Gothic Book (Body)"/>
                <a:sym typeface="+mn-ea"/>
              </a:rPr>
              <a:t> CSS</a:t>
            </a:r>
            <a:endParaRPr kumimoji="0" lang="en-US" altLang="en-US" b="0" i="0" u="none" strike="noStrike" cap="none" normalizeH="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solidFill>
                  <a:srgbClr val="1B1C1D"/>
                </a:solidFill>
                <a:latin typeface="Franklin Gothic Book (Body)"/>
                <a:sym typeface="+mn-ea"/>
              </a:rPr>
              <a:t>Backend</a:t>
            </a:r>
            <a:r>
              <a:rPr lang="en-US" altLang="en-US" dirty="0">
                <a:solidFill>
                  <a:srgbClr val="1B1C1D"/>
                </a:solidFill>
                <a:latin typeface="Franklin Gothic Book (Body)"/>
                <a:sym typeface="+mn-ea"/>
              </a:rPr>
              <a:t>: FLASK ,Postman</a:t>
            </a:r>
            <a:endParaRPr kumimoji="0" lang="en-US" altLang="en-US" b="0" i="0" u="none" strike="noStrike" cap="none" normalizeH="0" baseline="0" dirty="0">
              <a:ln>
                <a:noFill/>
              </a:ln>
              <a:solidFill>
                <a:srgbClr val="1B1C1D"/>
              </a:solidFill>
              <a:effectLst/>
              <a:latin typeface="Franklin Gothic Book (Body)"/>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b="1" dirty="0">
                <a:ln>
                  <a:noFill/>
                </a:ln>
                <a:solidFill>
                  <a:srgbClr val="1B1C1D"/>
                </a:solidFill>
                <a:effectLst/>
                <a:latin typeface="Franklin Gothic Book (Body)"/>
                <a:sym typeface="+mn-ea"/>
              </a:rPr>
              <a:t>IDE / Editor:</a:t>
            </a:r>
            <a:r>
              <a:rPr lang="en-US" altLang="en-US" dirty="0">
                <a:ln>
                  <a:noFill/>
                </a:ln>
                <a:solidFill>
                  <a:srgbClr val="1B1C1D"/>
                </a:solidFill>
                <a:effectLst/>
                <a:latin typeface="Franklin Gothic Book (Body)"/>
                <a:sym typeface="+mn-ea"/>
              </a:rPr>
              <a:t> VS Code, Arduino IDE</a:t>
            </a:r>
          </a:p>
        </p:txBody>
      </p:sp>
      <p:sp>
        <p:nvSpPr>
          <p:cNvPr id="3" name="Rectangle 1"/>
          <p:cNvSpPr>
            <a:spLocks noChangeArrowheads="1"/>
          </p:cNvSpPr>
          <p:nvPr/>
        </p:nvSpPr>
        <p:spPr bwMode="auto">
          <a:xfrm>
            <a:off x="2667000" y="719138"/>
            <a:ext cx="19748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35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541737"/>
            <a:ext cx="6172200" cy="857250"/>
          </a:xfrm>
        </p:spPr>
        <p:txBody>
          <a:bodyPr/>
          <a:lstStyle/>
          <a:p>
            <a:pPr algn="ctr"/>
            <a:r>
              <a:rPr lang="en-US" sz="2700" b="1" dirty="0">
                <a:latin typeface="Bookman Old Style" panose="02050604050505020204" pitchFamily="18" charset="0"/>
              </a:rPr>
              <a:t>MODULES</a:t>
            </a:r>
            <a:endParaRPr lang="en-US" sz="2700" dirty="0"/>
          </a:p>
        </p:txBody>
      </p:sp>
      <p:sp>
        <p:nvSpPr>
          <p:cNvPr id="3" name="Content Placeholder 2"/>
          <p:cNvSpPr>
            <a:spLocks noGrp="1"/>
          </p:cNvSpPr>
          <p:nvPr>
            <p:ph idx="1"/>
          </p:nvPr>
        </p:nvSpPr>
        <p:spPr>
          <a:xfrm>
            <a:off x="2057400" y="1295400"/>
            <a:ext cx="10757535" cy="6693535"/>
          </a:xfrm>
        </p:spPr>
        <p:txBody>
          <a:bodyPr>
            <a:noAutofit/>
          </a:bodyPr>
          <a:lstStyle/>
          <a:p>
            <a:pPr marL="0" lvl="0" indent="0" algn="l">
              <a:buNone/>
            </a:pPr>
            <a:r>
              <a:rPr lang="en-US" altLang="en-US" sz="2800" b="1" dirty="0"/>
              <a:t>Module 1: IoT Sensing and Data Acquisition</a:t>
            </a:r>
          </a:p>
          <a:p>
            <a:pPr marL="0" lvl="0" indent="0" algn="l">
              <a:buNone/>
            </a:pPr>
            <a:r>
              <a:rPr lang="en-US" altLang="en-US" sz="1600" b="1" dirty="0"/>
              <a:t>This module serves as the "Edge Layer" of the architecture. Its primary function is to interface</a:t>
            </a:r>
          </a:p>
          <a:p>
            <a:pPr marL="0" lvl="0" indent="0" algn="l">
              <a:buNone/>
            </a:pPr>
            <a:r>
              <a:rPr lang="en-US" altLang="en-US" sz="1600" b="1" dirty="0"/>
              <a:t>with the physical environment and convert analog fuel levels into digital data.</a:t>
            </a:r>
          </a:p>
          <a:p>
            <a:pPr marL="0" lvl="0" indent="0" algn="l">
              <a:buNone/>
            </a:pPr>
            <a:r>
              <a:rPr lang="en-US" altLang="en-US" sz="1600" b="1" dirty="0"/>
              <a:t>● Key Components: NodeMCU (ESP8266), HC-SR04 Ultrasonic Sensor.</a:t>
            </a:r>
          </a:p>
          <a:p>
            <a:pPr marL="0" lvl="0" indent="0" algn="l">
              <a:buNone/>
            </a:pPr>
            <a:r>
              <a:rPr lang="en-US" altLang="en-US" sz="1600" b="1" dirty="0"/>
              <a:t>● Functionality:</a:t>
            </a:r>
          </a:p>
          <a:p>
            <a:pPr marL="0" lvl="0" indent="0" algn="l">
              <a:buNone/>
            </a:pPr>
            <a:r>
              <a:rPr lang="en-US" altLang="en-US" sz="1600" b="1" dirty="0"/>
              <a:t>○ The Ultrasonic Sensor triggers sound waves to measure the distance to the fuel</a:t>
            </a:r>
          </a:p>
          <a:p>
            <a:pPr marL="0" lvl="0" indent="0" algn="l">
              <a:buNone/>
            </a:pPr>
            <a:r>
              <a:rPr lang="en-US" altLang="en-US" sz="1600" b="1" dirty="0"/>
              <a:t>surface.</a:t>
            </a:r>
          </a:p>
          <a:p>
            <a:pPr marL="0" lvl="0" indent="0" algn="l">
              <a:buNone/>
            </a:pPr>
            <a:r>
              <a:rPr lang="en-US" altLang="en-US" sz="1600" b="1" dirty="0"/>
              <a:t>○ The NodeMCU calculates the time-of-flight (ToF) and converts it into distance</a:t>
            </a:r>
          </a:p>
          <a:p>
            <a:pPr marL="0" lvl="0" indent="0" algn="l">
              <a:buNone/>
            </a:pPr>
            <a:r>
              <a:rPr lang="en-US" altLang="en-US" sz="1600" b="1" dirty="0"/>
              <a:t>(centimeters).</a:t>
            </a:r>
          </a:p>
          <a:p>
            <a:pPr marL="0" lvl="0" indent="0" algn="l">
              <a:buNone/>
            </a:pPr>
            <a:r>
              <a:rPr lang="en-US" altLang="en-US" sz="1600" b="1" dirty="0"/>
              <a:t>○ Noise Filtering: Implements a localized filter to ignore invalid readings (0cm or</a:t>
            </a:r>
          </a:p>
          <a:p>
            <a:pPr marL="0" lvl="0" indent="0" algn="l">
              <a:buNone/>
            </a:pPr>
            <a:r>
              <a:rPr lang="en-US" altLang="en-US" sz="1600" b="1" dirty="0"/>
              <a:t>&gt;400cm) caused by sensor timeouts or vibrations.</a:t>
            </a:r>
          </a:p>
          <a:p>
            <a:pPr marL="0" lvl="0" indent="0" algn="l">
              <a:buNone/>
            </a:pPr>
            <a:r>
              <a:rPr lang="en-US" altLang="en-US" sz="1600" b="1" dirty="0"/>
              <a:t>● Output: Validated raw distance data ready for transmission</a:t>
            </a:r>
          </a:p>
          <a:p>
            <a:pPr marL="0" lvl="0" indent="0" algn="l">
              <a:buNone/>
            </a:pPr>
            <a:endParaRPr lang="en-US" altLang="en-US" sz="1600" b="1" dirty="0"/>
          </a:p>
        </p:txBody>
      </p:sp>
      <p:sp>
        <p:nvSpPr>
          <p:cNvPr id="4" name="Slide Number Placeholder 3"/>
          <p:cNvSpPr>
            <a:spLocks noGrp="1"/>
          </p:cNvSpPr>
          <p:nvPr>
            <p:ph type="sldNum" sz="quarter" idx="12"/>
          </p:nvPr>
        </p:nvSpPr>
        <p:spPr/>
        <p:txBody>
          <a:bodyPr/>
          <a:lstStyle/>
          <a:p>
            <a:fld id="{B6F15528-21DE-4FAA-801E-634DDDAF4B2B}" type="slidenum">
              <a:rPr lang="en-US" sz="1500" smtClean="0"/>
              <a:t>13</a:t>
            </a:fld>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457282"/>
            <a:ext cx="6172200" cy="857250"/>
          </a:xfrm>
        </p:spPr>
        <p:txBody>
          <a:bodyPr/>
          <a:lstStyle/>
          <a:p>
            <a:pPr algn="ctr"/>
            <a:r>
              <a:rPr lang="en-US" sz="2700" b="1" dirty="0">
                <a:latin typeface="Bookman Old Style" panose="02050604050505020204" pitchFamily="18" charset="0"/>
              </a:rPr>
              <a:t>MODULES</a:t>
            </a:r>
            <a:endParaRPr lang="en-US" sz="2700" dirty="0"/>
          </a:p>
        </p:txBody>
      </p:sp>
      <p:sp>
        <p:nvSpPr>
          <p:cNvPr id="3" name="Content Placeholder 2"/>
          <p:cNvSpPr>
            <a:spLocks noGrp="1"/>
          </p:cNvSpPr>
          <p:nvPr>
            <p:ph idx="1"/>
          </p:nvPr>
        </p:nvSpPr>
        <p:spPr>
          <a:xfrm>
            <a:off x="2057400" y="1219200"/>
            <a:ext cx="10757535" cy="5949950"/>
          </a:xfrm>
        </p:spPr>
        <p:txBody>
          <a:bodyPr>
            <a:noAutofit/>
          </a:bodyPr>
          <a:lstStyle/>
          <a:p>
            <a:pPr marL="0" lvl="0" indent="0" algn="l">
              <a:buNone/>
            </a:pPr>
            <a:r>
              <a:rPr lang="en-US" altLang="en-US" sz="2800" b="1" dirty="0"/>
              <a:t>Module 2: Secure Connectivity and API Gateway</a:t>
            </a:r>
            <a:endParaRPr lang="en-US" altLang="en-US" sz="2000" b="1" dirty="0"/>
          </a:p>
          <a:p>
            <a:pPr marL="0" lvl="0" indent="0" algn="l">
              <a:buNone/>
            </a:pPr>
            <a:r>
              <a:rPr lang="en-US" altLang="en-US" sz="1600" b="1" dirty="0"/>
              <a:t>This module handles the communication pipeline between the Edge Node (Hardware) and the</a:t>
            </a:r>
          </a:p>
          <a:p>
            <a:pPr marL="0" lvl="0" indent="0" algn="l">
              <a:buNone/>
            </a:pPr>
            <a:r>
              <a:rPr lang="en-US" altLang="en-US" sz="1600" b="1" dirty="0"/>
              <a:t>Central Server. It ensures that data is transmitted reliably over a local WiFi network.</a:t>
            </a:r>
          </a:p>
          <a:p>
            <a:pPr marL="0" lvl="0" indent="0" algn="l">
              <a:buNone/>
            </a:pPr>
            <a:r>
              <a:rPr lang="en-US" altLang="en-US" sz="1600" b="1" dirty="0"/>
              <a:t>● Key Components: ESP8266 WiFi Client, Python Flask Server (REST API), CORS</a:t>
            </a:r>
          </a:p>
          <a:p>
            <a:pPr marL="0" lvl="0" indent="0" algn="l">
              <a:buNone/>
            </a:pPr>
            <a:r>
              <a:rPr lang="en-US" altLang="en-US" sz="1600" b="1" dirty="0"/>
              <a:t>(Cross-Origin Resource Sharing).</a:t>
            </a:r>
          </a:p>
          <a:p>
            <a:pPr marL="0" lvl="0" indent="0" algn="l">
              <a:buNone/>
            </a:pPr>
            <a:r>
              <a:rPr lang="en-US" altLang="en-US" sz="1600" b="1" dirty="0"/>
              <a:t>● Functionality:</a:t>
            </a:r>
          </a:p>
          <a:p>
            <a:pPr marL="0" lvl="0" indent="0" algn="l">
              <a:buNone/>
            </a:pPr>
            <a:r>
              <a:rPr lang="en-US" altLang="en-US" sz="1600" b="1" dirty="0"/>
              <a:t>○ Establishes a secure WiFi connection using WPA2 protocols.</a:t>
            </a:r>
          </a:p>
          <a:p>
            <a:pPr marL="0" lvl="0" indent="0" algn="l">
              <a:buNone/>
            </a:pPr>
            <a:r>
              <a:rPr lang="en-US" altLang="en-US" sz="1600" b="1" dirty="0"/>
              <a:t>○ Formats sensor data into a JSON Payload ({"distance": "12.5"}).</a:t>
            </a:r>
          </a:p>
          <a:p>
            <a:pPr marL="0" lvl="0" indent="0" algn="l">
              <a:buNone/>
            </a:pPr>
            <a:r>
              <a:rPr lang="en-US" altLang="en-US" sz="1600" b="1" dirty="0"/>
              <a:t>○ Sends data via HTTP POST requests to the server endpoint /update_sensor.</a:t>
            </a:r>
          </a:p>
          <a:p>
            <a:pPr marL="0" lvl="0" indent="0" algn="l">
              <a:buNone/>
            </a:pPr>
            <a:r>
              <a:rPr lang="en-US" altLang="en-US" sz="1600" b="1" dirty="0"/>
              <a:t>○ The Flask API acts as a gateway, receiving data and routing it to the processing logic</a:t>
            </a:r>
          </a:p>
        </p:txBody>
      </p:sp>
      <p:sp>
        <p:nvSpPr>
          <p:cNvPr id="4" name="Slide Number Placeholder 3"/>
          <p:cNvSpPr>
            <a:spLocks noGrp="1"/>
          </p:cNvSpPr>
          <p:nvPr>
            <p:ph type="sldNum" sz="quarter" idx="12"/>
          </p:nvPr>
        </p:nvSpPr>
        <p:spPr/>
        <p:txBody>
          <a:bodyPr/>
          <a:lstStyle/>
          <a:p>
            <a:fld id="{B6F15528-21DE-4FAA-801E-634DDDAF4B2B}" type="slidenum">
              <a:rPr lang="en-US" sz="1500" smtClean="0"/>
              <a:t>14</a:t>
            </a:fld>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1800" y="438232"/>
            <a:ext cx="6172200" cy="857250"/>
          </a:xfrm>
        </p:spPr>
        <p:txBody>
          <a:bodyPr/>
          <a:lstStyle/>
          <a:p>
            <a:pPr algn="ctr"/>
            <a:r>
              <a:rPr lang="en-US" sz="2700" b="1" dirty="0">
                <a:latin typeface="Bookman Old Style" panose="02050604050505020204" pitchFamily="18" charset="0"/>
              </a:rPr>
              <a:t>MODULES</a:t>
            </a:r>
            <a:endParaRPr lang="en-US" sz="2700" dirty="0"/>
          </a:p>
        </p:txBody>
      </p:sp>
      <p:sp>
        <p:nvSpPr>
          <p:cNvPr id="3" name="Content Placeholder 2"/>
          <p:cNvSpPr>
            <a:spLocks noGrp="1"/>
          </p:cNvSpPr>
          <p:nvPr>
            <p:ph idx="1"/>
          </p:nvPr>
        </p:nvSpPr>
        <p:spPr>
          <a:xfrm>
            <a:off x="1828800" y="1295400"/>
            <a:ext cx="9994900" cy="4860290"/>
          </a:xfrm>
        </p:spPr>
        <p:txBody>
          <a:bodyPr>
            <a:noAutofit/>
          </a:bodyPr>
          <a:lstStyle/>
          <a:p>
            <a:pPr marL="0" indent="0" algn="just">
              <a:buNone/>
            </a:pPr>
            <a:r>
              <a:rPr lang="en-US" altLang="en-US" sz="2800" b="1" dirty="0">
                <a:sym typeface="+mn-ea"/>
              </a:rPr>
              <a:t>Modu</a:t>
            </a:r>
            <a:r>
              <a:rPr lang="en-US" altLang="en-US" sz="2400" b="1" dirty="0">
                <a:sym typeface="+mn-ea"/>
              </a:rPr>
              <a:t>le 3: Federated Learning and Anomaly Detection Core</a:t>
            </a:r>
            <a:endParaRPr lang="en-US" altLang="en-US" sz="2400" b="1" dirty="0"/>
          </a:p>
          <a:p>
            <a:pPr marL="0" indent="0" algn="just">
              <a:buNone/>
            </a:pPr>
            <a:r>
              <a:rPr lang="en-US" altLang="en-US" sz="1600" dirty="0">
                <a:sym typeface="+mn-ea"/>
              </a:rPr>
              <a:t>T</a:t>
            </a:r>
            <a:r>
              <a:rPr lang="en-US" altLang="en-US" sz="1600" b="1" dirty="0">
                <a:sym typeface="+mn-ea"/>
              </a:rPr>
              <a:t>his is the "Intelligence Layer" or the brain of the project. It moves beyond simple thresholds</a:t>
            </a:r>
            <a:endParaRPr lang="en-US" altLang="en-US" sz="1600" b="1" dirty="0"/>
          </a:p>
          <a:p>
            <a:pPr marL="0" indent="0" algn="just">
              <a:buNone/>
            </a:pPr>
            <a:r>
              <a:rPr lang="en-US" altLang="en-US" sz="1600" b="1" dirty="0">
                <a:sym typeface="+mn-ea"/>
              </a:rPr>
              <a:t>by using Machine Learning to detect theft patterns.</a:t>
            </a:r>
            <a:endParaRPr lang="en-US" altLang="en-US" sz="1600" b="1" dirty="0"/>
          </a:p>
          <a:p>
            <a:pPr marL="0" indent="0" algn="just">
              <a:buNone/>
            </a:pPr>
            <a:r>
              <a:rPr lang="en-US" altLang="en-US" sz="1600" b="1" dirty="0">
                <a:sym typeface="+mn-ea"/>
              </a:rPr>
              <a:t>● Key Components: Scikit-Learn (Isolation Forest), Federated Averaging Algorithm</a:t>
            </a:r>
            <a:endParaRPr lang="en-US" altLang="en-US" sz="1600" b="1" dirty="0"/>
          </a:p>
          <a:p>
            <a:pPr marL="0" indent="0" algn="just">
              <a:buNone/>
            </a:pPr>
            <a:r>
              <a:rPr lang="en-US" altLang="en-US" sz="1600" b="1" dirty="0">
                <a:sym typeface="+mn-ea"/>
              </a:rPr>
              <a:t>(FedAvg), Python threading.</a:t>
            </a:r>
            <a:endParaRPr lang="en-US" altLang="en-US" sz="1600" b="1" dirty="0"/>
          </a:p>
          <a:p>
            <a:pPr marL="0" indent="0" algn="just">
              <a:buNone/>
            </a:pPr>
            <a:r>
              <a:rPr lang="en-US" altLang="en-US" sz="1600" b="1" dirty="0">
                <a:sym typeface="+mn-ea"/>
              </a:rPr>
              <a:t>● Functionality:</a:t>
            </a:r>
            <a:endParaRPr lang="en-US" altLang="en-US" sz="1600" b="1" dirty="0"/>
          </a:p>
          <a:p>
            <a:pPr marL="0" indent="0" algn="just">
              <a:buNone/>
            </a:pPr>
            <a:r>
              <a:rPr lang="en-US" altLang="en-US" sz="1600" b="1" dirty="0">
                <a:sym typeface="+mn-ea"/>
              </a:rPr>
              <a:t>○ Federated Simulation: Simulates the aggregation of local model weights from edge</a:t>
            </a:r>
            <a:endParaRPr lang="en-US" altLang="en-US" sz="1600" b="1" dirty="0"/>
          </a:p>
          <a:p>
            <a:pPr marL="0" indent="0" algn="just">
              <a:buNone/>
            </a:pPr>
            <a:r>
              <a:rPr lang="en-US" altLang="en-US" sz="1600" b="1" dirty="0">
                <a:sym typeface="+mn-ea"/>
              </a:rPr>
              <a:t>nodes to update a Global Model without exposing raw user data, ensuring privacy.</a:t>
            </a:r>
            <a:endParaRPr lang="en-US" altLang="en-US" sz="1600" b="1" dirty="0"/>
          </a:p>
          <a:p>
            <a:pPr marL="0" indent="0" algn="just">
              <a:buNone/>
            </a:pPr>
            <a:r>
              <a:rPr lang="en-US" altLang="en-US" sz="1600" b="1" dirty="0">
                <a:sym typeface="+mn-ea"/>
              </a:rPr>
              <a:t>○ Isolation Forest: An unsupervised learning algorithm that trains dynamically on</a:t>
            </a:r>
            <a:endParaRPr lang="en-US" altLang="en-US" sz="1600" b="1" dirty="0"/>
          </a:p>
          <a:p>
            <a:pPr marL="0" indent="0" algn="just">
              <a:buNone/>
            </a:pPr>
            <a:r>
              <a:rPr lang="en-US" altLang="en-US" sz="1600" b="1" dirty="0">
                <a:sym typeface="+mn-ea"/>
              </a:rPr>
              <a:t>incoming data streams. It assigns an "Anomaly Score" to every reading.</a:t>
            </a:r>
            <a:endParaRPr lang="en-US" altLang="en-US" sz="1600" b="1" dirty="0"/>
          </a:p>
          <a:p>
            <a:pPr marL="0" indent="0" algn="just">
              <a:buNone/>
            </a:pPr>
            <a:r>
              <a:rPr lang="en-US" altLang="en-US" sz="1600" b="1" dirty="0">
                <a:sym typeface="+mn-ea"/>
              </a:rPr>
              <a:t>○ Hybrid Logic: Combines the ML score with a deterministic "Ground Truth" check</a:t>
            </a:r>
            <a:endParaRPr lang="en-US" altLang="en-US" sz="1600" b="1" dirty="0"/>
          </a:p>
          <a:p>
            <a:pPr marL="0" indent="0" algn="just">
              <a:buNone/>
            </a:pPr>
            <a:r>
              <a:rPr lang="en-US" altLang="en-US" sz="1600" dirty="0">
                <a:sym typeface="+mn-ea"/>
              </a:rPr>
              <a:t>(</a:t>
            </a:r>
            <a:r>
              <a:rPr lang="en-US" altLang="en-US" sz="1600" b="1" dirty="0">
                <a:sym typeface="+mn-ea"/>
              </a:rPr>
              <a:t>e.g., &gt;2cm drop) to ensure high accuracy (94-96%).</a:t>
            </a:r>
          </a:p>
        </p:txBody>
      </p:sp>
      <p:sp>
        <p:nvSpPr>
          <p:cNvPr id="4" name="Slide Number Placeholder 3"/>
          <p:cNvSpPr>
            <a:spLocks noGrp="1"/>
          </p:cNvSpPr>
          <p:nvPr>
            <p:ph type="sldNum" sz="quarter" idx="12"/>
          </p:nvPr>
        </p:nvSpPr>
        <p:spPr/>
        <p:txBody>
          <a:bodyPr/>
          <a:lstStyle/>
          <a:p>
            <a:fld id="{B6F15528-21DE-4FAA-801E-634DDDAF4B2B}" type="slidenum">
              <a:rPr lang="en-US" sz="1500" smtClean="0"/>
              <a:t>15</a:t>
            </a:fld>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295992"/>
            <a:ext cx="6172200" cy="857250"/>
          </a:xfrm>
        </p:spPr>
        <p:txBody>
          <a:bodyPr/>
          <a:lstStyle/>
          <a:p>
            <a:pPr algn="ctr"/>
            <a:r>
              <a:rPr lang="en-US" sz="2700" b="1" dirty="0">
                <a:latin typeface="Bookman Old Style" panose="02050604050505020204" pitchFamily="18" charset="0"/>
              </a:rPr>
              <a:t>MODULES</a:t>
            </a:r>
            <a:endParaRPr lang="en-US" sz="2700" dirty="0"/>
          </a:p>
        </p:txBody>
      </p:sp>
      <p:sp>
        <p:nvSpPr>
          <p:cNvPr id="3" name="Content Placeholder 2"/>
          <p:cNvSpPr>
            <a:spLocks noGrp="1"/>
          </p:cNvSpPr>
          <p:nvPr>
            <p:ph idx="1"/>
          </p:nvPr>
        </p:nvSpPr>
        <p:spPr>
          <a:xfrm>
            <a:off x="1600200" y="1295400"/>
            <a:ext cx="10426065" cy="6073775"/>
          </a:xfrm>
        </p:spPr>
        <p:txBody>
          <a:bodyPr/>
          <a:lstStyle/>
          <a:p>
            <a:pPr marL="0" indent="0" algn="just">
              <a:buNone/>
            </a:pPr>
            <a:r>
              <a:rPr lang="en-US" altLang="en-US" sz="2800" b="1" dirty="0"/>
              <a:t>Module 4: Intelligent Alerting and Actuation System</a:t>
            </a:r>
          </a:p>
          <a:p>
            <a:pPr marL="0" indent="0" algn="just">
              <a:buNone/>
            </a:pPr>
            <a:r>
              <a:rPr lang="en-US" altLang="en-US" sz="1600" b="1" dirty="0"/>
              <a:t>This module is responsible for decision-making and physical feedback. It ensures that false</a:t>
            </a:r>
          </a:p>
          <a:p>
            <a:pPr marL="0" indent="0" algn="just">
              <a:buNone/>
            </a:pPr>
            <a:r>
              <a:rPr lang="en-US" altLang="en-US" sz="1600" b="1" dirty="0"/>
              <a:t>alarms (due to shaking) are minimized while genuine theft is acted upon instantly.</a:t>
            </a:r>
          </a:p>
          <a:p>
            <a:pPr marL="0" indent="0" algn="just">
              <a:buNone/>
            </a:pPr>
            <a:r>
              <a:rPr lang="en-US" altLang="en-US" sz="1600" b="1" dirty="0"/>
              <a:t>● Key Components: Buzzer, LED, Hardware-Software Sync Logic.</a:t>
            </a:r>
          </a:p>
          <a:p>
            <a:pPr marL="0" indent="0" algn="just">
              <a:buNone/>
            </a:pPr>
            <a:r>
              <a:rPr lang="en-US" altLang="en-US" sz="1600" b="1" dirty="0"/>
              <a:t>● Functionality:</a:t>
            </a:r>
          </a:p>
          <a:p>
            <a:pPr marL="0" indent="0" algn="just">
              <a:buNone/>
            </a:pPr>
            <a:r>
              <a:rPr lang="en-US" altLang="en-US" sz="1600" b="1" dirty="0"/>
              <a:t>○ Debouncing Logic: Implements a "Confirmation Counter" that requires 3</a:t>
            </a:r>
          </a:p>
          <a:p>
            <a:pPr marL="0" indent="0" algn="just">
              <a:buNone/>
            </a:pPr>
            <a:r>
              <a:rPr lang="en-US" altLang="en-US" sz="1600" b="1" dirty="0"/>
              <a:t>consecutive anomalous readings to trigger an alarm, preventing false positives from</a:t>
            </a:r>
          </a:p>
          <a:p>
            <a:pPr marL="0" indent="0" algn="just">
              <a:buNone/>
            </a:pPr>
            <a:r>
              <a:rPr lang="en-US" altLang="en-US" sz="1600" b="1" dirty="0"/>
              <a:t>vehicle movement.</a:t>
            </a:r>
          </a:p>
          <a:p>
            <a:pPr marL="0" indent="0" algn="just">
              <a:buNone/>
            </a:pPr>
            <a:r>
              <a:rPr lang="en-US" altLang="en-US" sz="1600" b="1" dirty="0"/>
              <a:t>○ Heartbeat Monitor: Tracks the connection status; if the hardware disconnects for &gt;5</a:t>
            </a:r>
          </a:p>
          <a:p>
            <a:pPr marL="0" indent="0" algn="just">
              <a:buNone/>
            </a:pPr>
            <a:r>
              <a:rPr lang="en-US" altLang="en-US" sz="1600" b="1" dirty="0"/>
              <a:t>seconds, the system automatically flags the status as "OFFLINE."</a:t>
            </a:r>
          </a:p>
          <a:p>
            <a:pPr marL="0" indent="0" algn="just">
              <a:buNone/>
            </a:pPr>
            <a:r>
              <a:rPr lang="en-US" altLang="en-US" sz="1600" b="1" dirty="0"/>
              <a:t>○ Actuation: If theft is confirmed, the server sends Command: 1 back to the NodeMCU,</a:t>
            </a:r>
          </a:p>
          <a:p>
            <a:pPr marL="0" indent="0" algn="just">
              <a:buNone/>
            </a:pPr>
            <a:r>
              <a:rPr lang="en-US" altLang="en-US" sz="1600" b="1" dirty="0"/>
              <a:t>triggering the physical Buzzer and LED for a fixed duration (5 seconds).</a:t>
            </a:r>
          </a:p>
        </p:txBody>
      </p:sp>
      <p:sp>
        <p:nvSpPr>
          <p:cNvPr id="4" name="Slide Number Placeholder 3"/>
          <p:cNvSpPr>
            <a:spLocks noGrp="1"/>
          </p:cNvSpPr>
          <p:nvPr>
            <p:ph type="sldNum" sz="quarter" idx="12"/>
          </p:nvPr>
        </p:nvSpPr>
        <p:spPr/>
        <p:txBody>
          <a:bodyPr/>
          <a:lstStyle/>
          <a:p>
            <a:fld id="{B6F15528-21DE-4FAA-801E-634DDDAF4B2B}" type="slidenum">
              <a:rPr lang="en-US" sz="1500" smtClean="0"/>
              <a:t>16</a:t>
            </a:fld>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2115" y="838249"/>
            <a:ext cx="6172200" cy="857250"/>
          </a:xfrm>
        </p:spPr>
        <p:txBody>
          <a:bodyPr/>
          <a:lstStyle/>
          <a:p>
            <a:pPr algn="ctr"/>
            <a:r>
              <a:rPr lang="en-US" sz="2700" b="1" dirty="0">
                <a:latin typeface="Bookman Old Style" panose="02050604050505020204" pitchFamily="18" charset="0"/>
              </a:rPr>
              <a:t>MODULES</a:t>
            </a:r>
            <a:endParaRPr lang="en-US" sz="2700" dirty="0"/>
          </a:p>
        </p:txBody>
      </p:sp>
      <p:sp>
        <p:nvSpPr>
          <p:cNvPr id="3" name="Content Placeholder 2"/>
          <p:cNvSpPr>
            <a:spLocks noGrp="1"/>
          </p:cNvSpPr>
          <p:nvPr>
            <p:ph idx="1"/>
          </p:nvPr>
        </p:nvSpPr>
        <p:spPr>
          <a:xfrm>
            <a:off x="1676400" y="1600200"/>
            <a:ext cx="10071735" cy="4155440"/>
          </a:xfrm>
        </p:spPr>
        <p:txBody>
          <a:bodyPr>
            <a:normAutofit lnSpcReduction="10000"/>
          </a:bodyPr>
          <a:lstStyle/>
          <a:p>
            <a:pPr marL="0" indent="0" algn="just">
              <a:buNone/>
            </a:pPr>
            <a:r>
              <a:rPr lang="en-US" altLang="en-US" sz="2800" b="1" dirty="0"/>
              <a:t>Module 5: Real-Time Monitoring Dashboard</a:t>
            </a:r>
          </a:p>
          <a:p>
            <a:pPr marL="0" indent="0" algn="just">
              <a:buNone/>
            </a:pPr>
            <a:r>
              <a:rPr lang="en-US" altLang="en-US" sz="1600" b="1" dirty="0"/>
              <a:t>This module provides the User Interface (UI) for administrators to monitor fuel status,</a:t>
            </a:r>
          </a:p>
          <a:p>
            <a:pPr marL="0" indent="0" algn="just">
              <a:buNone/>
            </a:pPr>
            <a:r>
              <a:rPr lang="en-US" altLang="en-US" sz="1600" b="1" dirty="0"/>
              <a:t>historical trends, and system health visually.</a:t>
            </a:r>
          </a:p>
          <a:p>
            <a:pPr marL="0" indent="0" algn="just">
              <a:buNone/>
            </a:pPr>
            <a:r>
              <a:rPr lang="en-US" altLang="en-US" sz="1600" b="1" dirty="0"/>
              <a:t>● Key Components: React.js (Vite), Tailwind CSS, Recharts (Data Visualization), Axios.</a:t>
            </a:r>
          </a:p>
          <a:p>
            <a:pPr marL="0" indent="0" algn="just">
              <a:buNone/>
            </a:pPr>
            <a:r>
              <a:rPr lang="en-US" altLang="en-US" sz="1600" b="1" dirty="0"/>
              <a:t>● Functionality:</a:t>
            </a:r>
          </a:p>
          <a:p>
            <a:pPr marL="0" indent="0" algn="just">
              <a:buNone/>
            </a:pPr>
            <a:r>
              <a:rPr lang="en-US" altLang="en-US" sz="1600" b="1" dirty="0"/>
              <a:t>○ Live Visualization: Renders a real-time line chart showing fuel level fluctuations over</a:t>
            </a:r>
          </a:p>
          <a:p>
            <a:pPr marL="0" indent="0" algn="just">
              <a:buNone/>
            </a:pPr>
            <a:r>
              <a:rPr lang="en-US" altLang="en-US" sz="1600" b="1" dirty="0"/>
              <a:t>the last 20 readings.</a:t>
            </a:r>
          </a:p>
          <a:p>
            <a:pPr marL="0" indent="0" algn="just">
              <a:buNone/>
            </a:pPr>
            <a:r>
              <a:rPr lang="en-US" altLang="en-US" sz="1600" b="1" dirty="0"/>
              <a:t>○ Status Indicators: Displays color-coded cards (Green for Normal, Red for Theft,</a:t>
            </a:r>
          </a:p>
          <a:p>
            <a:pPr marL="0" indent="0" algn="just">
              <a:buNone/>
            </a:pPr>
            <a:r>
              <a:rPr lang="en-US" altLang="en-US" sz="1600" b="1" dirty="0"/>
              <a:t>Grey for Offline) for instant status recognition.</a:t>
            </a:r>
          </a:p>
          <a:p>
            <a:pPr marL="0" indent="0" algn="just">
              <a:buNone/>
            </a:pPr>
            <a:r>
              <a:rPr lang="en-US" altLang="en-US" sz="1600" b="1" dirty="0"/>
              <a:t>○ Dynamic Polling: Fetches system status from the backend every 1 second to ensure</a:t>
            </a:r>
          </a:p>
          <a:p>
            <a:pPr marL="0" indent="0" algn="just">
              <a:buNone/>
            </a:pPr>
            <a:r>
              <a:rPr lang="en-US" altLang="en-US" sz="1600" b="1" dirty="0"/>
              <a:t>the dashboard is always synchronized with the hardware.</a:t>
            </a:r>
          </a:p>
        </p:txBody>
      </p:sp>
      <p:sp>
        <p:nvSpPr>
          <p:cNvPr id="4" name="Slide Number Placeholder 3"/>
          <p:cNvSpPr>
            <a:spLocks noGrp="1"/>
          </p:cNvSpPr>
          <p:nvPr>
            <p:ph type="sldNum" sz="quarter" idx="12"/>
          </p:nvPr>
        </p:nvSpPr>
        <p:spPr/>
        <p:txBody>
          <a:bodyPr/>
          <a:lstStyle/>
          <a:p>
            <a:fld id="{B6F15528-21DE-4FAA-801E-634DDDAF4B2B}" type="slidenum">
              <a:rPr lang="en-US" sz="1500" smtClean="0"/>
              <a:t>17</a:t>
            </a:fld>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Bookman Old Style" panose="02050604050505020204" pitchFamily="18" charset="0"/>
              </a:rPr>
              <a:t>OUTPUT/RESULTS</a:t>
            </a:r>
          </a:p>
        </p:txBody>
      </p:sp>
      <p:sp>
        <p:nvSpPr>
          <p:cNvPr id="4" name="Slide Number Placeholder 3"/>
          <p:cNvSpPr>
            <a:spLocks noGrp="1"/>
          </p:cNvSpPr>
          <p:nvPr>
            <p:ph type="sldNum" sz="quarter" idx="12"/>
          </p:nvPr>
        </p:nvSpPr>
        <p:spPr/>
        <p:txBody>
          <a:bodyPr/>
          <a:lstStyle/>
          <a:p>
            <a:fld id="{B6F15528-21DE-4FAA-801E-634DDDAF4B2B}" type="slidenum">
              <a:rPr lang="en-US" sz="1500" smtClean="0"/>
              <a:t>18</a:t>
            </a:fld>
            <a:endParaRPr lang="en-US" sz="1500" dirty="0"/>
          </a:p>
        </p:txBody>
      </p:sp>
      <p:sp>
        <p:nvSpPr>
          <p:cNvPr id="7" name="TextBox 6"/>
          <p:cNvSpPr txBox="1"/>
          <p:nvPr/>
        </p:nvSpPr>
        <p:spPr>
          <a:xfrm>
            <a:off x="5927855" y="6084347"/>
            <a:ext cx="2117090" cy="299085"/>
          </a:xfrm>
          <a:prstGeom prst="rect">
            <a:avLst/>
          </a:prstGeom>
          <a:noFill/>
        </p:spPr>
        <p:txBody>
          <a:bodyPr wrap="none" rtlCol="0">
            <a:spAutoFit/>
          </a:bodyPr>
          <a:lstStyle/>
          <a:p>
            <a:r>
              <a:rPr lang="en-US" sz="1350" b="1" dirty="0"/>
              <a:t>Structure Of the Project</a:t>
            </a:r>
            <a:endParaRPr lang="en-GB" sz="1350" b="1" dirty="0"/>
          </a:p>
        </p:txBody>
      </p:sp>
      <p:pic>
        <p:nvPicPr>
          <p:cNvPr id="5" name="Picture 4" descr="A screen shot of a computer program&#10;&#10;AI-generated content may be incorrect.">
            <a:extLst>
              <a:ext uri="{FF2B5EF4-FFF2-40B4-BE49-F238E27FC236}">
                <a16:creationId xmlns:a16="http://schemas.microsoft.com/office/drawing/2014/main" id="{EF63678C-8112-C037-F90E-FCA9D7DFB826}"/>
              </a:ext>
            </a:extLst>
          </p:cNvPr>
          <p:cNvPicPr>
            <a:picLocks noChangeAspect="1"/>
          </p:cNvPicPr>
          <p:nvPr/>
        </p:nvPicPr>
        <p:blipFill>
          <a:blip r:embed="rId2"/>
          <a:stretch>
            <a:fillRect/>
          </a:stretch>
        </p:blipFill>
        <p:spPr>
          <a:xfrm>
            <a:off x="3366900" y="1447800"/>
            <a:ext cx="7239000" cy="436925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z="1500" smtClean="0"/>
              <a:t>19</a:t>
            </a:fld>
            <a:endParaRPr lang="en-US" sz="1500" dirty="0"/>
          </a:p>
        </p:txBody>
      </p:sp>
      <p:sp>
        <p:nvSpPr>
          <p:cNvPr id="11" name="TextBox 10"/>
          <p:cNvSpPr txBox="1"/>
          <p:nvPr/>
        </p:nvSpPr>
        <p:spPr>
          <a:xfrm>
            <a:off x="3733800" y="5867400"/>
            <a:ext cx="4891658" cy="299085"/>
          </a:xfrm>
          <a:prstGeom prst="rect">
            <a:avLst/>
          </a:prstGeom>
          <a:noFill/>
        </p:spPr>
        <p:txBody>
          <a:bodyPr wrap="square" rtlCol="0">
            <a:spAutoFit/>
          </a:bodyPr>
          <a:lstStyle/>
          <a:p>
            <a:pPr algn="ctr"/>
            <a:r>
              <a:rPr lang="en-GB" sz="1350" b="1" dirty="0"/>
              <a:t>Folder Structure and package</a:t>
            </a:r>
          </a:p>
        </p:txBody>
      </p:sp>
      <p:pic>
        <p:nvPicPr>
          <p:cNvPr id="5" name="Picture 4" descr="A screenshot of a computer&#10;&#10;AI-generated content may be incorrect.">
            <a:extLst>
              <a:ext uri="{FF2B5EF4-FFF2-40B4-BE49-F238E27FC236}">
                <a16:creationId xmlns:a16="http://schemas.microsoft.com/office/drawing/2014/main" id="{C84FD69B-5675-CA62-0C97-79BC0BFC82FF}"/>
              </a:ext>
            </a:extLst>
          </p:cNvPr>
          <p:cNvPicPr>
            <a:picLocks noChangeAspect="1"/>
          </p:cNvPicPr>
          <p:nvPr/>
        </p:nvPicPr>
        <p:blipFill>
          <a:blip r:embed="rId2"/>
          <a:stretch>
            <a:fillRect/>
          </a:stretch>
        </p:blipFill>
        <p:spPr>
          <a:xfrm>
            <a:off x="1981200" y="970345"/>
            <a:ext cx="8915400" cy="479050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z="1500" smtClean="0"/>
              <a:t>20</a:t>
            </a:fld>
            <a:endParaRPr lang="en-US" sz="1500" dirty="0"/>
          </a:p>
        </p:txBody>
      </p:sp>
      <p:sp>
        <p:nvSpPr>
          <p:cNvPr id="11" name="TextBox 10"/>
          <p:cNvSpPr txBox="1"/>
          <p:nvPr/>
        </p:nvSpPr>
        <p:spPr>
          <a:xfrm>
            <a:off x="3650171" y="5409912"/>
            <a:ext cx="4891658" cy="299085"/>
          </a:xfrm>
          <a:prstGeom prst="rect">
            <a:avLst/>
          </a:prstGeom>
          <a:noFill/>
        </p:spPr>
        <p:txBody>
          <a:bodyPr wrap="square" rtlCol="0">
            <a:spAutoFit/>
          </a:bodyPr>
          <a:lstStyle/>
          <a:p>
            <a:pPr algn="ctr"/>
            <a:r>
              <a:rPr lang="en-US" sz="1350" b="0" i="0" dirty="0">
                <a:solidFill>
                  <a:srgbClr val="0D0D0D"/>
                </a:solidFill>
                <a:effectLst/>
                <a:latin typeface="Söhne"/>
              </a:rPr>
              <a:t>Web User Interface</a:t>
            </a:r>
            <a:endParaRPr lang="en-GB" sz="1350" dirty="0"/>
          </a:p>
        </p:txBody>
      </p:sp>
      <p:pic>
        <p:nvPicPr>
          <p:cNvPr id="3" name="Picture 2" descr="A screenshot of a computer&#10;&#10;AI-generated content may be incorrect.">
            <a:extLst>
              <a:ext uri="{FF2B5EF4-FFF2-40B4-BE49-F238E27FC236}">
                <a16:creationId xmlns:a16="http://schemas.microsoft.com/office/drawing/2014/main" id="{296ABA55-A175-77C7-952A-C58D2864BD9D}"/>
              </a:ext>
            </a:extLst>
          </p:cNvPr>
          <p:cNvPicPr>
            <a:picLocks noChangeAspect="1"/>
          </p:cNvPicPr>
          <p:nvPr/>
        </p:nvPicPr>
        <p:blipFill>
          <a:blip r:embed="rId2"/>
          <a:stretch>
            <a:fillRect/>
          </a:stretch>
        </p:blipFill>
        <p:spPr>
          <a:xfrm>
            <a:off x="2057400" y="685800"/>
            <a:ext cx="8077200" cy="454158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8450" y="838201"/>
            <a:ext cx="6743700" cy="693230"/>
          </a:xfrm>
        </p:spPr>
        <p:txBody>
          <a:bodyPr/>
          <a:lstStyle/>
          <a:p>
            <a:pPr algn="ctr"/>
            <a:r>
              <a:rPr lang="en-US" b="1" dirty="0">
                <a:latin typeface="Bookman Old Style" panose="02050604050505020204" pitchFamily="18" charset="0"/>
              </a:rPr>
              <a:t>REFERENCES</a:t>
            </a:r>
            <a:endParaRPr lang="en-US" dirty="0">
              <a:latin typeface="Bookman Old Style" panose="02050604050505020204" pitchFamily="18" charset="0"/>
            </a:endParaRPr>
          </a:p>
        </p:txBody>
      </p:sp>
      <p:sp>
        <p:nvSpPr>
          <p:cNvPr id="3" name="Content Placeholder 2"/>
          <p:cNvSpPr>
            <a:spLocks noGrp="1"/>
          </p:cNvSpPr>
          <p:nvPr>
            <p:ph idx="1"/>
          </p:nvPr>
        </p:nvSpPr>
        <p:spPr>
          <a:xfrm>
            <a:off x="1163955" y="2016125"/>
            <a:ext cx="10386060" cy="4391025"/>
          </a:xfrm>
        </p:spPr>
        <p:txBody>
          <a:bodyPr>
            <a:normAutofit fontScale="87500" lnSpcReduction="10000"/>
          </a:bodyPr>
          <a:lstStyle/>
          <a:p>
            <a:pPr marL="228600" indent="-228600">
              <a:spcBef>
                <a:spcPct val="0"/>
              </a:spcBef>
              <a:buFont typeface="+mj-lt"/>
              <a:buAutoNum type="arabicPeriod"/>
            </a:pPr>
            <a:r>
              <a:rPr lang="en-US" altLang="en-US" sz="2100" b="1" dirty="0">
                <a:solidFill>
                  <a:schemeClr val="tx1"/>
                </a:solidFill>
                <a:latin typeface="Arial" panose="020B0604020202020204" pitchFamily="34" charset="0"/>
                <a:sym typeface="+mn-ea"/>
              </a:rPr>
              <a:t>Madhusudhana Rao, G., et al.</a:t>
            </a:r>
            <a:r>
              <a:rPr lang="en-US" altLang="en-US" sz="2100" dirty="0">
                <a:solidFill>
                  <a:schemeClr val="tx1"/>
                </a:solidFill>
                <a:latin typeface="Arial" panose="020B0604020202020204" pitchFamily="34" charset="0"/>
                <a:sym typeface="+mn-ea"/>
              </a:rPr>
              <a:t> "Fuel Theft Detection System with Automated Calling and Alert Using GSM." </a:t>
            </a:r>
            <a:r>
              <a:rPr lang="en-US" altLang="en-US" sz="2100" i="1" dirty="0">
                <a:solidFill>
                  <a:schemeClr val="tx1"/>
                </a:solidFill>
                <a:latin typeface="Arial" panose="020B0604020202020204" pitchFamily="34" charset="0"/>
                <a:sym typeface="+mn-ea"/>
              </a:rPr>
              <a:t>International Journal of Innovative Research in Science, Engineering and Technology</a:t>
            </a:r>
            <a:r>
              <a:rPr lang="en-US" altLang="en-US" sz="2100" dirty="0">
                <a:solidFill>
                  <a:schemeClr val="tx1"/>
                </a:solidFill>
                <a:latin typeface="Arial" panose="020B0604020202020204" pitchFamily="34" charset="0"/>
                <a:sym typeface="+mn-ea"/>
              </a:rPr>
              <a:t>, 2024.</a:t>
            </a: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r>
              <a:rPr lang="en-US" altLang="en-US" sz="2100" b="1" dirty="0">
                <a:solidFill>
                  <a:schemeClr val="tx1"/>
                </a:solidFill>
                <a:latin typeface="Arial" panose="020B0604020202020204" pitchFamily="34" charset="0"/>
                <a:sym typeface="+mn-ea"/>
              </a:rPr>
              <a:t>Chaudhari, Durvesh S., et al.</a:t>
            </a:r>
            <a:r>
              <a:rPr lang="en-US" altLang="en-US" sz="2100" dirty="0">
                <a:solidFill>
                  <a:schemeClr val="tx1"/>
                </a:solidFill>
                <a:latin typeface="Arial" panose="020B0604020202020204" pitchFamily="34" charset="0"/>
                <a:sym typeface="+mn-ea"/>
              </a:rPr>
              <a:t> "Fuel Monitoring System Using IoT Device." </a:t>
            </a:r>
            <a:r>
              <a:rPr lang="en-US" altLang="en-US" sz="2100" i="1" dirty="0">
                <a:solidFill>
                  <a:schemeClr val="tx1"/>
                </a:solidFill>
                <a:latin typeface="Arial" panose="020B0604020202020204" pitchFamily="34" charset="0"/>
                <a:sym typeface="+mn-ea"/>
              </a:rPr>
              <a:t>International Research Journal of Modernization in Engineering Technology and Science</a:t>
            </a:r>
            <a:r>
              <a:rPr lang="en-US" altLang="en-US" sz="2100" dirty="0">
                <a:solidFill>
                  <a:schemeClr val="tx1"/>
                </a:solidFill>
                <a:latin typeface="Arial" panose="020B0604020202020204" pitchFamily="34" charset="0"/>
                <a:sym typeface="+mn-ea"/>
              </a:rPr>
              <a:t>, 2024.</a:t>
            </a: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r>
              <a:rPr lang="en-US" altLang="en-US" sz="2100" b="1" dirty="0" err="1">
                <a:solidFill>
                  <a:schemeClr val="tx1"/>
                </a:solidFill>
                <a:latin typeface="Arial" panose="020B0604020202020204" pitchFamily="34" charset="0"/>
                <a:sym typeface="+mn-ea"/>
              </a:rPr>
              <a:t>Pillutla</a:t>
            </a:r>
            <a:r>
              <a:rPr lang="en-US" altLang="en-US" sz="2100" b="1" dirty="0">
                <a:solidFill>
                  <a:schemeClr val="tx1"/>
                </a:solidFill>
                <a:latin typeface="Arial" panose="020B0604020202020204" pitchFamily="34" charset="0"/>
                <a:sym typeface="+mn-ea"/>
              </a:rPr>
              <a:t>, Siva Ramakrishna, et al.</a:t>
            </a:r>
            <a:r>
              <a:rPr lang="en-US" altLang="en-US" sz="2100" dirty="0">
                <a:solidFill>
                  <a:schemeClr val="tx1"/>
                </a:solidFill>
                <a:latin typeface="Arial" panose="020B0604020202020204" pitchFamily="34" charset="0"/>
                <a:sym typeface="+mn-ea"/>
              </a:rPr>
              <a:t> "Design and Implementation of Vehicle Theft Prevention by Operating Fuel Injector." </a:t>
            </a:r>
            <a:r>
              <a:rPr lang="en-US" altLang="en-US" sz="2100" i="1" dirty="0">
                <a:solidFill>
                  <a:schemeClr val="tx1"/>
                </a:solidFill>
                <a:latin typeface="Arial" panose="020B0604020202020204" pitchFamily="34" charset="0"/>
                <a:sym typeface="+mn-ea"/>
              </a:rPr>
              <a:t>Third International Conference on Augmented Intelligence and Sustainable Systems (ICAISS)</a:t>
            </a:r>
            <a:r>
              <a:rPr lang="en-US" altLang="en-US" sz="2100" dirty="0">
                <a:solidFill>
                  <a:schemeClr val="tx1"/>
                </a:solidFill>
                <a:latin typeface="Arial" panose="020B0604020202020204" pitchFamily="34" charset="0"/>
                <a:sym typeface="+mn-ea"/>
              </a:rPr>
              <a:t>, 2025.</a:t>
            </a: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r>
              <a:rPr lang="en-US" altLang="en-US" sz="2100" b="1" dirty="0">
                <a:solidFill>
                  <a:schemeClr val="tx1"/>
                </a:solidFill>
                <a:latin typeface="Arial" panose="020B0604020202020204" pitchFamily="34" charset="0"/>
                <a:sym typeface="+mn-ea"/>
              </a:rPr>
              <a:t>Sharma, Rashika A., et al.</a:t>
            </a:r>
            <a:r>
              <a:rPr lang="en-US" altLang="en-US" sz="2100" dirty="0">
                <a:solidFill>
                  <a:schemeClr val="tx1"/>
                </a:solidFill>
                <a:latin typeface="Arial" panose="020B0604020202020204" pitchFamily="34" charset="0"/>
                <a:sym typeface="+mn-ea"/>
              </a:rPr>
              <a:t> "IoT Based Fuel Tank Monitoring System." </a:t>
            </a:r>
            <a:r>
              <a:rPr lang="en-US" altLang="en-US" sz="2100" i="1" dirty="0">
                <a:solidFill>
                  <a:schemeClr val="tx1"/>
                </a:solidFill>
                <a:latin typeface="Arial" panose="020B0604020202020204" pitchFamily="34" charset="0"/>
                <a:sym typeface="+mn-ea"/>
              </a:rPr>
              <a:t>International Research Journal of Modernization in Engineering Technology and Science</a:t>
            </a:r>
            <a:r>
              <a:rPr lang="en-US" altLang="en-US" sz="2100" dirty="0">
                <a:solidFill>
                  <a:schemeClr val="tx1"/>
                </a:solidFill>
                <a:latin typeface="Arial" panose="020B0604020202020204" pitchFamily="34" charset="0"/>
                <a:sym typeface="+mn-ea"/>
              </a:rPr>
              <a:t>, 2025.</a:t>
            </a: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endParaRPr lang="en-US" altLang="en-US" sz="2100" dirty="0">
              <a:solidFill>
                <a:schemeClr val="tx1"/>
              </a:solidFill>
              <a:latin typeface="Arial" panose="020B0604020202020204" pitchFamily="34" charset="0"/>
            </a:endParaRPr>
          </a:p>
          <a:p>
            <a:pPr marL="228600" indent="-228600">
              <a:spcBef>
                <a:spcPct val="0"/>
              </a:spcBef>
              <a:buFont typeface="+mj-lt"/>
              <a:buAutoNum type="arabicPeriod"/>
            </a:pPr>
            <a:r>
              <a:rPr lang="en-US" altLang="en-US" sz="2100" b="1" dirty="0">
                <a:solidFill>
                  <a:schemeClr val="tx1"/>
                </a:solidFill>
                <a:latin typeface="Arial" panose="020B0604020202020204" pitchFamily="34" charset="0"/>
                <a:sym typeface="+mn-ea"/>
              </a:rPr>
              <a:t>Deekshitha, R., et al.</a:t>
            </a:r>
            <a:r>
              <a:rPr lang="en-US" altLang="en-US" sz="2100" dirty="0">
                <a:solidFill>
                  <a:schemeClr val="tx1"/>
                </a:solidFill>
                <a:latin typeface="Arial" panose="020B0604020202020204" pitchFamily="34" charset="0"/>
                <a:sym typeface="+mn-ea"/>
              </a:rPr>
              <a:t> "Smart Fuel Level Monitoring and Alerting System Based on IoT." </a:t>
            </a:r>
            <a:r>
              <a:rPr lang="en-US" altLang="en-US" sz="2100" i="1" dirty="0">
                <a:solidFill>
                  <a:schemeClr val="tx1"/>
                </a:solidFill>
                <a:latin typeface="Arial" panose="020B0604020202020204" pitchFamily="34" charset="0"/>
                <a:sym typeface="+mn-ea"/>
              </a:rPr>
              <a:t>Futuristic Trends in IOT</a:t>
            </a:r>
            <a:r>
              <a:rPr lang="en-US" altLang="en-US" sz="2100" dirty="0">
                <a:solidFill>
                  <a:schemeClr val="tx1"/>
                </a:solidFill>
                <a:latin typeface="Arial" panose="020B0604020202020204" pitchFamily="34" charset="0"/>
                <a:sym typeface="+mn-ea"/>
              </a:rPr>
              <a:t>, 2024.</a:t>
            </a:r>
          </a:p>
        </p:txBody>
      </p:sp>
      <p:sp>
        <p:nvSpPr>
          <p:cNvPr id="4" name="Slide Number Placeholder 3"/>
          <p:cNvSpPr>
            <a:spLocks noGrp="1"/>
          </p:cNvSpPr>
          <p:nvPr>
            <p:ph type="sldNum" sz="quarter" idx="12"/>
          </p:nvPr>
        </p:nvSpPr>
        <p:spPr/>
        <p:txBody>
          <a:bodyPr/>
          <a:lstStyle/>
          <a:p>
            <a:fld id="{B6F15528-21DE-4FAA-801E-634DDDAF4B2B}" type="slidenum">
              <a:rPr lang="en-US" sz="1500" smtClean="0"/>
              <a:t>21</a:t>
            </a:fld>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38450" y="838201"/>
            <a:ext cx="6743700" cy="693230"/>
          </a:xfrm>
        </p:spPr>
        <p:txBody>
          <a:bodyPr/>
          <a:lstStyle/>
          <a:p>
            <a:pPr algn="ctr"/>
            <a:r>
              <a:rPr lang="en-US" b="1" dirty="0">
                <a:latin typeface="Bookman Old Style" panose="02050604050505020204" pitchFamily="18" charset="0"/>
              </a:rPr>
              <a:t>REFERENCES</a:t>
            </a:r>
            <a:endParaRPr lang="en-US" dirty="0">
              <a:latin typeface="Bookman Old Style" panose="02050604050505020204" pitchFamily="18" charset="0"/>
            </a:endParaRPr>
          </a:p>
        </p:txBody>
      </p:sp>
      <p:sp>
        <p:nvSpPr>
          <p:cNvPr id="3" name="Content Placeholder 2"/>
          <p:cNvSpPr>
            <a:spLocks noGrp="1"/>
          </p:cNvSpPr>
          <p:nvPr>
            <p:ph idx="1"/>
          </p:nvPr>
        </p:nvSpPr>
        <p:spPr>
          <a:xfrm>
            <a:off x="1107182" y="1752600"/>
            <a:ext cx="10332720" cy="4585335"/>
          </a:xfrm>
        </p:spPr>
        <p:txBody>
          <a:bodyPr>
            <a:normAutofit fontScale="95000" lnSpcReduction="10000"/>
          </a:bodyPr>
          <a:lstStyle/>
          <a:p>
            <a:pPr marL="386080" indent="-386080">
              <a:spcBef>
                <a:spcPct val="0"/>
              </a:spcBef>
              <a:buAutoNum type="arabicPeriod" startAt="6"/>
            </a:pPr>
            <a:r>
              <a:rPr lang="en-US" altLang="en-US" sz="2100" b="1" dirty="0">
                <a:solidFill>
                  <a:schemeClr val="tx1"/>
                </a:solidFill>
                <a:latin typeface="Arial" panose="020B0604020202020204" pitchFamily="34" charset="0"/>
                <a:sym typeface="+mn-ea"/>
              </a:rPr>
              <a:t>Madhavan, Adhithya, and Sheela A.</a:t>
            </a:r>
            <a:r>
              <a:rPr lang="en-US" altLang="en-US" sz="2100" dirty="0">
                <a:solidFill>
                  <a:schemeClr val="tx1"/>
                </a:solidFill>
                <a:latin typeface="Arial" panose="020B0604020202020204" pitchFamily="34" charset="0"/>
                <a:sym typeface="+mn-ea"/>
              </a:rPr>
              <a:t> </a:t>
            </a:r>
            <a:r>
              <a:rPr lang="en-US" altLang="en-US" sz="2100" dirty="0">
                <a:latin typeface="Arial" panose="020B0604020202020204" pitchFamily="34" charset="0"/>
                <a:sym typeface="+mn-ea"/>
              </a:rPr>
              <a:t>"Detecting Fuel Theft with Arduino." </a:t>
            </a:r>
            <a:r>
              <a:rPr lang="en-US" altLang="en-US" sz="2100" i="1" dirty="0">
                <a:latin typeface="Arial" panose="020B0604020202020204" pitchFamily="34" charset="0"/>
                <a:sym typeface="+mn-ea"/>
              </a:rPr>
              <a:t>Second International Conference on Emerging Trends in Information Technology and Engineering (ICETITE)</a:t>
            </a:r>
            <a:r>
              <a:rPr lang="en-US" altLang="en-US" sz="2100" dirty="0">
                <a:latin typeface="Arial" panose="020B0604020202020204" pitchFamily="34" charset="0"/>
                <a:sym typeface="+mn-ea"/>
              </a:rPr>
              <a:t>, 2024.</a:t>
            </a:r>
            <a:endParaRPr lang="en-US" altLang="en-US" sz="2100" dirty="0">
              <a:latin typeface="Arial" panose="020B0604020202020204" pitchFamily="34" charset="0"/>
            </a:endParaRPr>
          </a:p>
          <a:p>
            <a:pPr marL="386080" indent="-386080">
              <a:spcBef>
                <a:spcPct val="0"/>
              </a:spcBef>
              <a:buAutoNum type="arabicPeriod" startAt="6"/>
            </a:pPr>
            <a:endParaRPr lang="en-US" altLang="en-US" sz="2100" dirty="0">
              <a:latin typeface="Arial" panose="020B0604020202020204" pitchFamily="34" charset="0"/>
            </a:endParaRPr>
          </a:p>
          <a:p>
            <a:pPr marL="0" indent="0">
              <a:spcBef>
                <a:spcPct val="0"/>
              </a:spcBef>
              <a:buNone/>
            </a:pPr>
            <a:r>
              <a:rPr lang="en-US" altLang="en-US" sz="2100" b="1" dirty="0">
                <a:solidFill>
                  <a:srgbClr val="C00000"/>
                </a:solidFill>
                <a:latin typeface="Arial" panose="020B0604020202020204" pitchFamily="34" charset="0"/>
                <a:sym typeface="+mn-ea"/>
              </a:rPr>
              <a:t>7.</a:t>
            </a:r>
            <a:r>
              <a:rPr lang="en-US" altLang="en-US" sz="2100" b="1" dirty="0">
                <a:latin typeface="Arial" panose="020B0604020202020204" pitchFamily="34" charset="0"/>
                <a:sym typeface="+mn-ea"/>
              </a:rPr>
              <a:t>   </a:t>
            </a:r>
            <a:r>
              <a:rPr lang="en-US" altLang="en-US" sz="2100" b="1" dirty="0">
                <a:solidFill>
                  <a:schemeClr val="tx1"/>
                </a:solidFill>
                <a:latin typeface="Arial" panose="020B0604020202020204" pitchFamily="34" charset="0"/>
                <a:sym typeface="+mn-ea"/>
              </a:rPr>
              <a:t>Kurundkar, Sangeeta, et al.</a:t>
            </a:r>
            <a:r>
              <a:rPr lang="en-US" altLang="en-US" sz="2100" dirty="0">
                <a:latin typeface="Arial" panose="020B0604020202020204" pitchFamily="34" charset="0"/>
                <a:sym typeface="+mn-ea"/>
              </a:rPr>
              <a:t> "Vehicle Fuel Theft Detection System." </a:t>
            </a:r>
            <a:r>
              <a:rPr lang="en-US" altLang="en-US" sz="2100" i="1" dirty="0">
                <a:latin typeface="Arial" panose="020B0604020202020204" pitchFamily="34" charset="0"/>
                <a:sym typeface="+mn-ea"/>
              </a:rPr>
              <a:t>International Conference on Sustainable    Communication Networks and Application (ICSCNA)</a:t>
            </a:r>
            <a:r>
              <a:rPr lang="en-US" altLang="en-US" sz="2100" dirty="0">
                <a:latin typeface="Arial" panose="020B0604020202020204" pitchFamily="34" charset="0"/>
                <a:sym typeface="+mn-ea"/>
              </a:rPr>
              <a:t>, 2024</a:t>
            </a:r>
            <a:endParaRPr lang="en-US" altLang="en-US" sz="2100" dirty="0">
              <a:latin typeface="Arial" panose="020B0604020202020204" pitchFamily="34" charset="0"/>
            </a:endParaRPr>
          </a:p>
          <a:p>
            <a:pPr marL="0" indent="0">
              <a:spcBef>
                <a:spcPct val="0"/>
              </a:spcBef>
              <a:buNone/>
            </a:pPr>
            <a:endParaRPr lang="en-US" altLang="en-US" sz="2100" dirty="0">
              <a:latin typeface="Arial" panose="020B0604020202020204" pitchFamily="34" charset="0"/>
            </a:endParaRPr>
          </a:p>
          <a:p>
            <a:pPr marL="0" indent="0">
              <a:spcBef>
                <a:spcPct val="0"/>
              </a:spcBef>
              <a:buNone/>
            </a:pPr>
            <a:r>
              <a:rPr lang="en-US" altLang="en-US" sz="2100" b="1" dirty="0">
                <a:solidFill>
                  <a:srgbClr val="C00000"/>
                </a:solidFill>
                <a:latin typeface="Arial" panose="020B0604020202020204" pitchFamily="34" charset="0"/>
                <a:sym typeface="+mn-ea"/>
              </a:rPr>
              <a:t>8. </a:t>
            </a:r>
            <a:r>
              <a:rPr lang="en-US" altLang="en-US" sz="2100" b="1" dirty="0">
                <a:latin typeface="Arial" panose="020B0604020202020204" pitchFamily="34" charset="0"/>
                <a:sym typeface="+mn-ea"/>
              </a:rPr>
              <a:t> </a:t>
            </a:r>
            <a:r>
              <a:rPr lang="en-US" altLang="en-US" sz="2100" b="1" dirty="0">
                <a:solidFill>
                  <a:schemeClr val="tx1"/>
                </a:solidFill>
                <a:latin typeface="Arial" panose="020B0604020202020204" pitchFamily="34" charset="0"/>
                <a:sym typeface="+mn-ea"/>
              </a:rPr>
              <a:t> Mengstie, Berhanu Abnet, and Eden </a:t>
            </a:r>
            <a:r>
              <a:rPr lang="en-US" altLang="en-US" sz="2100" b="1" dirty="0" err="1">
                <a:solidFill>
                  <a:schemeClr val="tx1"/>
                </a:solidFill>
                <a:latin typeface="Arial" panose="020B0604020202020204" pitchFamily="34" charset="0"/>
                <a:sym typeface="+mn-ea"/>
              </a:rPr>
              <a:t>Aragaw</a:t>
            </a:r>
            <a:r>
              <a:rPr lang="en-US" altLang="en-US" sz="2100" b="1" dirty="0">
                <a:solidFill>
                  <a:schemeClr val="tx1"/>
                </a:solidFill>
                <a:latin typeface="Arial" panose="020B0604020202020204" pitchFamily="34" charset="0"/>
                <a:sym typeface="+mn-ea"/>
              </a:rPr>
              <a:t> Addisu.</a:t>
            </a:r>
            <a:r>
              <a:rPr lang="en-US" altLang="en-US" sz="2100" dirty="0">
                <a:latin typeface="Arial" panose="020B0604020202020204" pitchFamily="34" charset="0"/>
                <a:sym typeface="+mn-ea"/>
              </a:rPr>
              <a:t> "Evaluation of Fuel Theft Prevention System with Integrated Sensors." </a:t>
            </a:r>
            <a:r>
              <a:rPr lang="en-US" altLang="en-US" sz="2100" i="1" dirty="0">
                <a:latin typeface="Arial" panose="020B0604020202020204" pitchFamily="34" charset="0"/>
                <a:sym typeface="+mn-ea"/>
              </a:rPr>
              <a:t>SSRN</a:t>
            </a:r>
            <a:r>
              <a:rPr lang="en-US" altLang="en-US" sz="2100" dirty="0">
                <a:latin typeface="Arial" panose="020B0604020202020204" pitchFamily="34" charset="0"/>
                <a:sym typeface="+mn-ea"/>
              </a:rPr>
              <a:t>, 2024.</a:t>
            </a:r>
            <a:endParaRPr lang="en-US" altLang="en-US" sz="2100" dirty="0">
              <a:latin typeface="Arial" panose="020B0604020202020204" pitchFamily="34" charset="0"/>
            </a:endParaRPr>
          </a:p>
          <a:p>
            <a:pPr marL="0" indent="0">
              <a:spcBef>
                <a:spcPct val="0"/>
              </a:spcBef>
              <a:buNone/>
            </a:pPr>
            <a:endParaRPr lang="en-US" altLang="en-US" sz="2100" dirty="0">
              <a:latin typeface="Arial" panose="020B0604020202020204" pitchFamily="34" charset="0"/>
            </a:endParaRPr>
          </a:p>
          <a:p>
            <a:pPr marL="0" indent="0">
              <a:spcBef>
                <a:spcPct val="0"/>
              </a:spcBef>
              <a:buNone/>
            </a:pPr>
            <a:r>
              <a:rPr lang="en-US" altLang="en-US" sz="2100" b="1" dirty="0">
                <a:solidFill>
                  <a:srgbClr val="C00000"/>
                </a:solidFill>
                <a:latin typeface="Arial" panose="020B0604020202020204" pitchFamily="34" charset="0"/>
                <a:sym typeface="+mn-ea"/>
              </a:rPr>
              <a:t>9.</a:t>
            </a:r>
            <a:r>
              <a:rPr lang="en-US" altLang="en-US" sz="2100" b="1" dirty="0">
                <a:latin typeface="Arial" panose="020B0604020202020204" pitchFamily="34" charset="0"/>
                <a:sym typeface="+mn-ea"/>
              </a:rPr>
              <a:t>   </a:t>
            </a:r>
            <a:r>
              <a:rPr lang="en-US" altLang="en-US" sz="2100" b="1" dirty="0">
                <a:solidFill>
                  <a:schemeClr val="tx1"/>
                </a:solidFill>
                <a:latin typeface="Arial" panose="020B0604020202020204" pitchFamily="34" charset="0"/>
                <a:sym typeface="+mn-ea"/>
              </a:rPr>
              <a:t>Kumar, Vasanth, et al.</a:t>
            </a:r>
            <a:r>
              <a:rPr lang="en-US" altLang="en-US" sz="2100" dirty="0">
                <a:latin typeface="Arial" panose="020B0604020202020204" pitchFamily="34" charset="0"/>
                <a:sym typeface="+mn-ea"/>
              </a:rPr>
              <a:t> "Vehicle Fuel Theft Detection and Monitoring System." </a:t>
            </a:r>
            <a:r>
              <a:rPr lang="en-US" altLang="en-US" sz="2100" i="1" dirty="0">
                <a:latin typeface="Arial" panose="020B0604020202020204" pitchFamily="34" charset="0"/>
                <a:sym typeface="+mn-ea"/>
              </a:rPr>
              <a:t>Journal of Emerging Technologies and Innovative Research</a:t>
            </a:r>
            <a:r>
              <a:rPr lang="en-US" altLang="en-US" sz="2100" dirty="0">
                <a:latin typeface="Arial" panose="020B0604020202020204" pitchFamily="34" charset="0"/>
                <a:sym typeface="+mn-ea"/>
              </a:rPr>
              <a:t>, 2024.</a:t>
            </a:r>
            <a:endParaRPr lang="en-US" altLang="en-US" sz="2100" dirty="0">
              <a:latin typeface="Arial" panose="020B0604020202020204" pitchFamily="34" charset="0"/>
            </a:endParaRPr>
          </a:p>
          <a:p>
            <a:pPr marL="557530" indent="-557530">
              <a:spcBef>
                <a:spcPct val="0"/>
              </a:spcBef>
              <a:buFont typeface="+mj-lt"/>
              <a:buAutoNum type="arabicPeriod"/>
            </a:pPr>
            <a:endParaRPr lang="en-US" altLang="en-US" sz="2100" dirty="0">
              <a:latin typeface="Arial" panose="020B0604020202020204" pitchFamily="34" charset="0"/>
            </a:endParaRPr>
          </a:p>
          <a:p>
            <a:pPr marL="0" indent="0">
              <a:spcBef>
                <a:spcPct val="0"/>
              </a:spcBef>
              <a:buNone/>
            </a:pPr>
            <a:r>
              <a:rPr lang="en-US" altLang="en-US" sz="2100" b="1" dirty="0">
                <a:solidFill>
                  <a:srgbClr val="C00000"/>
                </a:solidFill>
                <a:latin typeface="Arial" panose="020B0604020202020204" pitchFamily="34" charset="0"/>
                <a:sym typeface="+mn-ea"/>
              </a:rPr>
              <a:t>10. </a:t>
            </a:r>
            <a:r>
              <a:rPr lang="en-US" altLang="en-US" sz="2100" b="1" dirty="0">
                <a:latin typeface="Arial" panose="020B0604020202020204" pitchFamily="34" charset="0"/>
                <a:sym typeface="+mn-ea"/>
              </a:rPr>
              <a:t> </a:t>
            </a:r>
            <a:r>
              <a:rPr lang="en-US" altLang="en-US" sz="2100" b="1" dirty="0">
                <a:solidFill>
                  <a:schemeClr val="tx1"/>
                </a:solidFill>
                <a:latin typeface="Arial" panose="020B0604020202020204" pitchFamily="34" charset="0"/>
                <a:sym typeface="+mn-ea"/>
              </a:rPr>
              <a:t>Deepika and Sneha H. R.</a:t>
            </a:r>
            <a:r>
              <a:rPr lang="en-US" altLang="en-US" sz="2100" dirty="0">
                <a:solidFill>
                  <a:schemeClr val="tx1"/>
                </a:solidFill>
                <a:latin typeface="Arial" panose="020B0604020202020204" pitchFamily="34" charset="0"/>
                <a:sym typeface="+mn-ea"/>
              </a:rPr>
              <a:t> </a:t>
            </a:r>
            <a:r>
              <a:rPr lang="en-US" altLang="en-US" sz="2100" dirty="0">
                <a:latin typeface="Arial" panose="020B0604020202020204" pitchFamily="34" charset="0"/>
                <a:sym typeface="+mn-ea"/>
              </a:rPr>
              <a:t>"Smart Fuel Theft Detection and Monitoring System Using IoT with GPS and GSM Integration." </a:t>
            </a:r>
            <a:r>
              <a:rPr lang="en-US" altLang="en-US" sz="2100" i="1" dirty="0">
                <a:latin typeface="Arial" panose="020B0604020202020204" pitchFamily="34" charset="0"/>
                <a:sym typeface="+mn-ea"/>
              </a:rPr>
              <a:t>Journal of Emerging Technologies and Innovative Research (JETIR)</a:t>
            </a:r>
            <a:r>
              <a:rPr lang="en-US" altLang="en-US" sz="2100" dirty="0">
                <a:latin typeface="Arial" panose="020B0604020202020204" pitchFamily="34" charset="0"/>
                <a:sym typeface="+mn-ea"/>
              </a:rPr>
              <a:t>, 2025.</a:t>
            </a:r>
            <a:endParaRPr lang="en-US" altLang="en-US" sz="2100" dirty="0">
              <a:latin typeface="Arial" panose="020B0604020202020204" pitchFamily="34" charset="0"/>
            </a:endParaRPr>
          </a:p>
          <a:p>
            <a:pPr marL="557530" indent="-557530" algn="ctr" eaLnBrk="1" hangingPunct="1">
              <a:lnSpc>
                <a:spcPts val="2000"/>
              </a:lnSpc>
              <a:spcBef>
                <a:spcPct val="0"/>
              </a:spcBef>
              <a:buFont typeface="+mj-lt"/>
              <a:buAutoNum type="arabicPeriod"/>
            </a:pPr>
            <a:endParaRPr lang="en-US" altLang="en-US" sz="2100" dirty="0">
              <a:solidFill>
                <a:schemeClr val="tx1"/>
              </a:solidFill>
              <a:latin typeface="Arial" panose="020B0604020202020204" pitchFamily="34" charset="0"/>
              <a:sym typeface="+mn-ea"/>
            </a:endParaRPr>
          </a:p>
        </p:txBody>
      </p:sp>
      <p:sp>
        <p:nvSpPr>
          <p:cNvPr id="4" name="Slide Number Placeholder 3"/>
          <p:cNvSpPr>
            <a:spLocks noGrp="1"/>
          </p:cNvSpPr>
          <p:nvPr>
            <p:ph type="sldNum" sz="quarter" idx="12"/>
          </p:nvPr>
        </p:nvSpPr>
        <p:spPr/>
        <p:txBody>
          <a:bodyPr/>
          <a:lstStyle/>
          <a:p>
            <a:fld id="{B6F15528-21DE-4FAA-801E-634DDDAF4B2B}" type="slidenum">
              <a:rPr lang="en-US" sz="1500" smtClean="0"/>
              <a:t>22</a:t>
            </a:fld>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z="1500" smtClean="0"/>
              <a:t>23</a:t>
            </a:fld>
            <a:endParaRPr lang="en-US" sz="1500" dirty="0"/>
          </a:p>
        </p:txBody>
      </p:sp>
      <p:sp>
        <p:nvSpPr>
          <p:cNvPr id="5" name="TextBox 4"/>
          <p:cNvSpPr txBox="1"/>
          <p:nvPr/>
        </p:nvSpPr>
        <p:spPr>
          <a:xfrm>
            <a:off x="2060575" y="3143250"/>
            <a:ext cx="7740650" cy="1014730"/>
          </a:xfrm>
          <a:prstGeom prst="rect">
            <a:avLst/>
          </a:prstGeom>
          <a:noFill/>
        </p:spPr>
        <p:txBody>
          <a:bodyPr wrap="square" rtlCol="0">
            <a:spAutoFit/>
          </a:bodyPr>
          <a:lstStyle/>
          <a:p>
            <a:pPr algn="ctr"/>
            <a:r>
              <a:rPr lang="en-US" sz="6000" b="1" dirty="0">
                <a:latin typeface="Bookman Old Style" panose="02050604050505020204" pitchFamily="18" charset="0"/>
              </a:rPr>
              <a:t>THANK 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840*425"/>
  <p:tag name="TABLE_ENDDRAG_RECT" val="81*107*840*426"/>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55*420"/>
  <p:tag name="TABLE_ENDDRAG_RECT" val="73*108*855*420"/>
</p:tagLst>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14</TotalTime>
  <Words>2672</Words>
  <Application>Microsoft Office PowerPoint</Application>
  <PresentationFormat>Widescreen</PresentationFormat>
  <Paragraphs>232</Paragraphs>
  <Slides>23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Alegreya Sans SC Bold</vt:lpstr>
      <vt:lpstr>Arial</vt:lpstr>
      <vt:lpstr>Bookman Old Style</vt:lpstr>
      <vt:lpstr>Calibri</vt:lpstr>
      <vt:lpstr>Century Gothic</vt:lpstr>
      <vt:lpstr>Franklin Gothic Book (Body)</vt:lpstr>
      <vt:lpstr>Söhne</vt:lpstr>
      <vt:lpstr>Times New Roman</vt:lpstr>
      <vt:lpstr>Wingdings</vt:lpstr>
      <vt:lpstr>Wingdings 3</vt:lpstr>
      <vt:lpstr>Wisp</vt:lpstr>
      <vt:lpstr>PowerPoint Presentation</vt:lpstr>
      <vt:lpstr>PowerPoint Presentation</vt:lpstr>
      <vt:lpstr> CONTENT</vt:lpstr>
      <vt:lpstr>ABSTRACT </vt:lpstr>
      <vt:lpstr>OBJECTIVE</vt:lpstr>
      <vt:lpstr>LITERATURE REVIEW </vt:lpstr>
      <vt:lpstr>LITERATURE REVIEW </vt:lpstr>
      <vt:lpstr>SUMMARY OF LITERATURE REVIEW </vt:lpstr>
      <vt:lpstr>EXISTING SYSTEM </vt:lpstr>
      <vt:lpstr>PROPOSED SYSTEM </vt:lpstr>
      <vt:lpstr>PROPOSED  SYSTEM ARCHITECTURE </vt:lpstr>
      <vt:lpstr>TOOLS FOR IMPLEMENTATION </vt:lpstr>
      <vt:lpstr>MODULES</vt:lpstr>
      <vt:lpstr>MODULES</vt:lpstr>
      <vt:lpstr>MODULES</vt:lpstr>
      <vt:lpstr>MODULES</vt:lpstr>
      <vt:lpstr>MODULES</vt:lpstr>
      <vt:lpstr>OUTPUT/RESULTS</vt:lpstr>
      <vt:lpstr>PowerPoint Presentation</vt:lpstr>
      <vt:lpstr>PowerPoint Presentation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8097</dc:title>
  <dc:creator>ELCOT</dc:creator>
  <cp:lastModifiedBy>abdul rahman</cp:lastModifiedBy>
  <cp:revision>104</cp:revision>
  <dcterms:created xsi:type="dcterms:W3CDTF">2006-08-16T00:00:00Z</dcterms:created>
  <dcterms:modified xsi:type="dcterms:W3CDTF">2025-12-08T17:05:16Z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0702E8E964C54237ACDD7B08D4777FE5_13</vt:lpwstr>
  </property>
  <property fmtid="{D5CDD505-2E9C-101B-9397-08002B2CF9AE}" pid="3" name="KSOProductBuildVer">
    <vt:lpwstr>1033-12.2.0.23155</vt:lpwstr>
  </property>
</Properties>
</file>