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2" r:id="rId1"/>
  </p:sldMasterIdLst>
  <p:sldIdLst>
    <p:sldId id="256" r:id="rId2"/>
    <p:sldId id="267" r:id="rId3"/>
    <p:sldId id="257" r:id="rId4"/>
    <p:sldId id="258" r:id="rId5"/>
    <p:sldId id="268" r:id="rId6"/>
    <p:sldId id="269" r:id="rId7"/>
    <p:sldId id="270" r:id="rId8"/>
    <p:sldId id="271" r:id="rId9"/>
    <p:sldId id="272" r:id="rId10"/>
    <p:sldId id="273" r:id="rId11"/>
    <p:sldId id="274" r:id="rId12"/>
    <p:sldId id="275" r:id="rId13"/>
    <p:sldId id="277" r:id="rId14"/>
    <p:sldId id="278" r:id="rId15"/>
    <p:sldId id="266" r:id="rId16"/>
  </p:sldIdLst>
  <p:sldSz cx="18288000" cy="10287000"/>
  <p:notesSz cx="6858000" cy="9144000"/>
  <p:embeddedFontLst>
    <p:embeddedFont>
      <p:font typeface="Alegreya Sans SC" panose="020B0604020202020204" charset="0"/>
      <p:regular r:id="rId17"/>
    </p:embeddedFont>
    <p:embeddedFont>
      <p:font typeface="Alegreya Sans SC Bold" panose="020B0604020202020204" charset="0"/>
      <p:bold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22"/>
  </p:normalViewPr>
  <p:slideViewPr>
    <p:cSldViewPr showGuides="1">
      <p:cViewPr varScale="1">
        <p:scale>
          <a:sx n="50" d="100"/>
          <a:sy n="50" d="100"/>
        </p:scale>
        <p:origin x="874" y="43"/>
      </p:cViewPr>
      <p:guideLst>
        <p:guide orient="horz" pos="2160"/>
        <p:guide pos="2871"/>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defTabSz="685800">
              <a:defRPr/>
            </a:pPr>
            <a:fld id="{85DB0894-D5E8-4277-AB26-B54D11203A66}" type="datetimeFigureOut">
              <a:rPr lang="en-US" smtClean="0"/>
              <a:pPr defTabSz="685800">
                <a:defRPr/>
              </a:pPr>
              <a:t>12/8/2025</a:t>
            </a:fld>
            <a:endParaRPr lang="en-US"/>
          </a:p>
        </p:txBody>
      </p:sp>
      <p:sp>
        <p:nvSpPr>
          <p:cNvPr id="5" name="Footer Placeholder 4"/>
          <p:cNvSpPr>
            <a:spLocks noGrp="1"/>
          </p:cNvSpPr>
          <p:nvPr>
            <p:ph type="ftr" sz="quarter" idx="11"/>
          </p:nvPr>
        </p:nvSpPr>
        <p:spPr/>
        <p:txBody>
          <a:bodyPr/>
          <a:lstStyle/>
          <a:p>
            <a:pPr defTabSz="685800">
              <a:defRPr/>
            </a:pPr>
            <a:endParaRPr lang="en-US"/>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1520776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defTabSz="685800">
              <a:defRPr/>
            </a:pPr>
            <a:fld id="{85DB0894-D5E8-4277-AB26-B54D11203A66}" type="datetimeFigureOut">
              <a:rPr lang="en-US" smtClean="0"/>
              <a:pPr defTabSz="685800">
                <a:defRPr/>
              </a:pPr>
              <a:t>12/8/2025</a:t>
            </a:fld>
            <a:endParaRPr lang="en-US"/>
          </a:p>
        </p:txBody>
      </p:sp>
      <p:sp>
        <p:nvSpPr>
          <p:cNvPr id="5" name="Footer Placeholder 4"/>
          <p:cNvSpPr>
            <a:spLocks noGrp="1"/>
          </p:cNvSpPr>
          <p:nvPr>
            <p:ph type="ftr" sz="quarter" idx="11"/>
          </p:nvPr>
        </p:nvSpPr>
        <p:spPr/>
        <p:txBody>
          <a:bodyPr/>
          <a:lstStyle/>
          <a:p>
            <a:pPr defTabSz="685800">
              <a:defRPr/>
            </a:pPr>
            <a:endParaRPr lang="en-US"/>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1072126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685800">
              <a:defRPr/>
            </a:pPr>
            <a:fld id="{85DB0894-D5E8-4277-AB26-B54D11203A66}" type="datetimeFigureOut">
              <a:rPr lang="en-US" smtClean="0"/>
              <a:pPr defTabSz="685800">
                <a:defRPr/>
              </a:pPr>
              <a:t>12/8/2025</a:t>
            </a:fld>
            <a:endParaRPr lang="en-US"/>
          </a:p>
        </p:txBody>
      </p:sp>
      <p:sp>
        <p:nvSpPr>
          <p:cNvPr id="5" name="Footer Placeholder 4"/>
          <p:cNvSpPr>
            <a:spLocks noGrp="1"/>
          </p:cNvSpPr>
          <p:nvPr>
            <p:ph type="ftr" sz="quarter" idx="11"/>
          </p:nvPr>
        </p:nvSpPr>
        <p:spPr/>
        <p:txBody>
          <a:bodyPr/>
          <a:lstStyle/>
          <a:p>
            <a:pPr defTabSz="685800">
              <a:defRPr/>
            </a:pPr>
            <a:endParaRPr lang="en-US"/>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4160781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defTabSz="685800">
              <a:defRPr/>
            </a:pPr>
            <a:fld id="{85DB0894-D5E8-4277-AB26-B54D11203A66}" type="datetimeFigureOut">
              <a:rPr lang="en-US" smtClean="0"/>
              <a:pPr defTabSz="685800">
                <a:defRPr/>
              </a:pPr>
              <a:t>12/8/2025</a:t>
            </a:fld>
            <a:endParaRPr lang="en-US"/>
          </a:p>
        </p:txBody>
      </p:sp>
      <p:sp>
        <p:nvSpPr>
          <p:cNvPr id="6" name="Footer Placeholder 5"/>
          <p:cNvSpPr>
            <a:spLocks noGrp="1"/>
          </p:cNvSpPr>
          <p:nvPr>
            <p:ph type="ftr" sz="quarter" idx="11"/>
          </p:nvPr>
        </p:nvSpPr>
        <p:spPr/>
        <p:txBody>
          <a:bodyPr/>
          <a:lstStyle/>
          <a:p>
            <a:pPr defTabSz="685800">
              <a:defRPr/>
            </a:pPr>
            <a:endParaRPr lang="en-US"/>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3152177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defTabSz="685800">
              <a:defRPr/>
            </a:pPr>
            <a:fld id="{85DB0894-D5E8-4277-AB26-B54D11203A66}" type="datetimeFigureOut">
              <a:rPr lang="en-US" smtClean="0"/>
              <a:pPr defTabSz="685800">
                <a:defRPr/>
              </a:pPr>
              <a:t>12/8/2025</a:t>
            </a:fld>
            <a:endParaRPr lang="en-US"/>
          </a:p>
        </p:txBody>
      </p:sp>
      <p:sp>
        <p:nvSpPr>
          <p:cNvPr id="8" name="Footer Placeholder 7"/>
          <p:cNvSpPr>
            <a:spLocks noGrp="1"/>
          </p:cNvSpPr>
          <p:nvPr>
            <p:ph type="ftr" sz="quarter" idx="11"/>
          </p:nvPr>
        </p:nvSpPr>
        <p:spPr/>
        <p:txBody>
          <a:bodyPr/>
          <a:lstStyle/>
          <a:p>
            <a:pPr defTabSz="685800">
              <a:defRPr/>
            </a:pPr>
            <a:endParaRPr lang="en-US"/>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2076588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defTabSz="685800">
              <a:defRPr/>
            </a:pPr>
            <a:fld id="{85DB0894-D5E8-4277-AB26-B54D11203A66}" type="datetimeFigureOut">
              <a:rPr lang="en-US" smtClean="0"/>
              <a:pPr defTabSz="685800">
                <a:defRPr/>
              </a:pPr>
              <a:t>12/8/2025</a:t>
            </a:fld>
            <a:endParaRPr lang="en-US"/>
          </a:p>
        </p:txBody>
      </p:sp>
      <p:sp>
        <p:nvSpPr>
          <p:cNvPr id="4" name="Footer Placeholder 3"/>
          <p:cNvSpPr>
            <a:spLocks noGrp="1"/>
          </p:cNvSpPr>
          <p:nvPr>
            <p:ph type="ftr" sz="quarter" idx="11"/>
          </p:nvPr>
        </p:nvSpPr>
        <p:spPr/>
        <p:txBody>
          <a:bodyPr/>
          <a:lstStyle/>
          <a:p>
            <a:pPr defTabSz="685800">
              <a:defRPr/>
            </a:pPr>
            <a:endParaRPr lang="en-US"/>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4115279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85800">
              <a:defRPr/>
            </a:pPr>
            <a:fld id="{85DB0894-D5E8-4277-AB26-B54D11203A66}" type="datetimeFigureOut">
              <a:rPr lang="en-US" smtClean="0"/>
              <a:pPr defTabSz="685800">
                <a:defRPr/>
              </a:pPr>
              <a:t>12/8/2025</a:t>
            </a:fld>
            <a:endParaRPr lang="en-US"/>
          </a:p>
        </p:txBody>
      </p:sp>
      <p:sp>
        <p:nvSpPr>
          <p:cNvPr id="3" name="Footer Placeholder 2"/>
          <p:cNvSpPr>
            <a:spLocks noGrp="1"/>
          </p:cNvSpPr>
          <p:nvPr>
            <p:ph type="ftr" sz="quarter" idx="11"/>
          </p:nvPr>
        </p:nvSpPr>
        <p:spPr/>
        <p:txBody>
          <a:bodyPr/>
          <a:lstStyle/>
          <a:p>
            <a:pPr defTabSz="685800">
              <a:defRPr/>
            </a:pPr>
            <a:endParaRPr lang="en-US"/>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2440973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pPr defTabSz="685800">
              <a:defRPr/>
            </a:pPr>
            <a:fld id="{85DB0894-D5E8-4277-AB26-B54D11203A66}" type="datetimeFigureOut">
              <a:rPr lang="en-US" smtClean="0"/>
              <a:pPr defTabSz="685800">
                <a:defRPr/>
              </a:pPr>
              <a:t>12/8/2025</a:t>
            </a:fld>
            <a:endParaRPr lang="en-US"/>
          </a:p>
        </p:txBody>
      </p:sp>
      <p:sp>
        <p:nvSpPr>
          <p:cNvPr id="6" name="Footer Placeholder 5"/>
          <p:cNvSpPr>
            <a:spLocks noGrp="1"/>
          </p:cNvSpPr>
          <p:nvPr>
            <p:ph type="ftr" sz="quarter" idx="11"/>
          </p:nvPr>
        </p:nvSpPr>
        <p:spPr/>
        <p:txBody>
          <a:bodyPr/>
          <a:lstStyle/>
          <a:p>
            <a:pPr defTabSz="685800">
              <a:defRPr/>
            </a:pPr>
            <a:endParaRPr lang="en-US"/>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1112919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pPr defTabSz="685800">
              <a:defRPr/>
            </a:pPr>
            <a:fld id="{85DB0894-D5E8-4277-AB26-B54D11203A66}" type="datetimeFigureOut">
              <a:rPr lang="en-US" smtClean="0"/>
              <a:pPr defTabSz="685800">
                <a:defRPr/>
              </a:pPr>
              <a:t>12/8/2025</a:t>
            </a:fld>
            <a:endParaRPr lang="en-US"/>
          </a:p>
        </p:txBody>
      </p:sp>
      <p:sp>
        <p:nvSpPr>
          <p:cNvPr id="6" name="Footer Placeholder 5"/>
          <p:cNvSpPr>
            <a:spLocks noGrp="1"/>
          </p:cNvSpPr>
          <p:nvPr>
            <p:ph type="ftr" sz="quarter" idx="11"/>
          </p:nvPr>
        </p:nvSpPr>
        <p:spPr/>
        <p:txBody>
          <a:bodyPr/>
          <a:lstStyle/>
          <a:p>
            <a:pPr defTabSz="685800">
              <a:defRPr/>
            </a:pPr>
            <a:endParaRPr lang="en-US"/>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1155837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defTabSz="685800">
              <a:defRPr/>
            </a:pPr>
            <a:fld id="{85DB0894-D5E8-4277-AB26-B54D11203A66}" type="datetimeFigureOut">
              <a:rPr lang="en-US" smtClean="0"/>
              <a:pPr defTabSz="685800">
                <a:defRPr/>
              </a:pPr>
              <a:t>12/8/2025</a:t>
            </a:fld>
            <a:endParaRPr lang="en-US"/>
          </a:p>
        </p:txBody>
      </p:sp>
      <p:sp>
        <p:nvSpPr>
          <p:cNvPr id="5" name="Footer Placeholder 4"/>
          <p:cNvSpPr>
            <a:spLocks noGrp="1"/>
          </p:cNvSpPr>
          <p:nvPr>
            <p:ph type="ftr" sz="quarter" idx="11"/>
          </p:nvPr>
        </p:nvSpPr>
        <p:spPr/>
        <p:txBody>
          <a:bodyPr/>
          <a:lstStyle/>
          <a:p>
            <a:pPr defTabSz="685800">
              <a:defRPr/>
            </a:pPr>
            <a:endParaRPr lang="en-US"/>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2314677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defTabSz="685800">
              <a:defRPr/>
            </a:pPr>
            <a:fld id="{85DB0894-D5E8-4277-AB26-B54D11203A66}" type="datetimeFigureOut">
              <a:rPr lang="en-US" smtClean="0"/>
              <a:pPr defTabSz="685800">
                <a:defRPr/>
              </a:pPr>
              <a:t>12/8/2025</a:t>
            </a:fld>
            <a:endParaRPr lang="en-US"/>
          </a:p>
        </p:txBody>
      </p:sp>
      <p:sp>
        <p:nvSpPr>
          <p:cNvPr id="5" name="Footer Placeholder 4"/>
          <p:cNvSpPr>
            <a:spLocks noGrp="1"/>
          </p:cNvSpPr>
          <p:nvPr>
            <p:ph type="ftr" sz="quarter" idx="11"/>
          </p:nvPr>
        </p:nvSpPr>
        <p:spPr/>
        <p:txBody>
          <a:bodyPr/>
          <a:lstStyle/>
          <a:p>
            <a:pPr defTabSz="685800">
              <a:defRPr/>
            </a:pPr>
            <a:endParaRPr lang="en-US"/>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59829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pPr defTabSz="685800">
              <a:defRPr/>
            </a:pPr>
            <a:fld id="{85DB0894-D5E8-4277-AB26-B54D11203A66}" type="datetimeFigureOut">
              <a:rPr lang="en-US" smtClean="0"/>
              <a:pPr defTabSz="685800">
                <a:defRPr/>
              </a:pPr>
              <a:t>12/8/2025</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pPr defTabSz="685800">
              <a:defRPr/>
            </a:pPr>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pPr lvl="0" eaLnBrk="1" hangingPunct="1">
              <a:buNone/>
            </a:pPr>
            <a:fld id="{9A0DB2DC-4C9A-4742-B13C-FB6460FD3503}"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12058075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Freeform 2"/>
          <p:cNvSpPr/>
          <p:nvPr/>
        </p:nvSpPr>
        <p:spPr>
          <a:xfrm rot="-5400000">
            <a:off x="4000500" y="-4000500"/>
            <a:ext cx="10287000" cy="18288000"/>
          </a:xfrm>
          <a:custGeom>
            <a:avLst/>
            <a:gdLst/>
            <a:ahLst/>
            <a:cxnLst>
              <a:cxn ang="0">
                <a:pos x="0" y="0"/>
              </a:cxn>
              <a:cxn ang="0">
                <a:pos x="10287000" y="0"/>
              </a:cxn>
              <a:cxn ang="0">
                <a:pos x="10287000" y="18288000"/>
              </a:cxn>
              <a:cxn ang="0">
                <a:pos x="0" y="18288000"/>
              </a:cxn>
              <a:cxn ang="0">
                <a:pos x="0" y="0"/>
              </a:cxn>
            </a:cxnLst>
            <a:rect l="0" t="0" r="0" b="0"/>
            <a:pathLst>
              <a:path w="10287000" h="18288000">
                <a:moveTo>
                  <a:pt x="0" y="0"/>
                </a:moveTo>
                <a:lnTo>
                  <a:pt x="10287000" y="0"/>
                </a:lnTo>
                <a:lnTo>
                  <a:pt x="10287000" y="18288000"/>
                </a:lnTo>
                <a:lnTo>
                  <a:pt x="0" y="18288000"/>
                </a:lnTo>
                <a:lnTo>
                  <a:pt x="0" y="0"/>
                </a:lnTo>
                <a:close/>
              </a:path>
            </a:pathLst>
          </a:custGeom>
          <a:blipFill rotWithShape="1">
            <a:blip r:embed="rId2"/>
            <a:stretch>
              <a:fillRect/>
            </a:stretch>
          </a:blipFill>
          <a:ln w="9525">
            <a:noFill/>
          </a:ln>
        </p:spPr>
        <p:txBody>
          <a:bodyPr/>
          <a:lstStyle/>
          <a:p>
            <a:endParaRPr lang="en-US"/>
          </a:p>
        </p:txBody>
      </p:sp>
      <p:sp>
        <p:nvSpPr>
          <p:cNvPr id="2051" name="Freeform 3"/>
          <p:cNvSpPr/>
          <p:nvPr/>
        </p:nvSpPr>
        <p:spPr>
          <a:xfrm flipV="1">
            <a:off x="2380458" y="1288650"/>
            <a:ext cx="2359026" cy="2359027"/>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2052" name="Freeform 4"/>
          <p:cNvSpPr/>
          <p:nvPr/>
        </p:nvSpPr>
        <p:spPr>
          <a:xfrm flipH="1">
            <a:off x="13605666" y="6515497"/>
            <a:ext cx="2359026" cy="2359027"/>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2053" name="Freeform 5"/>
          <p:cNvSpPr/>
          <p:nvPr/>
        </p:nvSpPr>
        <p:spPr>
          <a:xfrm>
            <a:off x="13386198" y="1069181"/>
            <a:ext cx="4114800" cy="4114800"/>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2054" name="TextBox 6"/>
          <p:cNvSpPr txBox="1"/>
          <p:nvPr/>
        </p:nvSpPr>
        <p:spPr>
          <a:xfrm>
            <a:off x="2057996" y="2822635"/>
            <a:ext cx="13911263" cy="705563"/>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spcBef>
                <a:spcPct val="0"/>
              </a:spcBef>
              <a:buNone/>
            </a:pPr>
            <a:r>
              <a:rPr lang="en-IN" altLang="en-US" sz="4500" b="1" dirty="0"/>
              <a:t>Department of Computer Science &amp; Engineering</a:t>
            </a:r>
            <a:endParaRPr lang="en-US" altLang="en-US" sz="4500" b="1" dirty="0">
              <a:solidFill>
                <a:srgbClr val="000000"/>
              </a:solidFill>
              <a:latin typeface="Times New Roman" panose="02020603050405020304" pitchFamily="18" charset="0"/>
              <a:ea typeface="Alegreya Sans SC" panose="00000500000000000000" charset="0"/>
              <a:sym typeface="Alegreya Sans SC" panose="00000500000000000000" charset="0"/>
            </a:endParaRPr>
          </a:p>
        </p:txBody>
      </p:sp>
      <p:sp>
        <p:nvSpPr>
          <p:cNvPr id="2055" name="TextBox 7"/>
          <p:cNvSpPr txBox="1"/>
          <p:nvPr/>
        </p:nvSpPr>
        <p:spPr>
          <a:xfrm>
            <a:off x="2187574" y="4809822"/>
            <a:ext cx="13912851" cy="1128902"/>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spcBef>
                <a:spcPct val="0"/>
              </a:spcBef>
              <a:buNone/>
            </a:pPr>
            <a:r>
              <a:rPr lang="en-US" altLang="en-US" sz="3600" b="1" dirty="0">
                <a:solidFill>
                  <a:srgbClr val="000000"/>
                </a:solidFill>
                <a:latin typeface="Times New Roman" panose="02020603050405020304" pitchFamily="18" charset="0"/>
                <a:cs typeface="Alegreya Sans SC Bold" panose="00000800000000000000" charset="0"/>
                <a:sym typeface="Alegreya Sans SC Bold" panose="00000800000000000000" charset="0"/>
              </a:rPr>
              <a:t>CS3811 Project Work</a:t>
            </a:r>
          </a:p>
          <a:p>
            <a:pPr marL="0" indent="0" algn="ctr" eaLnBrk="1" hangingPunct="1">
              <a:spcBef>
                <a:spcPct val="0"/>
              </a:spcBef>
              <a:buNone/>
            </a:pPr>
            <a:r>
              <a:rPr lang="en-IN" altLang="en-US" sz="3600" dirty="0">
                <a:cs typeface="Alegreya Sans SC Bold" panose="00000800000000000000" charset="0"/>
              </a:rPr>
              <a:t>Academic Year: 2025-26</a:t>
            </a:r>
            <a:endParaRPr lang="en-US" altLang="en-US" sz="3600" b="1" dirty="0">
              <a:solidFill>
                <a:srgbClr val="000000"/>
              </a:solidFill>
              <a:latin typeface="Times New Roman" panose="02020603050405020304" pitchFamily="18" charset="0"/>
              <a:ea typeface="Alegreya Sans SC Bold" panose="00000800000000000000" charset="0"/>
              <a:sym typeface="Alegreya Sans SC Bold" panose="00000800000000000000" charset="0"/>
            </a:endParaRPr>
          </a:p>
        </p:txBody>
      </p:sp>
      <p:sp>
        <p:nvSpPr>
          <p:cNvPr id="2056" name="Freeform 8"/>
          <p:cNvSpPr/>
          <p:nvPr/>
        </p:nvSpPr>
        <p:spPr>
          <a:xfrm>
            <a:off x="1992115" y="6473627"/>
            <a:ext cx="2693989" cy="2693989"/>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pic>
        <p:nvPicPr>
          <p:cNvPr id="2057" name="Picture 11"/>
          <p:cNvPicPr>
            <a:picLocks noChangeAspect="1"/>
          </p:cNvPicPr>
          <p:nvPr/>
        </p:nvPicPr>
        <p:blipFill>
          <a:blip r:embed="rId5"/>
          <a:stretch>
            <a:fillRect/>
          </a:stretch>
        </p:blipFill>
        <p:spPr>
          <a:xfrm>
            <a:off x="1695779" y="1173236"/>
            <a:ext cx="14861606" cy="1759627"/>
          </a:xfrm>
          <a:prstGeom prst="rect">
            <a:avLst/>
          </a:prstGeom>
          <a:noFill/>
          <a:ln w="9525">
            <a:noFill/>
          </a:ln>
        </p:spPr>
      </p:pic>
      <p:sp>
        <p:nvSpPr>
          <p:cNvPr id="2058" name="TextBox 7"/>
          <p:cNvSpPr txBox="1"/>
          <p:nvPr/>
        </p:nvSpPr>
        <p:spPr>
          <a:xfrm>
            <a:off x="2292349" y="6560788"/>
            <a:ext cx="13912851" cy="564451"/>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spcBef>
                <a:spcPct val="0"/>
              </a:spcBef>
              <a:buNone/>
            </a:pPr>
            <a:r>
              <a:rPr lang="en-US" altLang="en-US" sz="3600" b="1" dirty="0">
                <a:solidFill>
                  <a:srgbClr val="000000"/>
                </a:solidFill>
                <a:latin typeface="Times New Roman" panose="02020603050405020304" pitchFamily="18" charset="0"/>
                <a:cs typeface="Alegreya Sans SC Bold" panose="00000800000000000000" charset="0"/>
                <a:sym typeface="Alegreya Sans SC Bold" panose="00000800000000000000" charset="0"/>
              </a:rPr>
              <a:t>Zeroth Review -09-09-2025</a:t>
            </a:r>
            <a:endParaRPr lang="en-US" altLang="en-US" sz="3600" b="1" dirty="0">
              <a:solidFill>
                <a:srgbClr val="000000"/>
              </a:solidFill>
              <a:latin typeface="Times New Roman" panose="02020603050405020304" pitchFamily="18" charset="0"/>
              <a:ea typeface="Alegreya Sans SC Bold" panose="00000800000000000000" charset="0"/>
              <a:sym typeface="Alegreya Sans SC Bold" panose="00000800000000000000"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reeform 2"/>
          <p:cNvSpPr/>
          <p:nvPr/>
        </p:nvSpPr>
        <p:spPr>
          <a:xfrm rot="-5400000">
            <a:off x="4000499" y="-4000501"/>
            <a:ext cx="10286999" cy="18288001"/>
          </a:xfrm>
          <a:custGeom>
            <a:avLst/>
            <a:gdLst/>
            <a:ahLst/>
            <a:cxnLst>
              <a:cxn ang="0">
                <a:pos x="0" y="0"/>
              </a:cxn>
              <a:cxn ang="0">
                <a:pos x="10287000" y="0"/>
              </a:cxn>
              <a:cxn ang="0">
                <a:pos x="10287000" y="18288000"/>
              </a:cxn>
              <a:cxn ang="0">
                <a:pos x="0" y="18288000"/>
              </a:cxn>
              <a:cxn ang="0">
                <a:pos x="0" y="0"/>
              </a:cxn>
            </a:cxnLst>
            <a:rect l="0" t="0" r="0" b="0"/>
            <a:pathLst>
              <a:path w="10287000" h="18288000">
                <a:moveTo>
                  <a:pt x="0" y="0"/>
                </a:moveTo>
                <a:lnTo>
                  <a:pt x="10287000" y="0"/>
                </a:lnTo>
                <a:lnTo>
                  <a:pt x="10287000" y="18288000"/>
                </a:lnTo>
                <a:lnTo>
                  <a:pt x="0" y="18288000"/>
                </a:lnTo>
                <a:lnTo>
                  <a:pt x="0" y="0"/>
                </a:lnTo>
                <a:close/>
              </a:path>
            </a:pathLst>
          </a:custGeom>
          <a:blipFill rotWithShape="1">
            <a:blip r:embed="rId2"/>
            <a:stretch>
              <a:fillRect/>
            </a:stretch>
          </a:blipFill>
          <a:ln w="9525">
            <a:noFill/>
          </a:ln>
        </p:spPr>
        <p:txBody>
          <a:bodyPr/>
          <a:lstStyle/>
          <a:p>
            <a:endParaRPr lang="en-US"/>
          </a:p>
        </p:txBody>
      </p:sp>
      <p:sp>
        <p:nvSpPr>
          <p:cNvPr id="3075" name="Freeform 3"/>
          <p:cNvSpPr/>
          <p:nvPr/>
        </p:nvSpPr>
        <p:spPr>
          <a:xfrm flipV="1">
            <a:off x="2380458" y="1288653"/>
            <a:ext cx="2359025" cy="2359025"/>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3076" name="Freeform 4"/>
          <p:cNvSpPr/>
          <p:nvPr/>
        </p:nvSpPr>
        <p:spPr>
          <a:xfrm flipH="1">
            <a:off x="13605669" y="6515498"/>
            <a:ext cx="2359025" cy="2359025"/>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3077" name="Freeform 5"/>
          <p:cNvSpPr/>
          <p:nvPr/>
        </p:nvSpPr>
        <p:spPr>
          <a:xfrm>
            <a:off x="13386197" y="1069181"/>
            <a:ext cx="4114800" cy="4114800"/>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3078" name="Freeform 8"/>
          <p:cNvSpPr/>
          <p:nvPr/>
        </p:nvSpPr>
        <p:spPr>
          <a:xfrm>
            <a:off x="1992115" y="6473628"/>
            <a:ext cx="2693989" cy="2693988"/>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pic>
        <p:nvPicPr>
          <p:cNvPr id="3079" name="Picture 11"/>
          <p:cNvPicPr>
            <a:picLocks noChangeAspect="1"/>
          </p:cNvPicPr>
          <p:nvPr/>
        </p:nvPicPr>
        <p:blipFill>
          <a:blip r:embed="rId5"/>
          <a:stretch>
            <a:fillRect/>
          </a:stretch>
        </p:blipFill>
        <p:spPr>
          <a:xfrm>
            <a:off x="1787526" y="1198763"/>
            <a:ext cx="14493874" cy="1716087"/>
          </a:xfrm>
          <a:prstGeom prst="rect">
            <a:avLst/>
          </a:prstGeom>
          <a:noFill/>
          <a:ln w="9525">
            <a:noFill/>
          </a:ln>
        </p:spPr>
      </p:pic>
      <p:sp>
        <p:nvSpPr>
          <p:cNvPr id="3080" name="TextBox 6"/>
          <p:cNvSpPr txBox="1"/>
          <p:nvPr/>
        </p:nvSpPr>
        <p:spPr>
          <a:xfrm>
            <a:off x="1855589" y="2962155"/>
            <a:ext cx="14416088" cy="1107996"/>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spcBef>
                <a:spcPct val="0"/>
              </a:spcBef>
              <a:buNone/>
            </a:pPr>
            <a:r>
              <a:rPr lang="en-US" altLang="en-US" sz="3600" b="1" dirty="0">
                <a:solidFill>
                  <a:srgbClr val="000000"/>
                </a:solidFill>
                <a:latin typeface="Times New Roman" panose="02020603050405020304" pitchFamily="18" charset="0"/>
                <a:ea typeface="Alegreya Sans SC" panose="00000500000000000000" charset="0"/>
                <a:sym typeface="Alegreya Sans SC" panose="00000500000000000000" charset="0"/>
              </a:rPr>
              <a:t>Federated Machine Learning for Secure and Adaptive </a:t>
            </a:r>
          </a:p>
          <a:p>
            <a:pPr marL="0" indent="0" algn="ctr" eaLnBrk="1" hangingPunct="1">
              <a:spcBef>
                <a:spcPct val="0"/>
              </a:spcBef>
              <a:buNone/>
            </a:pPr>
            <a:r>
              <a:rPr lang="en-US" altLang="en-US" sz="3600" b="1" dirty="0">
                <a:solidFill>
                  <a:srgbClr val="000000"/>
                </a:solidFill>
                <a:latin typeface="Times New Roman" panose="02020603050405020304" pitchFamily="18" charset="0"/>
                <a:ea typeface="Alegreya Sans SC" panose="00000500000000000000" charset="0"/>
                <a:sym typeface="Alegreya Sans SC" panose="00000500000000000000" charset="0"/>
              </a:rPr>
              <a:t>Fuels Theft Detection in Vehicles</a:t>
            </a:r>
          </a:p>
        </p:txBody>
      </p:sp>
      <p:sp>
        <p:nvSpPr>
          <p:cNvPr id="10" name="TextBox 7"/>
          <p:cNvSpPr txBox="1"/>
          <p:nvPr/>
        </p:nvSpPr>
        <p:spPr>
          <a:xfrm>
            <a:off x="2207023" y="4762800"/>
            <a:ext cx="6575425" cy="2769989"/>
          </a:xfrm>
          <a:prstGeom prst="rect">
            <a:avLst/>
          </a:prstGeom>
        </p:spPr>
        <p:txBody>
          <a:bodyPr wrap="square" lIns="0" tIns="0" rIns="0" bIns="0">
            <a:spAutoFit/>
          </a:bodyPr>
          <a:lstStyle/>
          <a:p>
            <a:pPr algn="ctr" defTabSz="685800">
              <a:defRPr/>
            </a:pPr>
            <a:r>
              <a:rPr lang="en-IN" sz="3600" b="1" dirty="0"/>
              <a:t>Batch Members :</a:t>
            </a:r>
          </a:p>
          <a:p>
            <a:pPr defTabSz="685800">
              <a:defRPr/>
            </a:pPr>
            <a:r>
              <a:rPr lang="en-IN" sz="3600" dirty="0">
                <a:solidFill>
                  <a:srgbClr val="000000"/>
                </a:solidFill>
                <a:latin typeface="+mj-lt"/>
                <a:ea typeface="Alegreya Sans SC Bold" panose="00000800000000000000"/>
                <a:cs typeface="Times New Roman" panose="02020603050405020304" pitchFamily="18" charset="0"/>
                <a:sym typeface="Alegreya Sans SC Bold" panose="00000800000000000000"/>
              </a:rPr>
              <a:t>1.Mr.Abdul Rahman A</a:t>
            </a:r>
          </a:p>
          <a:p>
            <a:pPr defTabSz="685800">
              <a:defRPr/>
            </a:pPr>
            <a:r>
              <a:rPr lang="en-IN" sz="3600" dirty="0">
                <a:solidFill>
                  <a:srgbClr val="000000"/>
                </a:solidFill>
                <a:latin typeface="+mj-lt"/>
                <a:ea typeface="Alegreya Sans SC Bold" panose="00000800000000000000"/>
                <a:cs typeface="Times New Roman" panose="02020603050405020304" pitchFamily="18" charset="0"/>
                <a:sym typeface="Alegreya Sans SC Bold" panose="00000800000000000000"/>
              </a:rPr>
              <a:t>2.Mr.Bala Subramanian M</a:t>
            </a:r>
          </a:p>
          <a:p>
            <a:pPr defTabSz="685800">
              <a:defRPr/>
            </a:pPr>
            <a:r>
              <a:rPr lang="en-IN" sz="3600" dirty="0">
                <a:solidFill>
                  <a:srgbClr val="000000"/>
                </a:solidFill>
                <a:latin typeface="+mj-lt"/>
                <a:ea typeface="Alegreya Sans SC Bold" panose="00000800000000000000"/>
                <a:cs typeface="Times New Roman" panose="02020603050405020304" pitchFamily="18" charset="0"/>
                <a:sym typeface="Alegreya Sans SC Bold" panose="00000800000000000000"/>
              </a:rPr>
              <a:t>3.Mr.Saravanan G</a:t>
            </a:r>
          </a:p>
          <a:p>
            <a:pPr defTabSz="685800">
              <a:defRPr/>
            </a:pPr>
            <a:r>
              <a:rPr lang="en-IN" sz="3600" dirty="0">
                <a:solidFill>
                  <a:srgbClr val="000000"/>
                </a:solidFill>
                <a:latin typeface="+mj-lt"/>
                <a:ea typeface="Alegreya Sans SC Bold" panose="00000800000000000000"/>
                <a:cs typeface="Times New Roman" panose="02020603050405020304" pitchFamily="18" charset="0"/>
                <a:sym typeface="Alegreya Sans SC Bold" panose="00000800000000000000"/>
              </a:rPr>
              <a:t>4.Mr.Jenin Raj K</a:t>
            </a:r>
            <a:endParaRPr lang="en-US" sz="3600" dirty="0">
              <a:solidFill>
                <a:srgbClr val="000000"/>
              </a:solidFill>
              <a:latin typeface="+mj-lt"/>
              <a:ea typeface="Alegreya Sans SC Bold" panose="00000800000000000000"/>
              <a:cs typeface="Times New Roman" panose="02020603050405020304" pitchFamily="18" charset="0"/>
              <a:sym typeface="Alegreya Sans SC Bold" panose="00000800000000000000"/>
            </a:endParaRPr>
          </a:p>
        </p:txBody>
      </p:sp>
      <p:sp>
        <p:nvSpPr>
          <p:cNvPr id="3082" name="TextBox 7"/>
          <p:cNvSpPr txBox="1"/>
          <p:nvPr/>
        </p:nvSpPr>
        <p:spPr>
          <a:xfrm>
            <a:off x="8899724" y="5062957"/>
            <a:ext cx="6726238" cy="1661993"/>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spcBef>
                <a:spcPct val="0"/>
              </a:spcBef>
              <a:buNone/>
            </a:pPr>
            <a:r>
              <a:rPr lang="en-IN" altLang="en-US" sz="3600" b="1" dirty="0"/>
              <a:t>Supervisor:</a:t>
            </a:r>
          </a:p>
          <a:p>
            <a:pPr marL="0" indent="0" algn="ctr" eaLnBrk="1" hangingPunct="1">
              <a:spcBef>
                <a:spcPct val="0"/>
              </a:spcBef>
              <a:buNone/>
            </a:pPr>
            <a:r>
              <a:rPr lang="en-IN" altLang="x-none" sz="3600" dirty="0"/>
              <a:t>A.Merry Ida,M.E.,(Ph.D) </a:t>
            </a:r>
            <a:r>
              <a:rPr lang="en-IN" altLang="en-US" sz="3600" dirty="0"/>
              <a:t>Assistant Professor, CSE </a:t>
            </a:r>
            <a:endParaRPr lang="en-US" altLang="en-US" sz="3600" dirty="0">
              <a:solidFill>
                <a:srgbClr val="000000"/>
              </a:solidFill>
              <a:latin typeface="Times New Roman" panose="02020603050405020304" pitchFamily="18" charset="0"/>
              <a:ea typeface="Alegreya Sans SC Bold" panose="00000800000000000000" charset="0"/>
              <a:sym typeface="Alegreya Sans SC Bold" panose="00000800000000000000"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reeform 2"/>
          <p:cNvSpPr/>
          <p:nvPr/>
        </p:nvSpPr>
        <p:spPr>
          <a:xfrm rot="-5400000">
            <a:off x="4019550" y="-3905251"/>
            <a:ext cx="10172699" cy="18211800"/>
          </a:xfrm>
          <a:custGeom>
            <a:avLst/>
            <a:gdLst/>
            <a:ahLst/>
            <a:cxnLst>
              <a:cxn ang="0">
                <a:pos x="0" y="0"/>
              </a:cxn>
              <a:cxn ang="0">
                <a:pos x="11718925" y="0"/>
              </a:cxn>
              <a:cxn ang="0">
                <a:pos x="11718925" y="20832762"/>
              </a:cxn>
              <a:cxn ang="0">
                <a:pos x="0" y="20832762"/>
              </a:cxn>
              <a:cxn ang="0">
                <a:pos x="0" y="0"/>
              </a:cxn>
            </a:cxnLst>
            <a:rect l="0" t="0" r="0" b="0"/>
            <a:pathLst>
              <a:path w="11718479" h="20832852">
                <a:moveTo>
                  <a:pt x="0" y="0"/>
                </a:moveTo>
                <a:lnTo>
                  <a:pt x="11718479" y="0"/>
                </a:lnTo>
                <a:lnTo>
                  <a:pt x="11718479" y="20832851"/>
                </a:lnTo>
                <a:lnTo>
                  <a:pt x="0" y="20832851"/>
                </a:lnTo>
                <a:lnTo>
                  <a:pt x="0" y="0"/>
                </a:lnTo>
                <a:close/>
              </a:path>
            </a:pathLst>
          </a:custGeom>
          <a:blipFill rotWithShape="1">
            <a:blip r:embed="rId2"/>
            <a:stretch>
              <a:fillRect/>
            </a:stretch>
          </a:blipFill>
          <a:ln w="9525">
            <a:noFill/>
          </a:ln>
        </p:spPr>
        <p:txBody>
          <a:bodyPr/>
          <a:lstStyle/>
          <a:p>
            <a:endParaRPr lang="en-US"/>
          </a:p>
        </p:txBody>
      </p:sp>
      <p:sp>
        <p:nvSpPr>
          <p:cNvPr id="4099" name="Freeform 3"/>
          <p:cNvSpPr/>
          <p:nvPr/>
        </p:nvSpPr>
        <p:spPr>
          <a:xfrm flipV="1">
            <a:off x="2416545" y="1563759"/>
            <a:ext cx="2062237" cy="2047769"/>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4100" name="Freeform 4"/>
          <p:cNvSpPr/>
          <p:nvPr/>
        </p:nvSpPr>
        <p:spPr>
          <a:xfrm flipH="1">
            <a:off x="13641757" y="6790603"/>
            <a:ext cx="2062237" cy="2047769"/>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4101" name="Freeform 5"/>
          <p:cNvSpPr/>
          <p:nvPr/>
        </p:nvSpPr>
        <p:spPr>
          <a:xfrm>
            <a:off x="13449142" y="1549040"/>
            <a:ext cx="3597119" cy="3571883"/>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4102" name="Freeform 6"/>
          <p:cNvSpPr/>
          <p:nvPr/>
        </p:nvSpPr>
        <p:spPr>
          <a:xfrm>
            <a:off x="2033328" y="6787796"/>
            <a:ext cx="2355058" cy="2338536"/>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grpSp>
        <p:nvGrpSpPr>
          <p:cNvPr id="4103" name="Group 7"/>
          <p:cNvGrpSpPr/>
          <p:nvPr/>
        </p:nvGrpSpPr>
        <p:grpSpPr>
          <a:xfrm>
            <a:off x="2008081" y="1591501"/>
            <a:ext cx="14055407" cy="5093240"/>
            <a:chOff x="0" y="0"/>
            <a:chExt cx="3259624" cy="1353377"/>
          </a:xfrm>
        </p:grpSpPr>
        <p:sp>
          <p:nvSpPr>
            <p:cNvPr id="4107" name="Freeform 8"/>
            <p:cNvSpPr/>
            <p:nvPr/>
          </p:nvSpPr>
          <p:spPr>
            <a:xfrm>
              <a:off x="0" y="0"/>
              <a:ext cx="3259624" cy="1353377"/>
            </a:xfrm>
            <a:custGeom>
              <a:avLst/>
              <a:gdLst/>
              <a:ahLst/>
              <a:cxnLst>
                <a:cxn ang="0">
                  <a:pos x="31903" y="0"/>
                </a:cxn>
                <a:cxn ang="0">
                  <a:pos x="3227722" y="0"/>
                </a:cxn>
                <a:cxn ang="0">
                  <a:pos x="3250280" y="9344"/>
                </a:cxn>
                <a:cxn ang="0">
                  <a:pos x="3259624" y="31903"/>
                </a:cxn>
                <a:cxn ang="0">
                  <a:pos x="3259624" y="1321475"/>
                </a:cxn>
                <a:cxn ang="0">
                  <a:pos x="3250280" y="1344033"/>
                </a:cxn>
                <a:cxn ang="0">
                  <a:pos x="3227722" y="1353377"/>
                </a:cxn>
                <a:cxn ang="0">
                  <a:pos x="31903" y="1353377"/>
                </a:cxn>
                <a:cxn ang="0">
                  <a:pos x="9344" y="1344033"/>
                </a:cxn>
                <a:cxn ang="0">
                  <a:pos x="0" y="1321475"/>
                </a:cxn>
                <a:cxn ang="0">
                  <a:pos x="0" y="31903"/>
                </a:cxn>
                <a:cxn ang="0">
                  <a:pos x="9344" y="9344"/>
                </a:cxn>
                <a:cxn ang="0">
                  <a:pos x="31903" y="0"/>
                </a:cxn>
              </a:cxnLst>
              <a:rect l="0" t="0" r="0" b="0"/>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alpha val="100000"/>
              </a:srgbClr>
            </a:solidFill>
            <a:ln w="9525">
              <a:noFill/>
            </a:ln>
          </p:spPr>
          <p:txBody>
            <a:bodyPr/>
            <a:lstStyle/>
            <a:p>
              <a:endParaRPr lang="en-US"/>
            </a:p>
          </p:txBody>
        </p:sp>
        <p:sp>
          <p:nvSpPr>
            <p:cNvPr id="4108" name="TextBox 9"/>
            <p:cNvSpPr txBox="1"/>
            <p:nvPr/>
          </p:nvSpPr>
          <p:spPr>
            <a:xfrm>
              <a:off x="0" y="-38100"/>
              <a:ext cx="3259624" cy="1391477"/>
            </a:xfrm>
            <a:prstGeom prst="rect">
              <a:avLst/>
            </a:prstGeom>
            <a:noFill/>
            <a:ln w="9525">
              <a:noFill/>
            </a:ln>
          </p:spPr>
          <p:txBody>
            <a:bodyPr lIns="38100" tIns="38100" rIns="38100" bIns="381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lnSpc>
                  <a:spcPts val="1999"/>
                </a:lnSpc>
                <a:spcBef>
                  <a:spcPct val="0"/>
                </a:spcBef>
                <a:buNone/>
              </a:pPr>
              <a:endParaRPr lang="en-US" altLang="en-US" sz="1350" dirty="0"/>
            </a:p>
          </p:txBody>
        </p:sp>
      </p:grpSp>
      <p:sp>
        <p:nvSpPr>
          <p:cNvPr id="10" name="TextBox 10"/>
          <p:cNvSpPr txBox="1"/>
          <p:nvPr/>
        </p:nvSpPr>
        <p:spPr>
          <a:xfrm>
            <a:off x="5124387" y="-781909"/>
            <a:ext cx="7457915" cy="828740"/>
          </a:xfrm>
          <a:prstGeom prst="rect">
            <a:avLst/>
          </a:prstGeom>
        </p:spPr>
        <p:txBody>
          <a:bodyPr wrap="square" lIns="0" tIns="0" rIns="0" bIns="0">
            <a:spAutoFit/>
          </a:bodyPr>
          <a:lstStyle/>
          <a:p>
            <a:pPr algn="ctr" defTabSz="685800">
              <a:lnSpc>
                <a:spcPts val="6420"/>
              </a:lnSpc>
              <a:defRPr/>
            </a:pPr>
            <a:r>
              <a:rPr lang="en-US" sz="6000" b="1" dirty="0">
                <a:solidFill>
                  <a:srgbClr val="000000"/>
                </a:solidFill>
                <a:latin typeface="+mj-lt"/>
                <a:ea typeface="Alegreya Sans SC Bold" panose="00000800000000000000"/>
                <a:cs typeface="Alegreya Sans SC Bold" panose="00000800000000000000"/>
                <a:sym typeface="Alegreya Sans SC Bold" panose="00000800000000000000"/>
              </a:rPr>
              <a:t>Overview</a:t>
            </a:r>
          </a:p>
        </p:txBody>
      </p:sp>
      <p:sp>
        <p:nvSpPr>
          <p:cNvPr id="11" name="TextBox 11"/>
          <p:cNvSpPr txBox="1"/>
          <p:nvPr/>
        </p:nvSpPr>
        <p:spPr>
          <a:xfrm>
            <a:off x="3395689" y="2346784"/>
            <a:ext cx="5626049" cy="2336269"/>
          </a:xfrm>
          <a:prstGeom prst="rect">
            <a:avLst/>
          </a:prstGeom>
        </p:spPr>
        <p:txBody>
          <a:bodyPr wrap="square" lIns="0" tIns="0" rIns="0" bIns="0">
            <a:spAutoFit/>
          </a:bodyPr>
          <a:lstStyle/>
          <a:p>
            <a:pPr marL="647700" lvl="1" indent="-323850" algn="just" defTabSz="685800">
              <a:lnSpc>
                <a:spcPts val="4620"/>
              </a:lnSpc>
              <a:buFont typeface="Arial" panose="020B0604020202020204"/>
              <a:buChar char="•"/>
              <a:defRPr/>
            </a:pPr>
            <a:r>
              <a:rPr lang="en-US" sz="3000" b="1" dirty="0">
                <a:solidFill>
                  <a:srgbClr val="3C3F42"/>
                </a:solidFill>
                <a:latin typeface="+mj-lt"/>
                <a:ea typeface="Aileron Bold"/>
                <a:cs typeface="Aileron Bold"/>
                <a:sym typeface="Aileron Bold"/>
              </a:rPr>
              <a:t>Abstract</a:t>
            </a:r>
          </a:p>
          <a:p>
            <a:pPr marL="647700" lvl="1" indent="-323850" algn="just" defTabSz="685800">
              <a:lnSpc>
                <a:spcPts val="4620"/>
              </a:lnSpc>
              <a:buFont typeface="Arial" panose="020B0604020202020204"/>
              <a:buChar char="•"/>
              <a:defRPr/>
            </a:pPr>
            <a:r>
              <a:rPr lang="en-US" sz="3000" b="1" dirty="0">
                <a:solidFill>
                  <a:srgbClr val="3C3F42"/>
                </a:solidFill>
                <a:latin typeface="+mj-lt"/>
                <a:ea typeface="Aileron Bold"/>
                <a:cs typeface="Aileron Bold"/>
                <a:sym typeface="Aileron Bold"/>
              </a:rPr>
              <a:t>Objective</a:t>
            </a:r>
          </a:p>
          <a:p>
            <a:pPr marL="647700" lvl="1" indent="-323850" algn="just" defTabSz="685800">
              <a:lnSpc>
                <a:spcPts val="4620"/>
              </a:lnSpc>
              <a:buFont typeface="Arial" panose="020B0604020202020204"/>
              <a:buChar char="•"/>
              <a:defRPr/>
            </a:pPr>
            <a:r>
              <a:rPr lang="en-US" sz="3000" b="1" dirty="0">
                <a:solidFill>
                  <a:srgbClr val="3C3F42"/>
                </a:solidFill>
                <a:latin typeface="+mj-lt"/>
                <a:ea typeface="Aileron Bold"/>
                <a:cs typeface="Aileron Bold"/>
                <a:sym typeface="Aileron Bold"/>
              </a:rPr>
              <a:t>Literature Survey</a:t>
            </a:r>
          </a:p>
          <a:p>
            <a:pPr marL="647700" lvl="1" indent="-323850" defTabSz="685800">
              <a:lnSpc>
                <a:spcPts val="4620"/>
              </a:lnSpc>
              <a:buFont typeface="Arial" panose="020B0604020202020204"/>
              <a:buChar char="•"/>
              <a:defRPr/>
            </a:pPr>
            <a:r>
              <a:rPr lang="en-US" sz="3000" b="1" dirty="0">
                <a:solidFill>
                  <a:srgbClr val="3C3F42"/>
                </a:solidFill>
                <a:latin typeface="+mj-lt"/>
                <a:ea typeface="Aileron Bold"/>
                <a:cs typeface="Aileron Bold"/>
                <a:sym typeface="Aileron Bold"/>
              </a:rPr>
              <a:t>Summary of Literature </a:t>
            </a:r>
          </a:p>
        </p:txBody>
      </p:sp>
      <p:sp>
        <p:nvSpPr>
          <p:cNvPr id="12" name="TextBox 12"/>
          <p:cNvSpPr txBox="1"/>
          <p:nvPr/>
        </p:nvSpPr>
        <p:spPr>
          <a:xfrm>
            <a:off x="7913322" y="2361276"/>
            <a:ext cx="8393276" cy="2931925"/>
          </a:xfrm>
          <a:prstGeom prst="rect">
            <a:avLst/>
          </a:prstGeom>
        </p:spPr>
        <p:txBody>
          <a:bodyPr wrap="square" lIns="0" tIns="0" rIns="0" bIns="0">
            <a:spAutoFit/>
          </a:bodyPr>
          <a:lstStyle/>
          <a:p>
            <a:pPr marL="647700" lvl="1" indent="-323850" defTabSz="685800">
              <a:lnSpc>
                <a:spcPts val="4620"/>
              </a:lnSpc>
              <a:buFont typeface="Arial" panose="020B0604020202020204"/>
              <a:buChar char="•"/>
              <a:defRPr/>
            </a:pPr>
            <a:r>
              <a:rPr lang="en-US" sz="3000" b="1" dirty="0">
                <a:solidFill>
                  <a:srgbClr val="3C3F42"/>
                </a:solidFill>
                <a:latin typeface="+mj-lt"/>
                <a:ea typeface="Aileron Bold"/>
                <a:cs typeface="Aileron Bold"/>
                <a:sym typeface="Aileron Bold"/>
              </a:rPr>
              <a:t>Proposed System &amp; Novelty</a:t>
            </a:r>
          </a:p>
          <a:p>
            <a:pPr marL="647700" lvl="1" indent="-323850" defTabSz="685800">
              <a:lnSpc>
                <a:spcPts val="4620"/>
              </a:lnSpc>
              <a:buFont typeface="Arial" panose="020B0604020202020204"/>
              <a:buChar char="•"/>
              <a:defRPr/>
            </a:pPr>
            <a:r>
              <a:rPr lang="en-US" sz="3000" b="1" dirty="0">
                <a:solidFill>
                  <a:srgbClr val="3C3F42"/>
                </a:solidFill>
                <a:latin typeface="+mj-lt"/>
                <a:ea typeface="Aileron Bold"/>
                <a:cs typeface="Aileron Bold"/>
                <a:sym typeface="Aileron Bold"/>
              </a:rPr>
              <a:t>Block Diagram</a:t>
            </a:r>
          </a:p>
          <a:p>
            <a:pPr marL="647700" lvl="1" indent="-323850" defTabSz="685800">
              <a:lnSpc>
                <a:spcPts val="4620"/>
              </a:lnSpc>
              <a:buFont typeface="Arial" panose="020B0604020202020204"/>
              <a:buChar char="•"/>
              <a:defRPr/>
            </a:pPr>
            <a:r>
              <a:rPr lang="en-US" sz="3000" b="1" dirty="0">
                <a:solidFill>
                  <a:srgbClr val="3C3F42"/>
                </a:solidFill>
                <a:latin typeface="+mj-lt"/>
                <a:ea typeface="Aileron Bold"/>
                <a:cs typeface="Aileron Bold"/>
                <a:sym typeface="Aileron Bold"/>
              </a:rPr>
              <a:t>Hardware &amp; Software Requirements</a:t>
            </a:r>
          </a:p>
          <a:p>
            <a:pPr marL="647700" lvl="1" indent="-323850" defTabSz="685800">
              <a:lnSpc>
                <a:spcPts val="4620"/>
              </a:lnSpc>
              <a:buFont typeface="Arial" panose="020B0604020202020204"/>
              <a:buChar char="•"/>
              <a:defRPr/>
            </a:pPr>
            <a:r>
              <a:rPr lang="en-US" sz="3000" b="1" dirty="0">
                <a:solidFill>
                  <a:srgbClr val="3C3F42"/>
                </a:solidFill>
                <a:latin typeface="+mj-lt"/>
                <a:ea typeface="Aileron Bold"/>
                <a:cs typeface="Aileron Bold"/>
                <a:sym typeface="Aileron Bold"/>
              </a:rPr>
              <a:t>Base Paper Information</a:t>
            </a:r>
          </a:p>
          <a:p>
            <a:pPr marL="647700" lvl="1" indent="-323850" defTabSz="685800">
              <a:lnSpc>
                <a:spcPts val="4620"/>
              </a:lnSpc>
              <a:buFont typeface="Arial" panose="020B0604020202020204"/>
              <a:buChar char="•"/>
              <a:defRPr/>
            </a:pPr>
            <a:r>
              <a:rPr lang="en-US" sz="3000" b="1" dirty="0">
                <a:solidFill>
                  <a:srgbClr val="3C3F42"/>
                </a:solidFill>
                <a:latin typeface="+mj-lt"/>
                <a:ea typeface="Aileron Bold"/>
                <a:cs typeface="Aileron Bold"/>
                <a:sym typeface="Aileron Bold"/>
              </a:rPr>
              <a:t>Reference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reeform 2"/>
          <p:cNvSpPr/>
          <p:nvPr/>
        </p:nvSpPr>
        <p:spPr>
          <a:xfrm rot="-5400000">
            <a:off x="4000501" y="-4000502"/>
            <a:ext cx="10286999" cy="18288002"/>
          </a:xfrm>
          <a:custGeom>
            <a:avLst/>
            <a:gdLst/>
            <a:ahLst/>
            <a:cxnLst>
              <a:cxn ang="0">
                <a:pos x="0" y="0"/>
              </a:cxn>
              <a:cxn ang="0">
                <a:pos x="11718925" y="0"/>
              </a:cxn>
              <a:cxn ang="0">
                <a:pos x="11718925" y="20832762"/>
              </a:cxn>
              <a:cxn ang="0">
                <a:pos x="0" y="20832762"/>
              </a:cxn>
              <a:cxn ang="0">
                <a:pos x="0" y="0"/>
              </a:cxn>
            </a:cxnLst>
            <a:rect l="0" t="0" r="0" b="0"/>
            <a:pathLst>
              <a:path w="11718479" h="20832852">
                <a:moveTo>
                  <a:pt x="0" y="0"/>
                </a:moveTo>
                <a:lnTo>
                  <a:pt x="11718479" y="0"/>
                </a:lnTo>
                <a:lnTo>
                  <a:pt x="11718479" y="20832851"/>
                </a:lnTo>
                <a:lnTo>
                  <a:pt x="0" y="20832851"/>
                </a:lnTo>
                <a:lnTo>
                  <a:pt x="0" y="0"/>
                </a:lnTo>
                <a:close/>
              </a:path>
            </a:pathLst>
          </a:custGeom>
          <a:blipFill rotWithShape="1">
            <a:blip r:embed="rId2"/>
            <a:stretch>
              <a:fillRect/>
            </a:stretch>
          </a:blipFill>
          <a:ln w="9525">
            <a:noFill/>
          </a:ln>
        </p:spPr>
        <p:txBody>
          <a:bodyPr/>
          <a:lstStyle/>
          <a:p>
            <a:endParaRPr lang="en-US"/>
          </a:p>
        </p:txBody>
      </p:sp>
      <p:sp>
        <p:nvSpPr>
          <p:cNvPr id="5123" name="Freeform 3"/>
          <p:cNvSpPr/>
          <p:nvPr/>
        </p:nvSpPr>
        <p:spPr>
          <a:xfrm flipV="1">
            <a:off x="2416546" y="1540749"/>
            <a:ext cx="2070866" cy="2070778"/>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5124" name="Freeform 4"/>
          <p:cNvSpPr/>
          <p:nvPr/>
        </p:nvSpPr>
        <p:spPr>
          <a:xfrm flipH="1">
            <a:off x="13641758" y="6767594"/>
            <a:ext cx="2070866" cy="2070778"/>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5125" name="Freeform 5"/>
          <p:cNvSpPr/>
          <p:nvPr/>
        </p:nvSpPr>
        <p:spPr>
          <a:xfrm>
            <a:off x="13449142" y="1508908"/>
            <a:ext cx="3612169" cy="3612016"/>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5126" name="Freeform 6"/>
          <p:cNvSpPr/>
          <p:nvPr/>
        </p:nvSpPr>
        <p:spPr>
          <a:xfrm>
            <a:off x="2033327" y="6761520"/>
            <a:ext cx="2364913" cy="2364811"/>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grpSp>
        <p:nvGrpSpPr>
          <p:cNvPr id="5127" name="Group 7"/>
          <p:cNvGrpSpPr/>
          <p:nvPr/>
        </p:nvGrpSpPr>
        <p:grpSpPr>
          <a:xfrm>
            <a:off x="1350258" y="1804765"/>
            <a:ext cx="15719626" cy="6695887"/>
            <a:chOff x="0" y="0"/>
            <a:chExt cx="3259624" cy="1353377"/>
          </a:xfrm>
        </p:grpSpPr>
        <p:sp>
          <p:nvSpPr>
            <p:cNvPr id="5130" name="Freeform 8"/>
            <p:cNvSpPr/>
            <p:nvPr/>
          </p:nvSpPr>
          <p:spPr>
            <a:xfrm>
              <a:off x="0" y="0"/>
              <a:ext cx="3259624" cy="1353377"/>
            </a:xfrm>
            <a:custGeom>
              <a:avLst/>
              <a:gdLst/>
              <a:ahLst/>
              <a:cxnLst>
                <a:cxn ang="0">
                  <a:pos x="31903" y="0"/>
                </a:cxn>
                <a:cxn ang="0">
                  <a:pos x="3227722" y="0"/>
                </a:cxn>
                <a:cxn ang="0">
                  <a:pos x="3250280" y="9344"/>
                </a:cxn>
                <a:cxn ang="0">
                  <a:pos x="3259624" y="31903"/>
                </a:cxn>
                <a:cxn ang="0">
                  <a:pos x="3259624" y="1321475"/>
                </a:cxn>
                <a:cxn ang="0">
                  <a:pos x="3250280" y="1344033"/>
                </a:cxn>
                <a:cxn ang="0">
                  <a:pos x="3227722" y="1353377"/>
                </a:cxn>
                <a:cxn ang="0">
                  <a:pos x="31903" y="1353377"/>
                </a:cxn>
                <a:cxn ang="0">
                  <a:pos x="9344" y="1344033"/>
                </a:cxn>
                <a:cxn ang="0">
                  <a:pos x="0" y="1321475"/>
                </a:cxn>
                <a:cxn ang="0">
                  <a:pos x="0" y="31903"/>
                </a:cxn>
                <a:cxn ang="0">
                  <a:pos x="9344" y="9344"/>
                </a:cxn>
                <a:cxn ang="0">
                  <a:pos x="31903" y="0"/>
                </a:cxn>
              </a:cxnLst>
              <a:rect l="0" t="0" r="0" b="0"/>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alpha val="100000"/>
              </a:srgbClr>
            </a:solidFill>
            <a:ln w="9525">
              <a:noFill/>
            </a:ln>
          </p:spPr>
          <p:txBody>
            <a:bodyPr/>
            <a:lstStyle/>
            <a:p>
              <a:endParaRPr lang="en-US"/>
            </a:p>
          </p:txBody>
        </p:sp>
        <p:sp>
          <p:nvSpPr>
            <p:cNvPr id="5131" name="TextBox 9"/>
            <p:cNvSpPr txBox="1"/>
            <p:nvPr/>
          </p:nvSpPr>
          <p:spPr>
            <a:xfrm>
              <a:off x="0" y="-38100"/>
              <a:ext cx="3259624" cy="1391477"/>
            </a:xfrm>
            <a:prstGeom prst="rect">
              <a:avLst/>
            </a:prstGeom>
            <a:noFill/>
            <a:ln w="9525">
              <a:noFill/>
            </a:ln>
          </p:spPr>
          <p:txBody>
            <a:bodyPr lIns="38100" tIns="38100" rIns="38100" bIns="381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lnSpc>
                  <a:spcPts val="1999"/>
                </a:lnSpc>
                <a:spcBef>
                  <a:spcPct val="0"/>
                </a:spcBef>
                <a:buNone/>
              </a:pPr>
              <a:endParaRPr lang="en-US" altLang="en-US" sz="1350" dirty="0"/>
            </a:p>
          </p:txBody>
        </p:sp>
      </p:grpSp>
      <p:sp>
        <p:nvSpPr>
          <p:cNvPr id="10" name="TextBox 10"/>
          <p:cNvSpPr txBox="1"/>
          <p:nvPr/>
        </p:nvSpPr>
        <p:spPr>
          <a:xfrm>
            <a:off x="5112480" y="738733"/>
            <a:ext cx="7489119" cy="838052"/>
          </a:xfrm>
          <a:prstGeom prst="rect">
            <a:avLst/>
          </a:prstGeom>
        </p:spPr>
        <p:txBody>
          <a:bodyPr wrap="square" lIns="0" tIns="0" rIns="0" bIns="0">
            <a:spAutoFit/>
          </a:bodyPr>
          <a:lstStyle/>
          <a:p>
            <a:pPr algn="ctr" defTabSz="685800">
              <a:lnSpc>
                <a:spcPts val="6420"/>
              </a:lnSpc>
              <a:defRPr/>
            </a:pPr>
            <a:r>
              <a:rPr lang="en-US" sz="6000" b="1" dirty="0">
                <a:solidFill>
                  <a:srgbClr val="000000"/>
                </a:solidFill>
                <a:latin typeface="Calibri (Body)"/>
                <a:ea typeface="Alegreya Sans SC Bold" panose="00000800000000000000"/>
                <a:cs typeface="Alegreya Sans SC Bold" panose="00000800000000000000"/>
                <a:sym typeface="Alegreya Sans SC Bold" panose="00000800000000000000"/>
              </a:rPr>
              <a:t>Abstract</a:t>
            </a:r>
          </a:p>
        </p:txBody>
      </p:sp>
      <p:sp>
        <p:nvSpPr>
          <p:cNvPr id="11" name="TextBox 11"/>
          <p:cNvSpPr txBox="1"/>
          <p:nvPr/>
        </p:nvSpPr>
        <p:spPr>
          <a:xfrm>
            <a:off x="2052437" y="2104290"/>
            <a:ext cx="14769202" cy="5452834"/>
          </a:xfrm>
          <a:prstGeom prst="rect">
            <a:avLst/>
          </a:prstGeom>
        </p:spPr>
        <p:txBody>
          <a:bodyPr wrap="square" lIns="0" tIns="0" rIns="0" bIns="0">
            <a:spAutoFit/>
          </a:bodyPr>
          <a:lstStyle/>
          <a:p>
            <a:pPr marL="342900" indent="-342900" defTabSz="685800">
              <a:lnSpc>
                <a:spcPts val="3810"/>
              </a:lnSpc>
              <a:buFont typeface="Wingdings" panose="05000000000000000000" pitchFamily="2" charset="2"/>
              <a:buChar char="q"/>
              <a:defRPr/>
            </a:pPr>
            <a:r>
              <a:rPr lang="en-US" sz="3000" b="1" dirty="0"/>
              <a:t>Problem Statement:</a:t>
            </a:r>
            <a:r>
              <a:rPr lang="en-US" sz="3000" dirty="0"/>
              <a:t> Fuel theft is a major economic issue, particularly for commercial fleets, as traditional detection methods are limited.</a:t>
            </a:r>
          </a:p>
          <a:p>
            <a:pPr marL="342900" indent="-342900" defTabSz="685800">
              <a:lnSpc>
                <a:spcPts val="3810"/>
              </a:lnSpc>
              <a:buFont typeface="Wingdings" panose="05000000000000000000" pitchFamily="2" charset="2"/>
              <a:buChar char="q"/>
              <a:defRPr/>
            </a:pPr>
            <a:r>
              <a:rPr lang="en-US" sz="3000" b="1" dirty="0"/>
              <a:t>Proposed Solution:</a:t>
            </a:r>
            <a:r>
              <a:rPr lang="en-US" sz="3000" dirty="0"/>
              <a:t> This project introduces a new hybrid system that uses Internet of Things (IoT) sensors and federated machine learning.</a:t>
            </a:r>
          </a:p>
          <a:p>
            <a:pPr marL="342900" indent="-342900" defTabSz="685800">
              <a:lnSpc>
                <a:spcPts val="3810"/>
              </a:lnSpc>
              <a:buFont typeface="Wingdings" panose="05000000000000000000" pitchFamily="2" charset="2"/>
              <a:buChar char="q"/>
              <a:defRPr/>
            </a:pPr>
            <a:r>
              <a:rPr lang="en-US" altLang="en-US" sz="3000" b="1" dirty="0"/>
              <a:t>Project Goal:</a:t>
            </a:r>
            <a:r>
              <a:rPr lang="en-US" altLang="en-US" sz="3000" dirty="0"/>
              <a:t> The aim is to create a secure, privacy-friendly, and flexible solution for detecting fuel theft in real-time.</a:t>
            </a:r>
          </a:p>
          <a:p>
            <a:pPr marL="342900" indent="-342900" defTabSz="685800">
              <a:lnSpc>
                <a:spcPts val="3810"/>
              </a:lnSpc>
              <a:buFont typeface="Wingdings" panose="05000000000000000000" pitchFamily="2" charset="2"/>
              <a:buChar char="q"/>
              <a:defRPr/>
            </a:pPr>
            <a:r>
              <a:rPr lang="en-US" sz="3000" b="1" dirty="0"/>
              <a:t>Methodology:</a:t>
            </a:r>
            <a:r>
              <a:rPr lang="en-US" sz="3000" dirty="0"/>
              <a:t> The system will learn consumption patterns and spot anomalies, avoiding a reliance on fixed thresholds which are often unreliable.</a:t>
            </a:r>
          </a:p>
          <a:p>
            <a:pPr marL="342900" indent="-342900" defTabSz="685800">
              <a:lnSpc>
                <a:spcPts val="3810"/>
              </a:lnSpc>
              <a:buFont typeface="Wingdings" panose="05000000000000000000" pitchFamily="2" charset="2"/>
              <a:buChar char="q"/>
              <a:defRPr/>
            </a:pPr>
            <a:r>
              <a:rPr lang="en-US" sz="3000" b="1" dirty="0"/>
              <a:t>Key Advantage:</a:t>
            </a:r>
            <a:r>
              <a:rPr lang="en-US" sz="3000" dirty="0"/>
              <a:t> By learning consumption patterns and detecting anomalies, the system will offer a more effective solution for real-time fuel theft detection.</a:t>
            </a:r>
            <a:endParaRPr lang="en-US" sz="3000" dirty="0">
              <a:solidFill>
                <a:srgbClr val="000000"/>
              </a:solidFill>
              <a:latin typeface="+mj-lt"/>
              <a:ea typeface="Aileron"/>
              <a:cs typeface="Aileron"/>
              <a:sym typeface="Aileron"/>
            </a:endParaRPr>
          </a:p>
          <a:p>
            <a:pPr algn="ctr" defTabSz="685800">
              <a:lnSpc>
                <a:spcPts val="3810"/>
              </a:lnSpc>
              <a:defRPr/>
            </a:pPr>
            <a:endParaRPr lang="en-US" sz="3000" dirty="0">
              <a:solidFill>
                <a:srgbClr val="000000"/>
              </a:solidFill>
              <a:latin typeface="+mj-lt"/>
              <a:ea typeface="Aileron"/>
              <a:cs typeface="Aileron"/>
              <a:sym typeface="Ailero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reeform 2"/>
          <p:cNvSpPr/>
          <p:nvPr/>
        </p:nvSpPr>
        <p:spPr>
          <a:xfrm rot="-5400000">
            <a:off x="4000500" y="-4000501"/>
            <a:ext cx="10287000" cy="18288000"/>
          </a:xfrm>
          <a:custGeom>
            <a:avLst/>
            <a:gdLst/>
            <a:ahLst/>
            <a:cxnLst>
              <a:cxn ang="0">
                <a:pos x="0" y="0"/>
              </a:cxn>
              <a:cxn ang="0">
                <a:pos x="11718925" y="0"/>
              </a:cxn>
              <a:cxn ang="0">
                <a:pos x="11718925" y="20832762"/>
              </a:cxn>
              <a:cxn ang="0">
                <a:pos x="0" y="20832762"/>
              </a:cxn>
              <a:cxn ang="0">
                <a:pos x="0" y="0"/>
              </a:cxn>
            </a:cxnLst>
            <a:rect l="0" t="0" r="0" b="0"/>
            <a:pathLst>
              <a:path w="11718479" h="20832852">
                <a:moveTo>
                  <a:pt x="0" y="0"/>
                </a:moveTo>
                <a:lnTo>
                  <a:pt x="11718479" y="0"/>
                </a:lnTo>
                <a:lnTo>
                  <a:pt x="11718479" y="20832851"/>
                </a:lnTo>
                <a:lnTo>
                  <a:pt x="0" y="20832851"/>
                </a:lnTo>
                <a:lnTo>
                  <a:pt x="0" y="0"/>
                </a:lnTo>
                <a:close/>
              </a:path>
            </a:pathLst>
          </a:custGeom>
          <a:blipFill rotWithShape="1">
            <a:blip r:embed="rId2"/>
            <a:stretch>
              <a:fillRect/>
            </a:stretch>
          </a:blipFill>
          <a:ln w="9525">
            <a:noFill/>
          </a:ln>
        </p:spPr>
        <p:txBody>
          <a:bodyPr/>
          <a:lstStyle/>
          <a:p>
            <a:endParaRPr lang="en-US"/>
          </a:p>
        </p:txBody>
      </p:sp>
      <p:sp>
        <p:nvSpPr>
          <p:cNvPr id="6147" name="Freeform 3"/>
          <p:cNvSpPr/>
          <p:nvPr/>
        </p:nvSpPr>
        <p:spPr>
          <a:xfrm flipV="1">
            <a:off x="2416546" y="1540750"/>
            <a:ext cx="2070866" cy="2047770"/>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6148" name="Freeform 4"/>
          <p:cNvSpPr/>
          <p:nvPr/>
        </p:nvSpPr>
        <p:spPr>
          <a:xfrm flipH="1">
            <a:off x="13641758" y="6767594"/>
            <a:ext cx="2070866" cy="2047770"/>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6149" name="Freeform 5"/>
          <p:cNvSpPr/>
          <p:nvPr/>
        </p:nvSpPr>
        <p:spPr>
          <a:xfrm>
            <a:off x="13449143" y="1508908"/>
            <a:ext cx="3612170" cy="3571882"/>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6150" name="Freeform 6"/>
          <p:cNvSpPr/>
          <p:nvPr/>
        </p:nvSpPr>
        <p:spPr>
          <a:xfrm>
            <a:off x="2033328" y="6761520"/>
            <a:ext cx="2364912" cy="2338536"/>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grpSp>
        <p:nvGrpSpPr>
          <p:cNvPr id="6151" name="Group 7"/>
          <p:cNvGrpSpPr/>
          <p:nvPr/>
        </p:nvGrpSpPr>
        <p:grpSpPr>
          <a:xfrm>
            <a:off x="1350257" y="1804765"/>
            <a:ext cx="15719625" cy="6621488"/>
            <a:chOff x="0" y="0"/>
            <a:chExt cx="3259624" cy="1353377"/>
          </a:xfrm>
        </p:grpSpPr>
        <p:sp>
          <p:nvSpPr>
            <p:cNvPr id="6154" name="Freeform 8"/>
            <p:cNvSpPr/>
            <p:nvPr/>
          </p:nvSpPr>
          <p:spPr>
            <a:xfrm>
              <a:off x="0" y="0"/>
              <a:ext cx="3259624" cy="1353377"/>
            </a:xfrm>
            <a:custGeom>
              <a:avLst/>
              <a:gdLst/>
              <a:ahLst/>
              <a:cxnLst>
                <a:cxn ang="0">
                  <a:pos x="31903" y="0"/>
                </a:cxn>
                <a:cxn ang="0">
                  <a:pos x="3227722" y="0"/>
                </a:cxn>
                <a:cxn ang="0">
                  <a:pos x="3250280" y="9344"/>
                </a:cxn>
                <a:cxn ang="0">
                  <a:pos x="3259624" y="31903"/>
                </a:cxn>
                <a:cxn ang="0">
                  <a:pos x="3259624" y="1321475"/>
                </a:cxn>
                <a:cxn ang="0">
                  <a:pos x="3250280" y="1344033"/>
                </a:cxn>
                <a:cxn ang="0">
                  <a:pos x="3227722" y="1353377"/>
                </a:cxn>
                <a:cxn ang="0">
                  <a:pos x="31903" y="1353377"/>
                </a:cxn>
                <a:cxn ang="0">
                  <a:pos x="9344" y="1344033"/>
                </a:cxn>
                <a:cxn ang="0">
                  <a:pos x="0" y="1321475"/>
                </a:cxn>
                <a:cxn ang="0">
                  <a:pos x="0" y="31903"/>
                </a:cxn>
                <a:cxn ang="0">
                  <a:pos x="9344" y="9344"/>
                </a:cxn>
                <a:cxn ang="0">
                  <a:pos x="31903" y="0"/>
                </a:cxn>
              </a:cxnLst>
              <a:rect l="0" t="0" r="0" b="0"/>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alpha val="100000"/>
              </a:srgbClr>
            </a:solidFill>
            <a:ln w="9525">
              <a:noFill/>
            </a:ln>
          </p:spPr>
          <p:txBody>
            <a:bodyPr/>
            <a:lstStyle/>
            <a:p>
              <a:endParaRPr lang="en-US"/>
            </a:p>
          </p:txBody>
        </p:sp>
        <p:sp>
          <p:nvSpPr>
            <p:cNvPr id="6155" name="TextBox 9"/>
            <p:cNvSpPr txBox="1"/>
            <p:nvPr/>
          </p:nvSpPr>
          <p:spPr>
            <a:xfrm>
              <a:off x="0" y="-38100"/>
              <a:ext cx="3259624" cy="1391477"/>
            </a:xfrm>
            <a:prstGeom prst="rect">
              <a:avLst/>
            </a:prstGeom>
            <a:noFill/>
            <a:ln w="9525">
              <a:noFill/>
            </a:ln>
          </p:spPr>
          <p:txBody>
            <a:bodyPr lIns="38100" tIns="38100" rIns="38100" bIns="381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lnSpc>
                  <a:spcPts val="1999"/>
                </a:lnSpc>
                <a:spcBef>
                  <a:spcPct val="0"/>
                </a:spcBef>
                <a:buNone/>
              </a:pPr>
              <a:endParaRPr lang="en-US" altLang="en-US" sz="1350" dirty="0"/>
            </a:p>
          </p:txBody>
        </p:sp>
      </p:grpSp>
      <p:sp>
        <p:nvSpPr>
          <p:cNvPr id="10" name="TextBox 10"/>
          <p:cNvSpPr txBox="1"/>
          <p:nvPr/>
        </p:nvSpPr>
        <p:spPr>
          <a:xfrm>
            <a:off x="5112480" y="738534"/>
            <a:ext cx="7489119" cy="838251"/>
          </a:xfrm>
          <a:prstGeom prst="rect">
            <a:avLst/>
          </a:prstGeom>
        </p:spPr>
        <p:txBody>
          <a:bodyPr wrap="square" lIns="0" tIns="0" rIns="0" bIns="0">
            <a:spAutoFit/>
          </a:bodyPr>
          <a:lstStyle/>
          <a:p>
            <a:pPr algn="ctr" defTabSz="685800">
              <a:lnSpc>
                <a:spcPts val="6420"/>
              </a:lnSpc>
              <a:defRPr/>
            </a:pPr>
            <a:r>
              <a:rPr lang="en-US" sz="6000" b="1" dirty="0">
                <a:solidFill>
                  <a:srgbClr val="3C3F42"/>
                </a:solidFill>
                <a:ea typeface="Aileron Bold"/>
                <a:cs typeface="Aileron Bold"/>
                <a:sym typeface="Aileron Bold"/>
              </a:rPr>
              <a:t>Objective</a:t>
            </a:r>
            <a:endParaRPr lang="en-US" sz="6000" b="1" dirty="0">
              <a:solidFill>
                <a:srgbClr val="000000"/>
              </a:solidFill>
              <a:latin typeface="+mj-lt"/>
              <a:ea typeface="Alegreya Sans SC Bold" panose="00000800000000000000"/>
              <a:cs typeface="Alegreya Sans SC Bold" panose="00000800000000000000"/>
              <a:sym typeface="Alegreya Sans SC Bold" panose="00000800000000000000"/>
            </a:endParaRPr>
          </a:p>
        </p:txBody>
      </p:sp>
      <p:sp>
        <p:nvSpPr>
          <p:cNvPr id="11" name="TextBox 11"/>
          <p:cNvSpPr txBox="1"/>
          <p:nvPr/>
        </p:nvSpPr>
        <p:spPr>
          <a:xfrm>
            <a:off x="2052437" y="2114044"/>
            <a:ext cx="14769202" cy="4925309"/>
          </a:xfrm>
          <a:prstGeom prst="rect">
            <a:avLst/>
          </a:prstGeom>
        </p:spPr>
        <p:txBody>
          <a:bodyPr wrap="square" lIns="0" tIns="0" rIns="0" bIns="0">
            <a:spAutoFit/>
          </a:bodyPr>
          <a:lstStyle/>
          <a:p>
            <a:pPr marL="342900" indent="-342900" defTabSz="685800">
              <a:lnSpc>
                <a:spcPts val="3810"/>
              </a:lnSpc>
              <a:buFont typeface="Wingdings" panose="05000000000000000000" pitchFamily="2" charset="2"/>
              <a:buChar char="q"/>
              <a:defRPr/>
            </a:pPr>
            <a:r>
              <a:rPr lang="en-US" sz="2100" b="1" dirty="0"/>
              <a:t>Develop a smart, adaptive system to detect fuel theft in vehicles.</a:t>
            </a:r>
            <a:r>
              <a:rPr lang="en-US" sz="2100" dirty="0"/>
              <a:t> This system aims to be intelligent and adjust to different conditions to accurately identify theft.</a:t>
            </a:r>
          </a:p>
          <a:p>
            <a:pPr marL="342900" indent="-342900" defTabSz="685800">
              <a:lnSpc>
                <a:spcPts val="3810"/>
              </a:lnSpc>
              <a:buFont typeface="Wingdings" panose="05000000000000000000" pitchFamily="2" charset="2"/>
              <a:buChar char="q"/>
              <a:defRPr/>
            </a:pPr>
            <a:r>
              <a:rPr lang="en-US" sz="2100" b="1" dirty="0"/>
              <a:t>Integrate IoT-based fuel monitoring with a Federated machine learning model to spot theft events.</a:t>
            </a:r>
            <a:r>
              <a:rPr lang="en-US" sz="2100" dirty="0"/>
              <a:t> The goal is to combine hardware sensors with a collaborative learning model to improve detection capabilities.</a:t>
            </a:r>
          </a:p>
          <a:p>
            <a:pPr marL="342900" indent="-342900" defTabSz="685800">
              <a:lnSpc>
                <a:spcPts val="3810"/>
              </a:lnSpc>
              <a:buFont typeface="Wingdings" panose="05000000000000000000" pitchFamily="2" charset="2"/>
              <a:buChar char="q"/>
              <a:defRPr/>
            </a:pPr>
            <a:r>
              <a:rPr lang="en-US" sz="2100" b="1" dirty="0"/>
              <a:t>Minimize false alarms by including contextual features and learning typical consumption patterns.</a:t>
            </a:r>
            <a:r>
              <a:rPr lang="en-US" sz="2100" dirty="0"/>
              <a:t> This will make the system more reliable by differentiating between normal fuel usage and actual theft.</a:t>
            </a:r>
          </a:p>
          <a:p>
            <a:pPr marL="342900" indent="-342900" defTabSz="685800">
              <a:lnSpc>
                <a:spcPts val="3810"/>
              </a:lnSpc>
              <a:buFont typeface="Wingdings" panose="05000000000000000000" pitchFamily="2" charset="2"/>
              <a:buChar char="q"/>
              <a:defRPr/>
            </a:pPr>
            <a:r>
              <a:rPr lang="en-US" sz="2100" b="1" dirty="0"/>
              <a:t>Send instant theft alerts through a mobile application.</a:t>
            </a:r>
            <a:r>
              <a:rPr lang="en-US" sz="2100" dirty="0"/>
              <a:t> The system will notify users immediately when a potential theft event is detected.</a:t>
            </a:r>
          </a:p>
          <a:p>
            <a:pPr marL="342900" indent="-342900" defTabSz="685800">
              <a:lnSpc>
                <a:spcPts val="3810"/>
              </a:lnSpc>
              <a:buFont typeface="Wingdings" panose="05000000000000000000" pitchFamily="2" charset="2"/>
              <a:buChar char="q"/>
              <a:defRPr/>
            </a:pPr>
            <a:r>
              <a:rPr lang="en-US" sz="2100" dirty="0"/>
              <a:t>  </a:t>
            </a:r>
            <a:r>
              <a:rPr lang="en-US" sz="2100" b="1" dirty="0"/>
              <a:t>Evaluate the model's accuracy, precision, recall, and detection latency.</a:t>
            </a:r>
            <a:r>
              <a:rPr lang="en-US" sz="2100" dirty="0"/>
              <a:t> This is to measure the effectiveness and efficiency of the proposed system.</a:t>
            </a:r>
            <a:endParaRPr lang="en-US" sz="2100" dirty="0">
              <a:solidFill>
                <a:srgbClr val="000000"/>
              </a:solidFill>
              <a:latin typeface="+mj-lt"/>
              <a:ea typeface="Aileron"/>
              <a:cs typeface="Aileron"/>
              <a:sym typeface="Ailero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reeform 2"/>
          <p:cNvSpPr/>
          <p:nvPr/>
        </p:nvSpPr>
        <p:spPr>
          <a:xfrm rot="-5400000">
            <a:off x="4000500" y="-4000501"/>
            <a:ext cx="10286999" cy="18288000"/>
          </a:xfrm>
          <a:custGeom>
            <a:avLst/>
            <a:gdLst/>
            <a:ahLst/>
            <a:cxnLst>
              <a:cxn ang="0">
                <a:pos x="0" y="0"/>
              </a:cxn>
              <a:cxn ang="0">
                <a:pos x="11718925" y="0"/>
              </a:cxn>
              <a:cxn ang="0">
                <a:pos x="11718925" y="20832762"/>
              </a:cxn>
              <a:cxn ang="0">
                <a:pos x="0" y="20832762"/>
              </a:cxn>
              <a:cxn ang="0">
                <a:pos x="0" y="0"/>
              </a:cxn>
            </a:cxnLst>
            <a:rect l="0" t="0" r="0" b="0"/>
            <a:pathLst>
              <a:path w="11718479" h="20832852">
                <a:moveTo>
                  <a:pt x="0" y="0"/>
                </a:moveTo>
                <a:lnTo>
                  <a:pt x="11718479" y="0"/>
                </a:lnTo>
                <a:lnTo>
                  <a:pt x="11718479" y="20832851"/>
                </a:lnTo>
                <a:lnTo>
                  <a:pt x="0" y="20832851"/>
                </a:lnTo>
                <a:lnTo>
                  <a:pt x="0" y="0"/>
                </a:lnTo>
                <a:close/>
              </a:path>
            </a:pathLst>
          </a:custGeom>
          <a:blipFill rotWithShape="1">
            <a:blip r:embed="rId2"/>
            <a:stretch>
              <a:fillRect/>
            </a:stretch>
          </a:blipFill>
          <a:ln w="9525">
            <a:noFill/>
          </a:ln>
        </p:spPr>
        <p:txBody>
          <a:bodyPr/>
          <a:lstStyle/>
          <a:p>
            <a:endParaRPr lang="en-US"/>
          </a:p>
        </p:txBody>
      </p:sp>
      <p:sp>
        <p:nvSpPr>
          <p:cNvPr id="7171" name="Freeform 3"/>
          <p:cNvSpPr/>
          <p:nvPr/>
        </p:nvSpPr>
        <p:spPr>
          <a:xfrm flipV="1">
            <a:off x="2416546" y="1540750"/>
            <a:ext cx="2070866" cy="2070778"/>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7172" name="Freeform 4"/>
          <p:cNvSpPr/>
          <p:nvPr/>
        </p:nvSpPr>
        <p:spPr>
          <a:xfrm flipH="1">
            <a:off x="13641758" y="6767594"/>
            <a:ext cx="2070866" cy="2070778"/>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7173" name="Freeform 5"/>
          <p:cNvSpPr/>
          <p:nvPr/>
        </p:nvSpPr>
        <p:spPr>
          <a:xfrm>
            <a:off x="13449143" y="1508908"/>
            <a:ext cx="3612170" cy="3612016"/>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7174" name="Freeform 6"/>
          <p:cNvSpPr/>
          <p:nvPr/>
        </p:nvSpPr>
        <p:spPr>
          <a:xfrm>
            <a:off x="2033328" y="6761520"/>
            <a:ext cx="2364912" cy="2364811"/>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grpSp>
        <p:nvGrpSpPr>
          <p:cNvPr id="7175" name="Group 7"/>
          <p:cNvGrpSpPr/>
          <p:nvPr/>
        </p:nvGrpSpPr>
        <p:grpSpPr>
          <a:xfrm>
            <a:off x="740334" y="1295660"/>
            <a:ext cx="16589221" cy="7767506"/>
            <a:chOff x="0" y="0"/>
            <a:chExt cx="3259624" cy="1353377"/>
          </a:xfrm>
        </p:grpSpPr>
        <p:sp>
          <p:nvSpPr>
            <p:cNvPr id="7178" name="Freeform 8"/>
            <p:cNvSpPr/>
            <p:nvPr/>
          </p:nvSpPr>
          <p:spPr>
            <a:xfrm>
              <a:off x="0" y="0"/>
              <a:ext cx="3259624" cy="1353377"/>
            </a:xfrm>
            <a:custGeom>
              <a:avLst/>
              <a:gdLst/>
              <a:ahLst/>
              <a:cxnLst>
                <a:cxn ang="0">
                  <a:pos x="31903" y="0"/>
                </a:cxn>
                <a:cxn ang="0">
                  <a:pos x="3227722" y="0"/>
                </a:cxn>
                <a:cxn ang="0">
                  <a:pos x="3250280" y="9344"/>
                </a:cxn>
                <a:cxn ang="0">
                  <a:pos x="3259624" y="31903"/>
                </a:cxn>
                <a:cxn ang="0">
                  <a:pos x="3259624" y="1321475"/>
                </a:cxn>
                <a:cxn ang="0">
                  <a:pos x="3250280" y="1344033"/>
                </a:cxn>
                <a:cxn ang="0">
                  <a:pos x="3227722" y="1353377"/>
                </a:cxn>
                <a:cxn ang="0">
                  <a:pos x="31903" y="1353377"/>
                </a:cxn>
                <a:cxn ang="0">
                  <a:pos x="9344" y="1344033"/>
                </a:cxn>
                <a:cxn ang="0">
                  <a:pos x="0" y="1321475"/>
                </a:cxn>
                <a:cxn ang="0">
                  <a:pos x="0" y="31903"/>
                </a:cxn>
                <a:cxn ang="0">
                  <a:pos x="9344" y="9344"/>
                </a:cxn>
                <a:cxn ang="0">
                  <a:pos x="31903" y="0"/>
                </a:cxn>
              </a:cxnLst>
              <a:rect l="0" t="0" r="0" b="0"/>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alpha val="100000"/>
              </a:srgbClr>
            </a:solidFill>
            <a:ln w="9525">
              <a:noFill/>
            </a:ln>
          </p:spPr>
          <p:txBody>
            <a:bodyPr/>
            <a:lstStyle/>
            <a:p>
              <a:endParaRPr lang="en-US"/>
            </a:p>
          </p:txBody>
        </p:sp>
        <p:sp>
          <p:nvSpPr>
            <p:cNvPr id="7179" name="TextBox 9"/>
            <p:cNvSpPr txBox="1"/>
            <p:nvPr/>
          </p:nvSpPr>
          <p:spPr>
            <a:xfrm>
              <a:off x="0" y="-38100"/>
              <a:ext cx="3259624" cy="1391477"/>
            </a:xfrm>
            <a:prstGeom prst="rect">
              <a:avLst/>
            </a:prstGeom>
            <a:noFill/>
            <a:ln w="9525">
              <a:noFill/>
            </a:ln>
          </p:spPr>
          <p:txBody>
            <a:bodyPr lIns="38100" tIns="38100" rIns="38100" bIns="381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lnSpc>
                  <a:spcPts val="1999"/>
                </a:lnSpc>
                <a:spcBef>
                  <a:spcPct val="0"/>
                </a:spcBef>
                <a:buNone/>
              </a:pPr>
              <a:endParaRPr lang="en-US" altLang="en-US" sz="1350" dirty="0"/>
            </a:p>
          </p:txBody>
        </p:sp>
      </p:grpSp>
      <p:sp>
        <p:nvSpPr>
          <p:cNvPr id="10" name="TextBox 10"/>
          <p:cNvSpPr txBox="1"/>
          <p:nvPr/>
        </p:nvSpPr>
        <p:spPr>
          <a:xfrm>
            <a:off x="5122005" y="369125"/>
            <a:ext cx="7489119" cy="1676103"/>
          </a:xfrm>
          <a:prstGeom prst="rect">
            <a:avLst/>
          </a:prstGeom>
        </p:spPr>
        <p:txBody>
          <a:bodyPr wrap="square" lIns="0" tIns="0" rIns="0" bIns="0">
            <a:spAutoFit/>
          </a:bodyPr>
          <a:lstStyle/>
          <a:p>
            <a:pPr algn="ctr" defTabSz="685800">
              <a:lnSpc>
                <a:spcPts val="6420"/>
              </a:lnSpc>
              <a:defRPr/>
            </a:pPr>
            <a:r>
              <a:rPr lang="en-US" sz="6000" b="1" dirty="0">
                <a:solidFill>
                  <a:srgbClr val="3C3F42"/>
                </a:solidFill>
                <a:ea typeface="Aileron Bold"/>
                <a:cs typeface="Aileron Bold"/>
                <a:sym typeface="Aileron Bold"/>
              </a:rPr>
              <a:t>Literature Survey</a:t>
            </a:r>
          </a:p>
          <a:p>
            <a:pPr algn="ctr" defTabSz="685800">
              <a:lnSpc>
                <a:spcPts val="6420"/>
              </a:lnSpc>
              <a:defRPr/>
            </a:pPr>
            <a:endParaRPr lang="en-US" sz="6000" b="1" dirty="0">
              <a:solidFill>
                <a:srgbClr val="000000"/>
              </a:solidFill>
              <a:latin typeface="+mj-lt"/>
              <a:ea typeface="Alegreya Sans SC Bold" panose="00000800000000000000"/>
              <a:cs typeface="Alegreya Sans SC Bold" panose="00000800000000000000"/>
              <a:sym typeface="Alegreya Sans SC Bold" panose="00000800000000000000"/>
            </a:endParaRPr>
          </a:p>
        </p:txBody>
      </p:sp>
      <p:graphicFrame>
        <p:nvGraphicFramePr>
          <p:cNvPr id="12" name="Table 11"/>
          <p:cNvGraphicFramePr>
            <a:graphicFrameLocks noGrp="1"/>
          </p:cNvGraphicFramePr>
          <p:nvPr>
            <p:extLst>
              <p:ext uri="{D42A27DB-BD31-4B8C-83A1-F6EECF244321}">
                <p14:modId xmlns:p14="http://schemas.microsoft.com/office/powerpoint/2010/main" val="4259850300"/>
              </p:ext>
            </p:extLst>
          </p:nvPr>
        </p:nvGraphicFramePr>
        <p:xfrm>
          <a:off x="1203886" y="1669238"/>
          <a:ext cx="15518952" cy="7092834"/>
        </p:xfrm>
        <a:graphic>
          <a:graphicData uri="http://schemas.openxmlformats.org/drawingml/2006/table">
            <a:tbl>
              <a:tblPr firstRow="1" bandRow="1">
                <a:tableStyleId>{5C22544A-7EE6-4342-B048-85BDC9FD1C3A}</a:tableStyleId>
              </a:tblPr>
              <a:tblGrid>
                <a:gridCol w="3829569">
                  <a:extLst>
                    <a:ext uri="{9D8B030D-6E8A-4147-A177-3AD203B41FA5}">
                      <a16:colId xmlns:a16="http://schemas.microsoft.com/office/drawing/2014/main" val="20000"/>
                    </a:ext>
                  </a:extLst>
                </a:gridCol>
                <a:gridCol w="3896461">
                  <a:extLst>
                    <a:ext uri="{9D8B030D-6E8A-4147-A177-3AD203B41FA5}">
                      <a16:colId xmlns:a16="http://schemas.microsoft.com/office/drawing/2014/main" val="20001"/>
                    </a:ext>
                  </a:extLst>
                </a:gridCol>
                <a:gridCol w="3896461">
                  <a:extLst>
                    <a:ext uri="{9D8B030D-6E8A-4147-A177-3AD203B41FA5}">
                      <a16:colId xmlns:a16="http://schemas.microsoft.com/office/drawing/2014/main" val="20002"/>
                    </a:ext>
                  </a:extLst>
                </a:gridCol>
                <a:gridCol w="3896461">
                  <a:extLst>
                    <a:ext uri="{9D8B030D-6E8A-4147-A177-3AD203B41FA5}">
                      <a16:colId xmlns:a16="http://schemas.microsoft.com/office/drawing/2014/main" val="20003"/>
                    </a:ext>
                  </a:extLst>
                </a:gridCol>
              </a:tblGrid>
              <a:tr h="1182139">
                <a:tc>
                  <a:txBody>
                    <a:bodyPr/>
                    <a:lstStyle/>
                    <a:p>
                      <a:pPr algn="ctr"/>
                      <a:r>
                        <a:rPr lang="en-IN" sz="3300" dirty="0">
                          <a:ln w="15875">
                            <a:solidFill>
                              <a:schemeClr val="accent1"/>
                            </a:solidFill>
                          </a:ln>
                        </a:rPr>
                        <a:t>TITLE</a:t>
                      </a:r>
                    </a:p>
                  </a:txBody>
                  <a:tcPr marL="68580" marR="68580" marT="34290" marB="34290">
                    <a:solidFill>
                      <a:schemeClr val="accent1">
                        <a:alpha val="92000"/>
                      </a:schemeClr>
                    </a:solidFill>
                  </a:tcPr>
                </a:tc>
                <a:tc>
                  <a:txBody>
                    <a:bodyPr/>
                    <a:lstStyle/>
                    <a:p>
                      <a:pPr algn="ctr"/>
                      <a:r>
                        <a:rPr lang="en-IN" sz="3300" dirty="0">
                          <a:ln w="15875">
                            <a:solidFill>
                              <a:schemeClr val="accent1"/>
                            </a:solidFill>
                          </a:ln>
                        </a:rPr>
                        <a:t>YEAR</a:t>
                      </a:r>
                    </a:p>
                  </a:txBody>
                  <a:tcPr marL="68580" marR="68580" marT="34290" marB="34290">
                    <a:solidFill>
                      <a:schemeClr val="accent1">
                        <a:alpha val="92000"/>
                      </a:schemeClr>
                    </a:solidFill>
                  </a:tcPr>
                </a:tc>
                <a:tc>
                  <a:txBody>
                    <a:bodyPr/>
                    <a:lstStyle/>
                    <a:p>
                      <a:pPr algn="ctr"/>
                      <a:r>
                        <a:rPr lang="en-IN" sz="3300" dirty="0">
                          <a:ln w="15875">
                            <a:solidFill>
                              <a:schemeClr val="accent1"/>
                            </a:solidFill>
                          </a:ln>
                        </a:rPr>
                        <a:t>AUTHOR</a:t>
                      </a:r>
                    </a:p>
                  </a:txBody>
                  <a:tcPr marL="68580" marR="68580" marT="34290" marB="34290">
                    <a:solidFill>
                      <a:schemeClr val="accent1">
                        <a:alpha val="92000"/>
                      </a:schemeClr>
                    </a:solidFill>
                  </a:tcPr>
                </a:tc>
                <a:tc>
                  <a:txBody>
                    <a:bodyPr/>
                    <a:lstStyle/>
                    <a:p>
                      <a:pPr algn="ctr"/>
                      <a:r>
                        <a:rPr lang="en-IN" sz="3300" dirty="0">
                          <a:ln w="15875">
                            <a:solidFill>
                              <a:schemeClr val="accent1"/>
                            </a:solidFill>
                          </a:ln>
                        </a:rPr>
                        <a:t>TECHNIQUE</a:t>
                      </a:r>
                    </a:p>
                  </a:txBody>
                  <a:tcPr marL="68580" marR="68580" marT="34290" marB="34290">
                    <a:solidFill>
                      <a:schemeClr val="accent1">
                        <a:alpha val="92000"/>
                      </a:schemeClr>
                    </a:solidFill>
                  </a:tcPr>
                </a:tc>
                <a:extLst>
                  <a:ext uri="{0D108BD9-81ED-4DB2-BD59-A6C34878D82A}">
                    <a16:rowId xmlns:a16="http://schemas.microsoft.com/office/drawing/2014/main" val="10000"/>
                  </a:ext>
                </a:extLst>
              </a:tr>
              <a:tr h="1182139">
                <a:tc>
                  <a:txBody>
                    <a:bodyPr/>
                    <a:lstStyle/>
                    <a:p>
                      <a:r>
                        <a:rPr lang="en-US" sz="1500" dirty="0"/>
                        <a:t>Design and Implementation of Vehicle Theft Prevention by Operating Fuel Injector </a:t>
                      </a:r>
                      <a:endParaRPr lang="en-IN" sz="1500" dirty="0">
                        <a:ln w="15875">
                          <a:solidFill>
                            <a:schemeClr val="accent1"/>
                          </a:solidFill>
                        </a:ln>
                      </a:endParaRPr>
                    </a:p>
                  </a:txBody>
                  <a:tcPr marL="68580" marR="68580" marT="34290" marB="34290">
                    <a:solidFill>
                      <a:schemeClr val="accent1">
                        <a:tint val="40000"/>
                        <a:alpha val="92000"/>
                      </a:schemeClr>
                    </a:solidFill>
                  </a:tcPr>
                </a:tc>
                <a:tc>
                  <a:txBody>
                    <a:bodyPr/>
                    <a:lstStyle/>
                    <a:p>
                      <a:r>
                        <a:rPr lang="en-IN" sz="1500" dirty="0"/>
                        <a:t>2025</a:t>
                      </a:r>
                      <a:endParaRPr lang="en-IN" sz="1500" dirty="0">
                        <a:ln w="15875">
                          <a:solidFill>
                            <a:schemeClr val="accent1"/>
                          </a:solidFill>
                        </a:ln>
                      </a:endParaRPr>
                    </a:p>
                  </a:txBody>
                  <a:tcPr marL="68580" marR="68580" marT="34290" marB="34290">
                    <a:solidFill>
                      <a:schemeClr val="accent1">
                        <a:tint val="40000"/>
                        <a:alpha val="92000"/>
                      </a:schemeClr>
                    </a:solidFill>
                  </a:tcPr>
                </a:tc>
                <a:tc>
                  <a:txBody>
                    <a:bodyPr/>
                    <a:lstStyle/>
                    <a:p>
                      <a:r>
                        <a:rPr lang="en-IN" sz="1500" dirty="0"/>
                        <a:t>Siva Ramakrishna </a:t>
                      </a:r>
                      <a:r>
                        <a:rPr lang="en-IN" sz="1500" dirty="0" err="1"/>
                        <a:t>Pillutla</a:t>
                      </a:r>
                      <a:r>
                        <a:rPr lang="en-IN" sz="1500" dirty="0"/>
                        <a:t>, Anamika Lata, Praveen Maurya, Manish Kumar Singh, Rambabu Kusuma</a:t>
                      </a:r>
                      <a:endParaRPr lang="en-IN" sz="1500" dirty="0">
                        <a:ln w="15875">
                          <a:solidFill>
                            <a:schemeClr val="accent1"/>
                          </a:solidFill>
                        </a:ln>
                      </a:endParaRPr>
                    </a:p>
                  </a:txBody>
                  <a:tcPr marL="68580" marR="68580" marT="34290" marB="34290">
                    <a:solidFill>
                      <a:schemeClr val="accent1">
                        <a:tint val="40000"/>
                        <a:alpha val="92000"/>
                      </a:schemeClr>
                    </a:solidFill>
                  </a:tcPr>
                </a:tc>
                <a:tc>
                  <a:txBody>
                    <a:bodyPr/>
                    <a:lstStyle/>
                    <a:p>
                      <a:r>
                        <a:rPr lang="en-IN" sz="1500" dirty="0"/>
                        <a:t>Fuel injector operation, Raspberry Pi, Arduino Nano, Wi-Fi module, face detection, and Blynk app for notifications and control.</a:t>
                      </a:r>
                      <a:endParaRPr lang="en-IN" sz="1500" dirty="0">
                        <a:ln w="15875">
                          <a:solidFill>
                            <a:schemeClr val="accent1"/>
                          </a:solidFill>
                        </a:ln>
                      </a:endParaRPr>
                    </a:p>
                  </a:txBody>
                  <a:tcPr marL="68580" marR="68580" marT="34290" marB="34290">
                    <a:solidFill>
                      <a:schemeClr val="accent1">
                        <a:tint val="40000"/>
                        <a:alpha val="92000"/>
                      </a:schemeClr>
                    </a:solidFill>
                  </a:tcPr>
                </a:tc>
                <a:extLst>
                  <a:ext uri="{0D108BD9-81ED-4DB2-BD59-A6C34878D82A}">
                    <a16:rowId xmlns:a16="http://schemas.microsoft.com/office/drawing/2014/main" val="10001"/>
                  </a:ext>
                </a:extLst>
              </a:tr>
              <a:tr h="1182139">
                <a:tc>
                  <a:txBody>
                    <a:bodyPr/>
                    <a:lstStyle/>
                    <a:p>
                      <a:r>
                        <a:rPr lang="en-US" sz="1500" dirty="0"/>
                        <a:t>Vehicle Fuel Theft Detection and Monitoring</a:t>
                      </a:r>
                      <a:endParaRPr lang="en-IN" sz="1500" dirty="0">
                        <a:ln w="15875">
                          <a:solidFill>
                            <a:schemeClr val="accent1"/>
                          </a:solidFill>
                        </a:ln>
                      </a:endParaRPr>
                    </a:p>
                  </a:txBody>
                  <a:tcPr marL="68580" marR="68580" marT="34290" marB="34290">
                    <a:solidFill>
                      <a:schemeClr val="accent1">
                        <a:tint val="20000"/>
                        <a:alpha val="92000"/>
                      </a:schemeClr>
                    </a:solidFill>
                  </a:tcPr>
                </a:tc>
                <a:tc>
                  <a:txBody>
                    <a:bodyPr/>
                    <a:lstStyle/>
                    <a:p>
                      <a:r>
                        <a:rPr lang="en-IN" sz="1500" dirty="0"/>
                        <a:t>2024</a:t>
                      </a:r>
                      <a:endParaRPr lang="en-IN" sz="1500" dirty="0">
                        <a:ln w="15875">
                          <a:solidFill>
                            <a:schemeClr val="accent1"/>
                          </a:solidFill>
                        </a:ln>
                      </a:endParaRPr>
                    </a:p>
                  </a:txBody>
                  <a:tcPr marL="68580" marR="68580" marT="34290" marB="34290">
                    <a:solidFill>
                      <a:schemeClr val="accent1">
                        <a:tint val="20000"/>
                        <a:alpha val="92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500" dirty="0"/>
                        <a:t>VASANTH KUMAR, T. GIRISHCHOWDARY, PRAVEEN D B, PAVAN C, SATISH KUMAR B</a:t>
                      </a:r>
                    </a:p>
                    <a:p>
                      <a:pPr>
                        <a:buNone/>
                      </a:pPr>
                      <a:endParaRPr lang="en-IN" sz="1500" dirty="0"/>
                    </a:p>
                  </a:txBody>
                  <a:tcPr marL="68580" marR="68580" marT="34290" marB="34290" anchor="ctr">
                    <a:solidFill>
                      <a:schemeClr val="accent1">
                        <a:tint val="20000"/>
                        <a:alpha val="92000"/>
                      </a:schemeClr>
                    </a:solidFill>
                  </a:tcPr>
                </a:tc>
                <a:tc>
                  <a:txBody>
                    <a:bodyPr/>
                    <a:lstStyle/>
                    <a:p>
                      <a:pPr>
                        <a:buNone/>
                      </a:pPr>
                      <a:r>
                        <a:rPr lang="en-US" sz="1500" dirty="0"/>
                        <a:t>Digital fuel meter, ultrasonic and flow sensors, buzzer, and GSM module for SMS alerts.</a:t>
                      </a:r>
                      <a:endParaRPr lang="en-IN" sz="1500" dirty="0"/>
                    </a:p>
                  </a:txBody>
                  <a:tcPr marL="68580" marR="68580" marT="34290" marB="34290" anchor="ctr">
                    <a:solidFill>
                      <a:schemeClr val="accent1">
                        <a:tint val="20000"/>
                        <a:alpha val="92000"/>
                      </a:schemeClr>
                    </a:solidFill>
                  </a:tcPr>
                </a:tc>
                <a:extLst>
                  <a:ext uri="{0D108BD9-81ED-4DB2-BD59-A6C34878D82A}">
                    <a16:rowId xmlns:a16="http://schemas.microsoft.com/office/drawing/2014/main" val="10002"/>
                  </a:ext>
                </a:extLst>
              </a:tr>
              <a:tr h="1182139">
                <a:tc>
                  <a:txBody>
                    <a:bodyPr/>
                    <a:lstStyle/>
                    <a:p>
                      <a:r>
                        <a:rPr lang="en-US" sz="1500" dirty="0"/>
                        <a:t>Detecting Fuel Theft with Arduino </a:t>
                      </a:r>
                      <a:endParaRPr lang="en-IN" sz="1500" dirty="0">
                        <a:ln w="15875">
                          <a:solidFill>
                            <a:schemeClr val="accent1"/>
                          </a:solidFill>
                        </a:ln>
                      </a:endParaRPr>
                    </a:p>
                  </a:txBody>
                  <a:tcPr marL="68580" marR="68580" marT="34290" marB="34290">
                    <a:solidFill>
                      <a:schemeClr val="accent1">
                        <a:tint val="40000"/>
                        <a:alpha val="92000"/>
                      </a:schemeClr>
                    </a:solidFill>
                  </a:tcPr>
                </a:tc>
                <a:tc>
                  <a:txBody>
                    <a:bodyPr/>
                    <a:lstStyle/>
                    <a:p>
                      <a:r>
                        <a:rPr lang="en-IN" sz="1500" dirty="0"/>
                        <a:t>2024</a:t>
                      </a:r>
                      <a:endParaRPr lang="en-IN" sz="1500" dirty="0">
                        <a:ln w="15875">
                          <a:solidFill>
                            <a:schemeClr val="accent1"/>
                          </a:solidFill>
                        </a:ln>
                      </a:endParaRPr>
                    </a:p>
                  </a:txBody>
                  <a:tcPr marL="68580" marR="68580" marT="34290" marB="34290">
                    <a:solidFill>
                      <a:schemeClr val="accent1">
                        <a:tint val="40000"/>
                        <a:alpha val="92000"/>
                      </a:schemeClr>
                    </a:solidFill>
                  </a:tcPr>
                </a:tc>
                <a:tc>
                  <a:txBody>
                    <a:bodyPr/>
                    <a:lstStyle/>
                    <a:p>
                      <a:r>
                        <a:rPr lang="en-IN" sz="1500" dirty="0"/>
                        <a:t>Adhithya Madhavan, Santhosh Sivan J, </a:t>
                      </a:r>
                      <a:r>
                        <a:rPr lang="en-IN" sz="1500" dirty="0" err="1"/>
                        <a:t>Ayyarraja</a:t>
                      </a:r>
                      <a:r>
                        <a:rPr lang="en-IN" sz="1500" dirty="0"/>
                        <a:t>, Mrs. Sheela A</a:t>
                      </a:r>
                      <a:endParaRPr lang="en-IN" sz="1500" dirty="0">
                        <a:ln w="15875">
                          <a:solidFill>
                            <a:schemeClr val="accent1"/>
                          </a:solidFill>
                        </a:ln>
                      </a:endParaRPr>
                    </a:p>
                  </a:txBody>
                  <a:tcPr marL="68580" marR="68580" marT="34290" marB="34290">
                    <a:solidFill>
                      <a:schemeClr val="accent1">
                        <a:tint val="40000"/>
                        <a:alpha val="92000"/>
                      </a:schemeClr>
                    </a:solidFill>
                  </a:tcPr>
                </a:tc>
                <a:tc>
                  <a:txBody>
                    <a:bodyPr/>
                    <a:lstStyle/>
                    <a:p>
                      <a:r>
                        <a:rPr lang="en-US" sz="1500" dirty="0"/>
                        <a:t>Arduino, fuel level sensor, clip sensor, buzzer, and GSM module to send SMS alerts.</a:t>
                      </a:r>
                      <a:endParaRPr lang="en-IN" sz="1500" dirty="0">
                        <a:ln w="15875">
                          <a:solidFill>
                            <a:schemeClr val="accent1"/>
                          </a:solidFill>
                        </a:ln>
                      </a:endParaRPr>
                    </a:p>
                  </a:txBody>
                  <a:tcPr marL="68580" marR="68580" marT="34290" marB="34290">
                    <a:solidFill>
                      <a:schemeClr val="accent1">
                        <a:tint val="40000"/>
                        <a:alpha val="92000"/>
                      </a:schemeClr>
                    </a:solidFill>
                  </a:tcPr>
                </a:tc>
                <a:extLst>
                  <a:ext uri="{0D108BD9-81ED-4DB2-BD59-A6C34878D82A}">
                    <a16:rowId xmlns:a16="http://schemas.microsoft.com/office/drawing/2014/main" val="10003"/>
                  </a:ext>
                </a:extLst>
              </a:tr>
              <a:tr h="1182139">
                <a:tc>
                  <a:txBody>
                    <a:bodyPr/>
                    <a:lstStyle/>
                    <a:p>
                      <a:r>
                        <a:rPr lang="en-US" sz="1500" dirty="0"/>
                        <a:t>Vehicle Fuel Theft Detection System </a:t>
                      </a:r>
                      <a:endParaRPr lang="en-IN" sz="1500" dirty="0">
                        <a:ln w="15875">
                          <a:solidFill>
                            <a:schemeClr val="accent1"/>
                          </a:solidFill>
                        </a:ln>
                      </a:endParaRPr>
                    </a:p>
                  </a:txBody>
                  <a:tcPr marL="68580" marR="68580" marT="34290" marB="34290">
                    <a:solidFill>
                      <a:schemeClr val="accent1">
                        <a:tint val="20000"/>
                        <a:alpha val="92000"/>
                      </a:schemeClr>
                    </a:solidFill>
                  </a:tcPr>
                </a:tc>
                <a:tc>
                  <a:txBody>
                    <a:bodyPr/>
                    <a:lstStyle/>
                    <a:p>
                      <a:r>
                        <a:rPr lang="en-IN" sz="1500" dirty="0"/>
                        <a:t>2024</a:t>
                      </a:r>
                      <a:endParaRPr lang="en-IN" sz="1500" dirty="0">
                        <a:ln w="15875">
                          <a:solidFill>
                            <a:schemeClr val="accent1"/>
                          </a:solidFill>
                        </a:ln>
                      </a:endParaRPr>
                    </a:p>
                  </a:txBody>
                  <a:tcPr marL="68580" marR="68580" marT="34290" marB="34290">
                    <a:solidFill>
                      <a:schemeClr val="accent1">
                        <a:tint val="20000"/>
                        <a:alpha val="92000"/>
                      </a:schemeClr>
                    </a:solidFill>
                  </a:tcPr>
                </a:tc>
                <a:tc>
                  <a:txBody>
                    <a:bodyPr/>
                    <a:lstStyle/>
                    <a:p>
                      <a:r>
                        <a:rPr lang="en-IN" sz="1500" dirty="0"/>
                        <a:t>Adhithya Madhavan, Santhosh Sivan J, </a:t>
                      </a:r>
                      <a:r>
                        <a:rPr lang="en-IN" sz="1500" dirty="0" err="1"/>
                        <a:t>Ayyarraja</a:t>
                      </a:r>
                      <a:r>
                        <a:rPr lang="en-IN" sz="1500" dirty="0"/>
                        <a:t>, Mrs. Sheela A</a:t>
                      </a:r>
                      <a:endParaRPr lang="en-IN" sz="1500" dirty="0">
                        <a:ln w="15875">
                          <a:solidFill>
                            <a:schemeClr val="accent1"/>
                          </a:solidFill>
                        </a:ln>
                      </a:endParaRPr>
                    </a:p>
                  </a:txBody>
                  <a:tcPr marL="68580" marR="68580" marT="34290" marB="34290">
                    <a:solidFill>
                      <a:schemeClr val="accent1">
                        <a:tint val="20000"/>
                        <a:alpha val="92000"/>
                      </a:schemeClr>
                    </a:solidFill>
                  </a:tcPr>
                </a:tc>
                <a:tc>
                  <a:txBody>
                    <a:bodyPr/>
                    <a:lstStyle/>
                    <a:p>
                      <a:r>
                        <a:rPr lang="en-US" sz="1500" dirty="0"/>
                        <a:t>Level sensor, microcontroller, GSM modem, buzzer, ignition key interface, and LCD display.</a:t>
                      </a:r>
                      <a:endParaRPr lang="en-IN" sz="1500" dirty="0">
                        <a:ln w="15875">
                          <a:solidFill>
                            <a:schemeClr val="accent1"/>
                          </a:solidFill>
                        </a:ln>
                      </a:endParaRPr>
                    </a:p>
                  </a:txBody>
                  <a:tcPr marL="68580" marR="68580" marT="34290" marB="34290">
                    <a:solidFill>
                      <a:schemeClr val="accent1">
                        <a:tint val="20000"/>
                        <a:alpha val="92000"/>
                      </a:schemeClr>
                    </a:solidFill>
                  </a:tcPr>
                </a:tc>
                <a:extLst>
                  <a:ext uri="{0D108BD9-81ED-4DB2-BD59-A6C34878D82A}">
                    <a16:rowId xmlns:a16="http://schemas.microsoft.com/office/drawing/2014/main" val="10004"/>
                  </a:ext>
                </a:extLst>
              </a:tr>
              <a:tr h="1182139">
                <a:tc>
                  <a:txBody>
                    <a:bodyPr/>
                    <a:lstStyle/>
                    <a:p>
                      <a:r>
                        <a:rPr lang="en-US" sz="1500" dirty="0"/>
                        <a:t>Fuel Theft Detection System with Automated Calling and Alert Using GSM</a:t>
                      </a:r>
                      <a:endParaRPr lang="en-IN" sz="1500" dirty="0">
                        <a:ln w="15875">
                          <a:solidFill>
                            <a:schemeClr val="accent1"/>
                          </a:solidFill>
                        </a:ln>
                      </a:endParaRPr>
                    </a:p>
                  </a:txBody>
                  <a:tcPr marL="68580" marR="68580" marT="34290" marB="34290">
                    <a:solidFill>
                      <a:schemeClr val="accent1">
                        <a:tint val="40000"/>
                        <a:alpha val="92000"/>
                      </a:schemeClr>
                    </a:solidFill>
                  </a:tcPr>
                </a:tc>
                <a:tc>
                  <a:txBody>
                    <a:bodyPr/>
                    <a:lstStyle/>
                    <a:p>
                      <a:r>
                        <a:rPr lang="en-IN" sz="1500" dirty="0"/>
                        <a:t>2024</a:t>
                      </a:r>
                      <a:endParaRPr lang="en-IN" sz="1500" dirty="0">
                        <a:ln w="15875">
                          <a:solidFill>
                            <a:schemeClr val="accent1"/>
                          </a:solidFill>
                        </a:ln>
                      </a:endParaRPr>
                    </a:p>
                  </a:txBody>
                  <a:tcPr marL="68580" marR="68580" marT="34290" marB="34290">
                    <a:solidFill>
                      <a:schemeClr val="accent1">
                        <a:tint val="40000"/>
                        <a:alpha val="92000"/>
                      </a:schemeClr>
                    </a:solidFill>
                  </a:tcPr>
                </a:tc>
                <a:tc>
                  <a:txBody>
                    <a:bodyPr/>
                    <a:lstStyle/>
                    <a:p>
                      <a:pPr>
                        <a:buNone/>
                      </a:pPr>
                      <a:r>
                        <a:rPr lang="en-IN" sz="1500" dirty="0"/>
                        <a:t>G Madhusudhana Rao, </a:t>
                      </a:r>
                      <a:r>
                        <a:rPr lang="en-IN" sz="1500" dirty="0" err="1"/>
                        <a:t>Kowtharapu</a:t>
                      </a:r>
                      <a:r>
                        <a:rPr lang="en-IN" sz="1500" dirty="0"/>
                        <a:t> Kranthi Kumar, </a:t>
                      </a:r>
                      <a:r>
                        <a:rPr lang="en-IN" sz="1500" dirty="0" err="1"/>
                        <a:t>Lakkavaram</a:t>
                      </a:r>
                      <a:r>
                        <a:rPr lang="en-IN" sz="1500" dirty="0"/>
                        <a:t> </a:t>
                      </a:r>
                      <a:r>
                        <a:rPr lang="en-IN" sz="1500" dirty="0" err="1"/>
                        <a:t>Ponnuswami</a:t>
                      </a:r>
                      <a:r>
                        <a:rPr lang="en-IN" sz="1500" dirty="0"/>
                        <a:t> Linus, Kummari Sathwik, </a:t>
                      </a:r>
                      <a:r>
                        <a:rPr lang="en-IN" sz="1500" dirty="0" err="1"/>
                        <a:t>Karyamsetty</a:t>
                      </a:r>
                      <a:r>
                        <a:rPr lang="en-IN" sz="1500" dirty="0"/>
                        <a:t> Vamsi, </a:t>
                      </a:r>
                      <a:r>
                        <a:rPr lang="en-IN" sz="1500" dirty="0" err="1"/>
                        <a:t>Jonnakuti</a:t>
                      </a:r>
                      <a:r>
                        <a:rPr lang="en-IN" sz="1500" dirty="0"/>
                        <a:t> Pavan Charith</a:t>
                      </a:r>
                    </a:p>
                  </a:txBody>
                  <a:tcPr marL="68580" marR="68580" marT="34290" marB="34290" anchor="ctr">
                    <a:solidFill>
                      <a:schemeClr val="accent1">
                        <a:tint val="40000"/>
                        <a:alpha val="92000"/>
                      </a:schemeClr>
                    </a:solidFill>
                  </a:tcPr>
                </a:tc>
                <a:tc>
                  <a:txBody>
                    <a:bodyPr/>
                    <a:lstStyle/>
                    <a:p>
                      <a:pPr>
                        <a:buNone/>
                      </a:pPr>
                      <a:r>
                        <a:rPr lang="en-US" sz="1500" dirty="0"/>
                        <a:t>GSM technology for automated phone calls and SMS alerts, specialized sensors, and an audible alarm.</a:t>
                      </a:r>
                    </a:p>
                  </a:txBody>
                  <a:tcPr marL="68580" marR="68580" marT="34290" marB="34290" anchor="ctr">
                    <a:solidFill>
                      <a:schemeClr val="accent1">
                        <a:tint val="40000"/>
                        <a:alpha val="92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reeform 2"/>
          <p:cNvSpPr/>
          <p:nvPr/>
        </p:nvSpPr>
        <p:spPr>
          <a:xfrm rot="-5400000">
            <a:off x="4000500" y="-4000501"/>
            <a:ext cx="10286999" cy="18288000"/>
          </a:xfrm>
          <a:custGeom>
            <a:avLst/>
            <a:gdLst/>
            <a:ahLst/>
            <a:cxnLst>
              <a:cxn ang="0">
                <a:pos x="0" y="0"/>
              </a:cxn>
              <a:cxn ang="0">
                <a:pos x="11718925" y="0"/>
              </a:cxn>
              <a:cxn ang="0">
                <a:pos x="11718925" y="20832762"/>
              </a:cxn>
              <a:cxn ang="0">
                <a:pos x="0" y="20832762"/>
              </a:cxn>
              <a:cxn ang="0">
                <a:pos x="0" y="0"/>
              </a:cxn>
            </a:cxnLst>
            <a:rect l="0" t="0" r="0" b="0"/>
            <a:pathLst>
              <a:path w="11718479" h="20832852">
                <a:moveTo>
                  <a:pt x="0" y="0"/>
                </a:moveTo>
                <a:lnTo>
                  <a:pt x="11718479" y="0"/>
                </a:lnTo>
                <a:lnTo>
                  <a:pt x="11718479" y="20832851"/>
                </a:lnTo>
                <a:lnTo>
                  <a:pt x="0" y="20832851"/>
                </a:lnTo>
                <a:lnTo>
                  <a:pt x="0" y="0"/>
                </a:lnTo>
                <a:close/>
              </a:path>
            </a:pathLst>
          </a:custGeom>
          <a:blipFill rotWithShape="1">
            <a:blip r:embed="rId2"/>
            <a:stretch>
              <a:fillRect/>
            </a:stretch>
          </a:blipFill>
          <a:ln w="9525">
            <a:noFill/>
          </a:ln>
        </p:spPr>
        <p:txBody>
          <a:bodyPr/>
          <a:lstStyle/>
          <a:p>
            <a:endParaRPr lang="en-US"/>
          </a:p>
        </p:txBody>
      </p:sp>
      <p:sp>
        <p:nvSpPr>
          <p:cNvPr id="8195" name="Freeform 3"/>
          <p:cNvSpPr/>
          <p:nvPr/>
        </p:nvSpPr>
        <p:spPr>
          <a:xfrm flipV="1">
            <a:off x="2416546" y="1540750"/>
            <a:ext cx="2070866" cy="2070778"/>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8196" name="Freeform 4"/>
          <p:cNvSpPr/>
          <p:nvPr/>
        </p:nvSpPr>
        <p:spPr>
          <a:xfrm flipH="1">
            <a:off x="13641758" y="6767594"/>
            <a:ext cx="2070866" cy="2070778"/>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8197" name="Freeform 5"/>
          <p:cNvSpPr/>
          <p:nvPr/>
        </p:nvSpPr>
        <p:spPr>
          <a:xfrm>
            <a:off x="13449143" y="1508908"/>
            <a:ext cx="3612170" cy="3612016"/>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8198" name="Freeform 6"/>
          <p:cNvSpPr/>
          <p:nvPr/>
        </p:nvSpPr>
        <p:spPr>
          <a:xfrm>
            <a:off x="2033328" y="6761520"/>
            <a:ext cx="2364912" cy="2364811"/>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grpSp>
        <p:nvGrpSpPr>
          <p:cNvPr id="8199" name="Group 7"/>
          <p:cNvGrpSpPr/>
          <p:nvPr/>
        </p:nvGrpSpPr>
        <p:grpSpPr>
          <a:xfrm>
            <a:off x="1350257" y="1804765"/>
            <a:ext cx="15719625" cy="6695887"/>
            <a:chOff x="0" y="0"/>
            <a:chExt cx="3259624" cy="1353377"/>
          </a:xfrm>
        </p:grpSpPr>
        <p:sp>
          <p:nvSpPr>
            <p:cNvPr id="8202" name="Freeform 8"/>
            <p:cNvSpPr/>
            <p:nvPr/>
          </p:nvSpPr>
          <p:spPr>
            <a:xfrm>
              <a:off x="0" y="0"/>
              <a:ext cx="3259624" cy="1353377"/>
            </a:xfrm>
            <a:custGeom>
              <a:avLst/>
              <a:gdLst/>
              <a:ahLst/>
              <a:cxnLst>
                <a:cxn ang="0">
                  <a:pos x="31903" y="0"/>
                </a:cxn>
                <a:cxn ang="0">
                  <a:pos x="3227722" y="0"/>
                </a:cxn>
                <a:cxn ang="0">
                  <a:pos x="3250280" y="9344"/>
                </a:cxn>
                <a:cxn ang="0">
                  <a:pos x="3259624" y="31903"/>
                </a:cxn>
                <a:cxn ang="0">
                  <a:pos x="3259624" y="1321475"/>
                </a:cxn>
                <a:cxn ang="0">
                  <a:pos x="3250280" y="1344033"/>
                </a:cxn>
                <a:cxn ang="0">
                  <a:pos x="3227722" y="1353377"/>
                </a:cxn>
                <a:cxn ang="0">
                  <a:pos x="31903" y="1353377"/>
                </a:cxn>
                <a:cxn ang="0">
                  <a:pos x="9344" y="1344033"/>
                </a:cxn>
                <a:cxn ang="0">
                  <a:pos x="0" y="1321475"/>
                </a:cxn>
                <a:cxn ang="0">
                  <a:pos x="0" y="31903"/>
                </a:cxn>
                <a:cxn ang="0">
                  <a:pos x="9344" y="9344"/>
                </a:cxn>
                <a:cxn ang="0">
                  <a:pos x="31903" y="0"/>
                </a:cxn>
              </a:cxnLst>
              <a:rect l="0" t="0" r="0" b="0"/>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alpha val="100000"/>
              </a:srgbClr>
            </a:solidFill>
            <a:ln w="9525">
              <a:noFill/>
            </a:ln>
          </p:spPr>
          <p:txBody>
            <a:bodyPr/>
            <a:lstStyle/>
            <a:p>
              <a:endParaRPr lang="en-US"/>
            </a:p>
          </p:txBody>
        </p:sp>
        <p:sp>
          <p:nvSpPr>
            <p:cNvPr id="8203" name="TextBox 9"/>
            <p:cNvSpPr txBox="1"/>
            <p:nvPr/>
          </p:nvSpPr>
          <p:spPr>
            <a:xfrm>
              <a:off x="0" y="-38100"/>
              <a:ext cx="3259624" cy="1391477"/>
            </a:xfrm>
            <a:prstGeom prst="rect">
              <a:avLst/>
            </a:prstGeom>
            <a:noFill/>
            <a:ln w="9525">
              <a:noFill/>
            </a:ln>
          </p:spPr>
          <p:txBody>
            <a:bodyPr lIns="38100" tIns="38100" rIns="38100" bIns="381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lnSpc>
                  <a:spcPts val="1999"/>
                </a:lnSpc>
                <a:spcBef>
                  <a:spcPct val="0"/>
                </a:spcBef>
                <a:buNone/>
              </a:pPr>
              <a:endParaRPr lang="en-US" altLang="en-US" sz="1350" dirty="0"/>
            </a:p>
          </p:txBody>
        </p:sp>
      </p:grpSp>
      <p:sp>
        <p:nvSpPr>
          <p:cNvPr id="10" name="TextBox 10"/>
          <p:cNvSpPr txBox="1"/>
          <p:nvPr/>
        </p:nvSpPr>
        <p:spPr>
          <a:xfrm>
            <a:off x="4933277" y="738733"/>
            <a:ext cx="8923117" cy="838052"/>
          </a:xfrm>
          <a:prstGeom prst="rect">
            <a:avLst/>
          </a:prstGeom>
        </p:spPr>
        <p:txBody>
          <a:bodyPr wrap="square" lIns="0" tIns="0" rIns="0" bIns="0">
            <a:spAutoFit/>
          </a:bodyPr>
          <a:lstStyle/>
          <a:p>
            <a:pPr algn="ctr" defTabSz="685800">
              <a:lnSpc>
                <a:spcPts val="6420"/>
              </a:lnSpc>
              <a:defRPr/>
            </a:pPr>
            <a:r>
              <a:rPr lang="en-US" sz="6000" b="1" dirty="0">
                <a:solidFill>
                  <a:srgbClr val="3C3F42"/>
                </a:solidFill>
                <a:ea typeface="Aileron Bold"/>
                <a:cs typeface="Aileron Bold"/>
                <a:sym typeface="Aileron Bold"/>
              </a:rPr>
              <a:t>Summary of Literature </a:t>
            </a:r>
            <a:endParaRPr lang="en-US" sz="6000" b="1" dirty="0">
              <a:solidFill>
                <a:srgbClr val="000000"/>
              </a:solidFill>
              <a:latin typeface="+mj-lt"/>
              <a:ea typeface="Alegreya Sans SC Bold" panose="00000800000000000000"/>
              <a:cs typeface="Alegreya Sans SC Bold" panose="00000800000000000000"/>
              <a:sym typeface="Alegreya Sans SC Bold" panose="00000800000000000000"/>
            </a:endParaRPr>
          </a:p>
        </p:txBody>
      </p:sp>
      <p:sp>
        <p:nvSpPr>
          <p:cNvPr id="11" name="TextBox 11"/>
          <p:cNvSpPr txBox="1"/>
          <p:nvPr/>
        </p:nvSpPr>
        <p:spPr>
          <a:xfrm>
            <a:off x="2044078" y="2104720"/>
            <a:ext cx="14836093" cy="5432079"/>
          </a:xfrm>
          <a:prstGeom prst="rect">
            <a:avLst/>
          </a:prstGeom>
        </p:spPr>
        <p:txBody>
          <a:bodyPr wrap="square" lIns="0" tIns="0" rIns="0" bIns="0">
            <a:spAutoFit/>
          </a:bodyPr>
          <a:lstStyle/>
          <a:p>
            <a:pPr marL="342900" indent="-342900" defTabSz="685800">
              <a:lnSpc>
                <a:spcPts val="3810"/>
              </a:lnSpc>
              <a:buFont typeface="Wingdings" panose="05000000000000000000" pitchFamily="2" charset="2"/>
              <a:buChar char="q"/>
              <a:defRPr/>
            </a:pPr>
            <a:r>
              <a:rPr lang="en-US" sz="2400" b="1" dirty="0"/>
              <a:t>Traditional methods are flawed in their design.</a:t>
            </a:r>
            <a:r>
              <a:rPr lang="en-US" sz="2400" dirty="0"/>
              <a:t> They rely on physical locks or simple sensors that are easily overcome and only detect theft after it has already happened.</a:t>
            </a:r>
          </a:p>
          <a:p>
            <a:pPr marL="342900" indent="-342900" defTabSz="685800">
              <a:lnSpc>
                <a:spcPts val="3810"/>
              </a:lnSpc>
              <a:buFont typeface="Wingdings" panose="05000000000000000000" pitchFamily="2" charset="2"/>
              <a:buChar char="q"/>
              <a:defRPr/>
            </a:pPr>
            <a:r>
              <a:rPr lang="en-US" sz="2400" b="1" dirty="0"/>
              <a:t>Fixed-threshold systems are not effective.</a:t>
            </a:r>
            <a:r>
              <a:rPr lang="en-US" sz="2400" dirty="0"/>
              <a:t> These systems frequently produce false alarms because they cannot differentiate between normal fuel usage and actual theft.</a:t>
            </a:r>
          </a:p>
          <a:p>
            <a:pPr marL="342900" indent="-342900" defTabSz="685800">
              <a:lnSpc>
                <a:spcPts val="3810"/>
              </a:lnSpc>
              <a:buFont typeface="Wingdings" panose="05000000000000000000" pitchFamily="2" charset="2"/>
              <a:buChar char="q"/>
              <a:defRPr/>
            </a:pPr>
            <a:r>
              <a:rPr lang="en-US" sz="2400" b="1" dirty="0"/>
              <a:t>Machine learning improves detection accuracy.</a:t>
            </a:r>
            <a:r>
              <a:rPr lang="en-US" sz="2400" dirty="0"/>
              <a:t> Advanced models are used to learn normal fuel consumption patterns, which allows for more precise anomaly detection and reduces false alarms.</a:t>
            </a:r>
          </a:p>
          <a:p>
            <a:pPr marL="342900" indent="-342900" defTabSz="685800">
              <a:lnSpc>
                <a:spcPts val="3810"/>
              </a:lnSpc>
              <a:buFont typeface="Wingdings" panose="05000000000000000000" pitchFamily="2" charset="2"/>
              <a:buChar char="q"/>
              <a:defRPr/>
            </a:pPr>
            <a:r>
              <a:rPr lang="en-US" sz="2400" b="1" dirty="0"/>
              <a:t>Federated learning is the new, secure approach.</a:t>
            </a:r>
            <a:r>
              <a:rPr lang="en-US" sz="2400" dirty="0"/>
              <a:t> This framework enables a collaborative model to be trained across multiple vehicles while protecting individual data privacy.</a:t>
            </a:r>
          </a:p>
          <a:p>
            <a:pPr marL="342900" indent="-342900" defTabSz="685800">
              <a:lnSpc>
                <a:spcPts val="3810"/>
              </a:lnSpc>
              <a:buFont typeface="Wingdings" panose="05000000000000000000" pitchFamily="2" charset="2"/>
              <a:buChar char="q"/>
              <a:defRPr/>
            </a:pPr>
            <a:r>
              <a:rPr lang="en-US" sz="2400" b="1" dirty="0"/>
              <a:t>The proposed project is highly innovative.</a:t>
            </a:r>
            <a:r>
              <a:rPr lang="en-US" sz="2400" dirty="0"/>
              <a:t> It uniquely combines IoT sensors for real-time monitoring with a federated learning framework for a secure, adaptive, and accurate theft detection system.</a:t>
            </a:r>
            <a:endParaRPr lang="en-US" sz="2400" dirty="0">
              <a:solidFill>
                <a:srgbClr val="000000"/>
              </a:solidFill>
              <a:latin typeface="+mj-lt"/>
              <a:ea typeface="Aileron"/>
              <a:cs typeface="Aileron"/>
              <a:sym typeface="Aileron"/>
            </a:endParaRPr>
          </a:p>
          <a:p>
            <a:pPr algn="ctr" defTabSz="685800">
              <a:lnSpc>
                <a:spcPts val="3810"/>
              </a:lnSpc>
              <a:defRPr/>
            </a:pPr>
            <a:endParaRPr lang="en-US" sz="2400" dirty="0">
              <a:solidFill>
                <a:srgbClr val="000000"/>
              </a:solidFill>
              <a:latin typeface="+mj-lt"/>
              <a:ea typeface="Aileron"/>
              <a:cs typeface="Aileron"/>
              <a:sym typeface="Ailero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reeform 2"/>
          <p:cNvSpPr/>
          <p:nvPr/>
        </p:nvSpPr>
        <p:spPr>
          <a:xfrm rot="-5400000">
            <a:off x="4000500" y="-4000501"/>
            <a:ext cx="10287000" cy="18288000"/>
          </a:xfrm>
          <a:custGeom>
            <a:avLst/>
            <a:gdLst/>
            <a:ahLst/>
            <a:cxnLst>
              <a:cxn ang="0">
                <a:pos x="0" y="0"/>
              </a:cxn>
              <a:cxn ang="0">
                <a:pos x="11718925" y="0"/>
              </a:cxn>
              <a:cxn ang="0">
                <a:pos x="11718925" y="20832762"/>
              </a:cxn>
              <a:cxn ang="0">
                <a:pos x="0" y="20832762"/>
              </a:cxn>
              <a:cxn ang="0">
                <a:pos x="0" y="0"/>
              </a:cxn>
            </a:cxnLst>
            <a:rect l="0" t="0" r="0" b="0"/>
            <a:pathLst>
              <a:path w="11718479" h="20832852">
                <a:moveTo>
                  <a:pt x="0" y="0"/>
                </a:moveTo>
                <a:lnTo>
                  <a:pt x="11718479" y="0"/>
                </a:lnTo>
                <a:lnTo>
                  <a:pt x="11718479" y="20832851"/>
                </a:lnTo>
                <a:lnTo>
                  <a:pt x="0" y="20832851"/>
                </a:lnTo>
                <a:lnTo>
                  <a:pt x="0" y="0"/>
                </a:lnTo>
                <a:close/>
              </a:path>
            </a:pathLst>
          </a:custGeom>
          <a:blipFill rotWithShape="1">
            <a:blip r:embed="rId2"/>
            <a:stretch>
              <a:fillRect/>
            </a:stretch>
          </a:blipFill>
          <a:ln w="9525">
            <a:noFill/>
          </a:ln>
        </p:spPr>
        <p:txBody>
          <a:bodyPr/>
          <a:lstStyle/>
          <a:p>
            <a:endParaRPr lang="en-US"/>
          </a:p>
        </p:txBody>
      </p:sp>
      <p:sp>
        <p:nvSpPr>
          <p:cNvPr id="9219" name="Freeform 3"/>
          <p:cNvSpPr/>
          <p:nvPr/>
        </p:nvSpPr>
        <p:spPr>
          <a:xfrm flipV="1">
            <a:off x="2416546" y="1540747"/>
            <a:ext cx="2070866" cy="2070779"/>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9220" name="Freeform 4"/>
          <p:cNvSpPr/>
          <p:nvPr/>
        </p:nvSpPr>
        <p:spPr>
          <a:xfrm flipH="1">
            <a:off x="13641756" y="6767594"/>
            <a:ext cx="2070866" cy="2070779"/>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9221" name="Freeform 5"/>
          <p:cNvSpPr/>
          <p:nvPr/>
        </p:nvSpPr>
        <p:spPr>
          <a:xfrm>
            <a:off x="13449144" y="1508908"/>
            <a:ext cx="3612170" cy="3612017"/>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9222" name="Freeform 6"/>
          <p:cNvSpPr/>
          <p:nvPr/>
        </p:nvSpPr>
        <p:spPr>
          <a:xfrm>
            <a:off x="2033328" y="6761520"/>
            <a:ext cx="2364912" cy="2364812"/>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grpSp>
        <p:nvGrpSpPr>
          <p:cNvPr id="9223" name="Group 7"/>
          <p:cNvGrpSpPr/>
          <p:nvPr/>
        </p:nvGrpSpPr>
        <p:grpSpPr>
          <a:xfrm>
            <a:off x="1350259" y="1804765"/>
            <a:ext cx="15719624" cy="6695888"/>
            <a:chOff x="0" y="0"/>
            <a:chExt cx="3259624" cy="1353377"/>
          </a:xfrm>
        </p:grpSpPr>
        <p:sp>
          <p:nvSpPr>
            <p:cNvPr id="9226" name="Freeform 8"/>
            <p:cNvSpPr/>
            <p:nvPr/>
          </p:nvSpPr>
          <p:spPr>
            <a:xfrm>
              <a:off x="0" y="0"/>
              <a:ext cx="3259624" cy="1353377"/>
            </a:xfrm>
            <a:custGeom>
              <a:avLst/>
              <a:gdLst/>
              <a:ahLst/>
              <a:cxnLst>
                <a:cxn ang="0">
                  <a:pos x="31903" y="0"/>
                </a:cxn>
                <a:cxn ang="0">
                  <a:pos x="3227722" y="0"/>
                </a:cxn>
                <a:cxn ang="0">
                  <a:pos x="3250280" y="9344"/>
                </a:cxn>
                <a:cxn ang="0">
                  <a:pos x="3259624" y="31903"/>
                </a:cxn>
                <a:cxn ang="0">
                  <a:pos x="3259624" y="1321475"/>
                </a:cxn>
                <a:cxn ang="0">
                  <a:pos x="3250280" y="1344033"/>
                </a:cxn>
                <a:cxn ang="0">
                  <a:pos x="3227722" y="1353377"/>
                </a:cxn>
                <a:cxn ang="0">
                  <a:pos x="31903" y="1353377"/>
                </a:cxn>
                <a:cxn ang="0">
                  <a:pos x="9344" y="1344033"/>
                </a:cxn>
                <a:cxn ang="0">
                  <a:pos x="0" y="1321475"/>
                </a:cxn>
                <a:cxn ang="0">
                  <a:pos x="0" y="31903"/>
                </a:cxn>
                <a:cxn ang="0">
                  <a:pos x="9344" y="9344"/>
                </a:cxn>
                <a:cxn ang="0">
                  <a:pos x="31903" y="0"/>
                </a:cxn>
              </a:cxnLst>
              <a:rect l="0" t="0" r="0" b="0"/>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alpha val="100000"/>
              </a:srgbClr>
            </a:solidFill>
            <a:ln w="9525">
              <a:noFill/>
            </a:ln>
          </p:spPr>
          <p:txBody>
            <a:bodyPr/>
            <a:lstStyle/>
            <a:p>
              <a:endParaRPr lang="en-US"/>
            </a:p>
          </p:txBody>
        </p:sp>
        <p:sp>
          <p:nvSpPr>
            <p:cNvPr id="9227" name="TextBox 9"/>
            <p:cNvSpPr txBox="1"/>
            <p:nvPr/>
          </p:nvSpPr>
          <p:spPr>
            <a:xfrm>
              <a:off x="0" y="-38100"/>
              <a:ext cx="3259624" cy="1391477"/>
            </a:xfrm>
            <a:prstGeom prst="rect">
              <a:avLst/>
            </a:prstGeom>
            <a:noFill/>
            <a:ln w="9525">
              <a:noFill/>
            </a:ln>
          </p:spPr>
          <p:txBody>
            <a:bodyPr lIns="38100" tIns="38100" rIns="38100" bIns="381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lnSpc>
                  <a:spcPts val="1999"/>
                </a:lnSpc>
                <a:spcBef>
                  <a:spcPct val="0"/>
                </a:spcBef>
                <a:buNone/>
              </a:pPr>
              <a:endParaRPr lang="en-US" altLang="en-US" sz="1350" dirty="0"/>
            </a:p>
          </p:txBody>
        </p:sp>
      </p:grpSp>
      <p:sp>
        <p:nvSpPr>
          <p:cNvPr id="10" name="TextBox 10"/>
          <p:cNvSpPr txBox="1"/>
          <p:nvPr/>
        </p:nvSpPr>
        <p:spPr>
          <a:xfrm>
            <a:off x="3620741" y="738398"/>
            <a:ext cx="11708890" cy="838386"/>
          </a:xfrm>
          <a:prstGeom prst="rect">
            <a:avLst/>
          </a:prstGeom>
        </p:spPr>
        <p:txBody>
          <a:bodyPr wrap="square" lIns="0" tIns="0" rIns="0" bIns="0">
            <a:spAutoFit/>
          </a:bodyPr>
          <a:lstStyle/>
          <a:p>
            <a:pPr algn="ctr" defTabSz="685800">
              <a:lnSpc>
                <a:spcPts val="6420"/>
              </a:lnSpc>
              <a:defRPr/>
            </a:pPr>
            <a:r>
              <a:rPr lang="en-US" sz="6000" b="1" dirty="0">
                <a:solidFill>
                  <a:srgbClr val="3C3F42"/>
                </a:solidFill>
                <a:ea typeface="Aileron Bold"/>
                <a:cs typeface="Aileron Bold"/>
                <a:sym typeface="Aileron Bold"/>
              </a:rPr>
              <a:t>Proposed System</a:t>
            </a:r>
            <a:endParaRPr lang="en-US" sz="6000" b="1" dirty="0">
              <a:solidFill>
                <a:srgbClr val="000000"/>
              </a:solidFill>
              <a:latin typeface="+mj-lt"/>
              <a:ea typeface="Alegreya Sans SC Bold" panose="00000800000000000000"/>
              <a:cs typeface="Alegreya Sans SC Bold" panose="00000800000000000000"/>
              <a:sym typeface="Alegreya Sans SC Bold" panose="00000800000000000000"/>
            </a:endParaRPr>
          </a:p>
        </p:txBody>
      </p:sp>
      <p:sp>
        <p:nvSpPr>
          <p:cNvPr id="11" name="TextBox 11"/>
          <p:cNvSpPr txBox="1"/>
          <p:nvPr/>
        </p:nvSpPr>
        <p:spPr>
          <a:xfrm>
            <a:off x="2052438" y="2112597"/>
            <a:ext cx="14769200" cy="4365554"/>
          </a:xfrm>
          <a:prstGeom prst="rect">
            <a:avLst/>
          </a:prstGeom>
        </p:spPr>
        <p:txBody>
          <a:bodyPr wrap="square" lIns="0" tIns="0" rIns="0" bIns="0">
            <a:spAutoFit/>
          </a:bodyPr>
          <a:lstStyle/>
          <a:p>
            <a:pPr marL="342900" indent="-342900" defTabSz="685800">
              <a:lnSpc>
                <a:spcPts val="3810"/>
              </a:lnSpc>
              <a:buFont typeface="Wingdings" panose="05000000000000000000" pitchFamily="2" charset="2"/>
              <a:buChar char="q"/>
              <a:defRPr/>
            </a:pPr>
            <a:r>
              <a:rPr lang="en-US" sz="2100" b="1" dirty="0"/>
              <a:t>Hybrid System Architecture:</a:t>
            </a:r>
            <a:r>
              <a:rPr lang="en-US" sz="2100" dirty="0"/>
              <a:t> The system is designed as a hybrid solution that combines two key technologies. It integrates an IoT-based fuel monitoring system with a federated machine learning framework.</a:t>
            </a:r>
          </a:p>
          <a:p>
            <a:pPr marL="342900" indent="-342900" defTabSz="685800">
              <a:lnSpc>
                <a:spcPts val="3810"/>
              </a:lnSpc>
              <a:buFont typeface="Wingdings" panose="05000000000000000000" pitchFamily="2" charset="2"/>
              <a:buChar char="q"/>
              <a:defRPr/>
            </a:pPr>
            <a:r>
              <a:rPr lang="en-US" sz="2100" b="1" dirty="0"/>
              <a:t>IoT for Real-time Monitoring:</a:t>
            </a:r>
            <a:r>
              <a:rPr lang="en-US" sz="2100" dirty="0"/>
              <a:t> The system will use hardware such as an Arduino, an ultrasonic sensor. These components will enable continuous, real-time monitoring of a vehicle's fuel level and consumption patterns.</a:t>
            </a:r>
          </a:p>
          <a:p>
            <a:pPr marL="342900" indent="-342900" defTabSz="685800">
              <a:lnSpc>
                <a:spcPts val="3810"/>
              </a:lnSpc>
              <a:buFont typeface="Wingdings" panose="05000000000000000000" pitchFamily="2" charset="2"/>
              <a:buChar char="q"/>
              <a:defRPr/>
            </a:pPr>
            <a:r>
              <a:rPr lang="en-US" sz="2100" b="1" dirty="0"/>
              <a:t>Federated Learning for Anomaly Detection:</a:t>
            </a:r>
            <a:r>
              <a:rPr lang="en-US" sz="2100" dirty="0"/>
              <a:t> The core of the system's intelligence lies in its federated learning model. This model will learn to detect fuel theft as an anomaly by analyzing patterns from a fleet of vehicles without sending private data to a central server.</a:t>
            </a:r>
          </a:p>
          <a:p>
            <a:pPr marL="342900" indent="-342900" defTabSz="685800">
              <a:lnSpc>
                <a:spcPts val="3810"/>
              </a:lnSpc>
              <a:buFont typeface="Wingdings" panose="05000000000000000000" pitchFamily="2" charset="2"/>
              <a:buChar char="q"/>
              <a:defRPr/>
            </a:pPr>
            <a:r>
              <a:rPr lang="en-US" sz="2100" b="1" dirty="0"/>
              <a:t>Privacy and Security Focus:</a:t>
            </a:r>
            <a:r>
              <a:rPr lang="en-US" sz="2100" dirty="0"/>
              <a:t> The system's federated learning framework ensures that raw data remains on the vehicle. This approach prioritizes data privacy and security by preventing sensitive information from being exposed or compromised</a:t>
            </a:r>
            <a:r>
              <a:rPr lang="en-US" sz="3000" dirty="0"/>
              <a:t>.</a:t>
            </a:r>
            <a:endParaRPr lang="en-US" sz="3000" dirty="0">
              <a:solidFill>
                <a:srgbClr val="000000"/>
              </a:solidFill>
              <a:latin typeface="+mj-lt"/>
              <a:ea typeface="Aileron"/>
              <a:cs typeface="Aileron"/>
              <a:sym typeface="Aileron"/>
            </a:endParaRPr>
          </a:p>
          <a:p>
            <a:pPr algn="ctr" defTabSz="685800">
              <a:lnSpc>
                <a:spcPts val="3810"/>
              </a:lnSpc>
              <a:defRPr/>
            </a:pPr>
            <a:endParaRPr lang="en-US" sz="3000" dirty="0">
              <a:solidFill>
                <a:srgbClr val="000000"/>
              </a:solidFill>
              <a:latin typeface="+mj-lt"/>
              <a:ea typeface="Aileron"/>
              <a:cs typeface="Aileron"/>
              <a:sym typeface="Ailero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reeform 2"/>
          <p:cNvSpPr/>
          <p:nvPr/>
        </p:nvSpPr>
        <p:spPr>
          <a:xfrm rot="-5400000">
            <a:off x="4000500" y="-4000501"/>
            <a:ext cx="10286999" cy="18288000"/>
          </a:xfrm>
          <a:custGeom>
            <a:avLst/>
            <a:gdLst/>
            <a:ahLst/>
            <a:cxnLst>
              <a:cxn ang="0">
                <a:pos x="0" y="0"/>
              </a:cxn>
              <a:cxn ang="0">
                <a:pos x="11718925" y="0"/>
              </a:cxn>
              <a:cxn ang="0">
                <a:pos x="11718925" y="20832762"/>
              </a:cxn>
              <a:cxn ang="0">
                <a:pos x="0" y="20832762"/>
              </a:cxn>
              <a:cxn ang="0">
                <a:pos x="0" y="0"/>
              </a:cxn>
            </a:cxnLst>
            <a:rect l="0" t="0" r="0" b="0"/>
            <a:pathLst>
              <a:path w="11718479" h="20832852">
                <a:moveTo>
                  <a:pt x="0" y="0"/>
                </a:moveTo>
                <a:lnTo>
                  <a:pt x="11718479" y="0"/>
                </a:lnTo>
                <a:lnTo>
                  <a:pt x="11718479" y="20832851"/>
                </a:lnTo>
                <a:lnTo>
                  <a:pt x="0" y="20832851"/>
                </a:lnTo>
                <a:lnTo>
                  <a:pt x="0" y="0"/>
                </a:lnTo>
                <a:close/>
              </a:path>
            </a:pathLst>
          </a:custGeom>
          <a:blipFill rotWithShape="1">
            <a:blip r:embed="rId2"/>
            <a:stretch>
              <a:fillRect/>
            </a:stretch>
          </a:blipFill>
          <a:ln w="9525">
            <a:noFill/>
          </a:ln>
        </p:spPr>
        <p:txBody>
          <a:bodyPr/>
          <a:lstStyle/>
          <a:p>
            <a:endParaRPr lang="en-US"/>
          </a:p>
        </p:txBody>
      </p:sp>
      <p:sp>
        <p:nvSpPr>
          <p:cNvPr id="10243" name="Freeform 3"/>
          <p:cNvSpPr/>
          <p:nvPr/>
        </p:nvSpPr>
        <p:spPr>
          <a:xfrm flipV="1">
            <a:off x="2416546" y="1540750"/>
            <a:ext cx="2070866" cy="2070778"/>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10244" name="Freeform 4"/>
          <p:cNvSpPr/>
          <p:nvPr/>
        </p:nvSpPr>
        <p:spPr>
          <a:xfrm flipH="1">
            <a:off x="13641758" y="6767594"/>
            <a:ext cx="2070866" cy="2070778"/>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10245" name="Freeform 5"/>
          <p:cNvSpPr/>
          <p:nvPr/>
        </p:nvSpPr>
        <p:spPr>
          <a:xfrm>
            <a:off x="13449143" y="1508908"/>
            <a:ext cx="3612170" cy="3612016"/>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10246" name="Freeform 6"/>
          <p:cNvSpPr/>
          <p:nvPr/>
        </p:nvSpPr>
        <p:spPr>
          <a:xfrm>
            <a:off x="2033328" y="6761520"/>
            <a:ext cx="2364912" cy="2364811"/>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grpSp>
        <p:nvGrpSpPr>
          <p:cNvPr id="10247" name="Group 7"/>
          <p:cNvGrpSpPr/>
          <p:nvPr/>
        </p:nvGrpSpPr>
        <p:grpSpPr>
          <a:xfrm>
            <a:off x="1350257" y="1804765"/>
            <a:ext cx="15719625" cy="6695887"/>
            <a:chOff x="0" y="0"/>
            <a:chExt cx="3259624" cy="1353377"/>
          </a:xfrm>
        </p:grpSpPr>
        <p:sp>
          <p:nvSpPr>
            <p:cNvPr id="10250" name="Freeform 8"/>
            <p:cNvSpPr/>
            <p:nvPr/>
          </p:nvSpPr>
          <p:spPr>
            <a:xfrm>
              <a:off x="0" y="0"/>
              <a:ext cx="3259624" cy="1353377"/>
            </a:xfrm>
            <a:custGeom>
              <a:avLst/>
              <a:gdLst/>
              <a:ahLst/>
              <a:cxnLst>
                <a:cxn ang="0">
                  <a:pos x="31903" y="0"/>
                </a:cxn>
                <a:cxn ang="0">
                  <a:pos x="3227722" y="0"/>
                </a:cxn>
                <a:cxn ang="0">
                  <a:pos x="3250280" y="9344"/>
                </a:cxn>
                <a:cxn ang="0">
                  <a:pos x="3259624" y="31903"/>
                </a:cxn>
                <a:cxn ang="0">
                  <a:pos x="3259624" y="1321475"/>
                </a:cxn>
                <a:cxn ang="0">
                  <a:pos x="3250280" y="1344033"/>
                </a:cxn>
                <a:cxn ang="0">
                  <a:pos x="3227722" y="1353377"/>
                </a:cxn>
                <a:cxn ang="0">
                  <a:pos x="31903" y="1353377"/>
                </a:cxn>
                <a:cxn ang="0">
                  <a:pos x="9344" y="1344033"/>
                </a:cxn>
                <a:cxn ang="0">
                  <a:pos x="0" y="1321475"/>
                </a:cxn>
                <a:cxn ang="0">
                  <a:pos x="0" y="31903"/>
                </a:cxn>
                <a:cxn ang="0">
                  <a:pos x="9344" y="9344"/>
                </a:cxn>
                <a:cxn ang="0">
                  <a:pos x="31903" y="0"/>
                </a:cxn>
              </a:cxnLst>
              <a:rect l="0" t="0" r="0" b="0"/>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alpha val="100000"/>
              </a:srgbClr>
            </a:solidFill>
            <a:ln w="9525">
              <a:noFill/>
            </a:ln>
          </p:spPr>
          <p:txBody>
            <a:bodyPr/>
            <a:lstStyle/>
            <a:p>
              <a:endParaRPr lang="en-US"/>
            </a:p>
          </p:txBody>
        </p:sp>
        <p:sp>
          <p:nvSpPr>
            <p:cNvPr id="10251" name="TextBox 9"/>
            <p:cNvSpPr txBox="1"/>
            <p:nvPr/>
          </p:nvSpPr>
          <p:spPr>
            <a:xfrm>
              <a:off x="0" y="-38100"/>
              <a:ext cx="3259624" cy="1391477"/>
            </a:xfrm>
            <a:prstGeom prst="rect">
              <a:avLst/>
            </a:prstGeom>
            <a:noFill/>
            <a:ln w="9525">
              <a:noFill/>
            </a:ln>
          </p:spPr>
          <p:txBody>
            <a:bodyPr lIns="38100" tIns="38100" rIns="38100" bIns="381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lnSpc>
                  <a:spcPts val="1999"/>
                </a:lnSpc>
                <a:spcBef>
                  <a:spcPct val="0"/>
                </a:spcBef>
                <a:buNone/>
              </a:pPr>
              <a:endParaRPr lang="en-US" altLang="en-US" sz="1350" dirty="0"/>
            </a:p>
          </p:txBody>
        </p:sp>
      </p:grpSp>
      <p:sp>
        <p:nvSpPr>
          <p:cNvPr id="10" name="TextBox 10"/>
          <p:cNvSpPr txBox="1"/>
          <p:nvPr/>
        </p:nvSpPr>
        <p:spPr>
          <a:xfrm>
            <a:off x="3620740" y="738733"/>
            <a:ext cx="11708890" cy="838052"/>
          </a:xfrm>
          <a:prstGeom prst="rect">
            <a:avLst/>
          </a:prstGeom>
        </p:spPr>
        <p:txBody>
          <a:bodyPr wrap="square" lIns="0" tIns="0" rIns="0" bIns="0">
            <a:spAutoFit/>
          </a:bodyPr>
          <a:lstStyle/>
          <a:p>
            <a:pPr algn="ctr" defTabSz="685800">
              <a:lnSpc>
                <a:spcPts val="6420"/>
              </a:lnSpc>
              <a:defRPr/>
            </a:pPr>
            <a:r>
              <a:rPr lang="en-US" sz="6000" b="1" dirty="0">
                <a:solidFill>
                  <a:srgbClr val="3C3F42"/>
                </a:solidFill>
                <a:ea typeface="Aileron Bold"/>
                <a:cs typeface="Aileron Bold"/>
                <a:sym typeface="Aileron Bold"/>
              </a:rPr>
              <a:t>Novelty in Proposed System</a:t>
            </a:r>
            <a:endParaRPr lang="en-US" sz="6000" b="1" dirty="0">
              <a:solidFill>
                <a:srgbClr val="000000"/>
              </a:solidFill>
              <a:latin typeface="+mj-lt"/>
              <a:ea typeface="Alegreya Sans SC Bold" panose="00000800000000000000"/>
              <a:cs typeface="Alegreya Sans SC Bold" panose="00000800000000000000"/>
              <a:sym typeface="Alegreya Sans SC Bold" panose="00000800000000000000"/>
            </a:endParaRPr>
          </a:p>
        </p:txBody>
      </p:sp>
      <p:sp>
        <p:nvSpPr>
          <p:cNvPr id="11" name="TextBox 11"/>
          <p:cNvSpPr txBox="1"/>
          <p:nvPr/>
        </p:nvSpPr>
        <p:spPr>
          <a:xfrm>
            <a:off x="2052437" y="2124851"/>
            <a:ext cx="14769202" cy="4457648"/>
          </a:xfrm>
          <a:prstGeom prst="rect">
            <a:avLst/>
          </a:prstGeom>
        </p:spPr>
        <p:txBody>
          <a:bodyPr wrap="square" lIns="0" tIns="0" rIns="0" bIns="0">
            <a:spAutoFit/>
          </a:bodyPr>
          <a:lstStyle/>
          <a:p>
            <a:pPr marL="342900" indent="-342900" defTabSz="685800">
              <a:lnSpc>
                <a:spcPts val="3810"/>
              </a:lnSpc>
              <a:buFont typeface="Wingdings" panose="05000000000000000000" pitchFamily="2" charset="2"/>
              <a:buChar char="q"/>
              <a:defRPr/>
            </a:pPr>
            <a:r>
              <a:rPr lang="en-US" sz="2100" b="1" dirty="0"/>
              <a:t>Integration of IoT and Federated Learning:</a:t>
            </a:r>
            <a:r>
              <a:rPr lang="en-US" sz="2100" dirty="0"/>
              <a:t> The project is novel because it combines an IoT-based fuel monitoring system with a sophisticated machine learning model. This hybrid approach is a significant step beyond existing solutions.</a:t>
            </a:r>
            <a:endParaRPr lang="en-US" sz="2100" dirty="0">
              <a:solidFill>
                <a:srgbClr val="000000"/>
              </a:solidFill>
              <a:latin typeface="+mj-lt"/>
              <a:ea typeface="Aileron"/>
              <a:cs typeface="Aileron"/>
              <a:sym typeface="Aileron"/>
            </a:endParaRPr>
          </a:p>
          <a:p>
            <a:pPr marL="342900" indent="-342900" defTabSz="685800">
              <a:lnSpc>
                <a:spcPts val="3810"/>
              </a:lnSpc>
              <a:buFont typeface="Wingdings" panose="05000000000000000000" pitchFamily="2" charset="2"/>
              <a:buChar char="q"/>
              <a:defRPr/>
            </a:pPr>
            <a:r>
              <a:rPr lang="en-US" sz="2100" b="1" dirty="0"/>
              <a:t>Privacy-Preserving Design:</a:t>
            </a:r>
            <a:r>
              <a:rPr lang="en-US" sz="2100" dirty="0"/>
              <a:t> A key innovation is that the system keeps all raw, sensitive data on the vehicle itself. This allows for collaborative learning from a large fleet without compromising individual privacy.</a:t>
            </a:r>
          </a:p>
          <a:p>
            <a:pPr marL="342900" indent="-342900" defTabSz="685800">
              <a:lnSpc>
                <a:spcPts val="3810"/>
              </a:lnSpc>
              <a:buFont typeface="Wingdings" panose="05000000000000000000" pitchFamily="2" charset="2"/>
              <a:buChar char="q"/>
              <a:defRPr/>
            </a:pPr>
            <a:r>
              <a:rPr lang="en-US" sz="2100" b="1" dirty="0"/>
              <a:t>Adaptive Anomaly Detection:</a:t>
            </a:r>
            <a:r>
              <a:rPr lang="en-US" sz="2100" dirty="0"/>
              <a:t> The system learns from fuel consumption patterns to identify anomalies, making it more accurate than traditional methods that rely on fixed thresholds. This adaptability allows it to quickly identify new theft techniques.</a:t>
            </a:r>
            <a:endParaRPr lang="en-US" sz="2100" dirty="0">
              <a:solidFill>
                <a:srgbClr val="000000"/>
              </a:solidFill>
              <a:latin typeface="+mj-lt"/>
              <a:ea typeface="Aileron"/>
              <a:cs typeface="Aileron"/>
              <a:sym typeface="Aileron"/>
            </a:endParaRPr>
          </a:p>
          <a:p>
            <a:pPr marL="342900" indent="-342900" defTabSz="685800">
              <a:lnSpc>
                <a:spcPts val="3810"/>
              </a:lnSpc>
              <a:buFont typeface="Wingdings" panose="05000000000000000000" pitchFamily="2" charset="2"/>
              <a:buChar char="q"/>
              <a:defRPr/>
            </a:pPr>
            <a:r>
              <a:rPr lang="en-US" sz="2100" b="1" dirty="0"/>
              <a:t>Collaborative Learning Capability:</a:t>
            </a:r>
            <a:r>
              <a:rPr lang="en-US" sz="2100" dirty="0"/>
              <a:t> The federated learning framework enables the model to learn collectively from the entire fleet. This allows for rapid improvements in detection without the risk associated with a centralized data-sharing model.</a:t>
            </a:r>
            <a:endParaRPr lang="en-US" sz="2100" dirty="0">
              <a:solidFill>
                <a:srgbClr val="000000"/>
              </a:solidFill>
              <a:latin typeface="+mj-lt"/>
              <a:ea typeface="Aileron"/>
              <a:cs typeface="Aileron"/>
              <a:sym typeface="Aileron"/>
            </a:endParaRPr>
          </a:p>
          <a:p>
            <a:pPr algn="ctr" defTabSz="685800">
              <a:lnSpc>
                <a:spcPts val="3810"/>
              </a:lnSpc>
              <a:defRPr/>
            </a:pPr>
            <a:endParaRPr lang="en-US" sz="3000" dirty="0">
              <a:solidFill>
                <a:srgbClr val="000000"/>
              </a:solidFill>
              <a:latin typeface="+mj-lt"/>
              <a:ea typeface="Aileron"/>
              <a:cs typeface="Aileron"/>
              <a:sym typeface="Ailero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reeform 2"/>
          <p:cNvSpPr/>
          <p:nvPr/>
        </p:nvSpPr>
        <p:spPr>
          <a:xfrm rot="-5400000">
            <a:off x="4000500" y="-4000501"/>
            <a:ext cx="10286999" cy="18288000"/>
          </a:xfrm>
          <a:custGeom>
            <a:avLst/>
            <a:gdLst/>
            <a:ahLst/>
            <a:cxnLst>
              <a:cxn ang="0">
                <a:pos x="0" y="0"/>
              </a:cxn>
              <a:cxn ang="0">
                <a:pos x="11718925" y="0"/>
              </a:cxn>
              <a:cxn ang="0">
                <a:pos x="11718925" y="20832762"/>
              </a:cxn>
              <a:cxn ang="0">
                <a:pos x="0" y="20832762"/>
              </a:cxn>
              <a:cxn ang="0">
                <a:pos x="0" y="0"/>
              </a:cxn>
            </a:cxnLst>
            <a:rect l="0" t="0" r="0" b="0"/>
            <a:pathLst>
              <a:path w="11718479" h="20832852">
                <a:moveTo>
                  <a:pt x="0" y="0"/>
                </a:moveTo>
                <a:lnTo>
                  <a:pt x="11718479" y="0"/>
                </a:lnTo>
                <a:lnTo>
                  <a:pt x="11718479" y="20832851"/>
                </a:lnTo>
                <a:lnTo>
                  <a:pt x="0" y="20832851"/>
                </a:lnTo>
                <a:lnTo>
                  <a:pt x="0" y="0"/>
                </a:lnTo>
                <a:close/>
              </a:path>
            </a:pathLst>
          </a:custGeom>
          <a:blipFill rotWithShape="1">
            <a:blip r:embed="rId2"/>
            <a:stretch>
              <a:fillRect/>
            </a:stretch>
          </a:blipFill>
          <a:ln w="9525">
            <a:noFill/>
          </a:ln>
        </p:spPr>
        <p:txBody>
          <a:bodyPr/>
          <a:lstStyle/>
          <a:p>
            <a:endParaRPr lang="en-US"/>
          </a:p>
        </p:txBody>
      </p:sp>
      <p:sp>
        <p:nvSpPr>
          <p:cNvPr id="11267" name="Freeform 3"/>
          <p:cNvSpPr/>
          <p:nvPr/>
        </p:nvSpPr>
        <p:spPr>
          <a:xfrm flipV="1">
            <a:off x="2416546" y="1540750"/>
            <a:ext cx="2070866" cy="2070778"/>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11268" name="Freeform 4"/>
          <p:cNvSpPr/>
          <p:nvPr/>
        </p:nvSpPr>
        <p:spPr>
          <a:xfrm flipH="1">
            <a:off x="13641758" y="6767594"/>
            <a:ext cx="2070866" cy="2070778"/>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11269" name="Freeform 5"/>
          <p:cNvSpPr/>
          <p:nvPr/>
        </p:nvSpPr>
        <p:spPr>
          <a:xfrm>
            <a:off x="13449143" y="1508908"/>
            <a:ext cx="3612170" cy="3612016"/>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r>
              <a:rPr lang="en-US" dirty="0"/>
              <a:t>2</a:t>
            </a:r>
          </a:p>
        </p:txBody>
      </p:sp>
      <p:sp>
        <p:nvSpPr>
          <p:cNvPr id="11270" name="Freeform 6"/>
          <p:cNvSpPr/>
          <p:nvPr/>
        </p:nvSpPr>
        <p:spPr>
          <a:xfrm>
            <a:off x="2033328" y="6761520"/>
            <a:ext cx="2364912" cy="2364811"/>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grpSp>
        <p:nvGrpSpPr>
          <p:cNvPr id="11271" name="Group 7"/>
          <p:cNvGrpSpPr/>
          <p:nvPr/>
        </p:nvGrpSpPr>
        <p:grpSpPr>
          <a:xfrm>
            <a:off x="893057" y="1999074"/>
            <a:ext cx="15719625" cy="6695887"/>
            <a:chOff x="0" y="0"/>
            <a:chExt cx="3259624" cy="1353377"/>
          </a:xfrm>
        </p:grpSpPr>
        <p:sp>
          <p:nvSpPr>
            <p:cNvPr id="11273" name="Freeform 8"/>
            <p:cNvSpPr/>
            <p:nvPr/>
          </p:nvSpPr>
          <p:spPr>
            <a:xfrm>
              <a:off x="0" y="0"/>
              <a:ext cx="3259624" cy="1353377"/>
            </a:xfrm>
            <a:custGeom>
              <a:avLst/>
              <a:gdLst/>
              <a:ahLst/>
              <a:cxnLst>
                <a:cxn ang="0">
                  <a:pos x="31903" y="0"/>
                </a:cxn>
                <a:cxn ang="0">
                  <a:pos x="3227722" y="0"/>
                </a:cxn>
                <a:cxn ang="0">
                  <a:pos x="3250280" y="9344"/>
                </a:cxn>
                <a:cxn ang="0">
                  <a:pos x="3259624" y="31903"/>
                </a:cxn>
                <a:cxn ang="0">
                  <a:pos x="3259624" y="1321475"/>
                </a:cxn>
                <a:cxn ang="0">
                  <a:pos x="3250280" y="1344033"/>
                </a:cxn>
                <a:cxn ang="0">
                  <a:pos x="3227722" y="1353377"/>
                </a:cxn>
                <a:cxn ang="0">
                  <a:pos x="31903" y="1353377"/>
                </a:cxn>
                <a:cxn ang="0">
                  <a:pos x="9344" y="1344033"/>
                </a:cxn>
                <a:cxn ang="0">
                  <a:pos x="0" y="1321475"/>
                </a:cxn>
                <a:cxn ang="0">
                  <a:pos x="0" y="31903"/>
                </a:cxn>
                <a:cxn ang="0">
                  <a:pos x="9344" y="9344"/>
                </a:cxn>
                <a:cxn ang="0">
                  <a:pos x="31903" y="0"/>
                </a:cxn>
              </a:cxnLst>
              <a:rect l="0" t="0" r="0" b="0"/>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alpha val="100000"/>
              </a:srgbClr>
            </a:solidFill>
            <a:ln w="9525">
              <a:noFill/>
            </a:ln>
          </p:spPr>
          <p:txBody>
            <a:bodyPr/>
            <a:lstStyle/>
            <a:p>
              <a:endParaRPr lang="en-US"/>
            </a:p>
          </p:txBody>
        </p:sp>
        <p:sp>
          <p:nvSpPr>
            <p:cNvPr id="11274" name="TextBox 9"/>
            <p:cNvSpPr txBox="1"/>
            <p:nvPr/>
          </p:nvSpPr>
          <p:spPr>
            <a:xfrm>
              <a:off x="0" y="-38100"/>
              <a:ext cx="3259624" cy="1391477"/>
            </a:xfrm>
            <a:prstGeom prst="rect">
              <a:avLst/>
            </a:prstGeom>
            <a:noFill/>
            <a:ln w="9525">
              <a:noFill/>
            </a:ln>
          </p:spPr>
          <p:txBody>
            <a:bodyPr lIns="38100" tIns="38100" rIns="38100" bIns="381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lnSpc>
                  <a:spcPts val="1999"/>
                </a:lnSpc>
                <a:spcBef>
                  <a:spcPct val="0"/>
                </a:spcBef>
                <a:buNone/>
              </a:pPr>
              <a:endParaRPr lang="en-US" altLang="en-US" sz="1350" dirty="0"/>
            </a:p>
          </p:txBody>
        </p:sp>
      </p:grpSp>
      <p:sp>
        <p:nvSpPr>
          <p:cNvPr id="10" name="TextBox 10"/>
          <p:cNvSpPr txBox="1"/>
          <p:nvPr/>
        </p:nvSpPr>
        <p:spPr>
          <a:xfrm>
            <a:off x="3620740" y="738733"/>
            <a:ext cx="11708890" cy="838052"/>
          </a:xfrm>
          <a:prstGeom prst="rect">
            <a:avLst/>
          </a:prstGeom>
        </p:spPr>
        <p:txBody>
          <a:bodyPr wrap="square" lIns="0" tIns="0" rIns="0" bIns="0">
            <a:spAutoFit/>
          </a:bodyPr>
          <a:lstStyle/>
          <a:p>
            <a:pPr algn="ctr" defTabSz="685800">
              <a:lnSpc>
                <a:spcPts val="6420"/>
              </a:lnSpc>
              <a:defRPr/>
            </a:pPr>
            <a:r>
              <a:rPr lang="en-US" sz="6000" b="1" dirty="0">
                <a:solidFill>
                  <a:srgbClr val="3C3F42"/>
                </a:solidFill>
                <a:ea typeface="Aileron Bold"/>
                <a:cs typeface="Aileron Bold"/>
                <a:sym typeface="Aileron Bold"/>
              </a:rPr>
              <a:t>Block Diagram</a:t>
            </a:r>
            <a:endParaRPr lang="en-US" sz="6000" b="1" dirty="0">
              <a:solidFill>
                <a:srgbClr val="000000"/>
              </a:solidFill>
              <a:latin typeface="+mj-lt"/>
              <a:ea typeface="Alegreya Sans SC Bold" panose="00000800000000000000"/>
              <a:cs typeface="Alegreya Sans SC Bold" panose="00000800000000000000"/>
              <a:sym typeface="Alegreya Sans SC Bold" panose="00000800000000000000"/>
            </a:endParaRPr>
          </a:p>
        </p:txBody>
      </p:sp>
      <p:sp>
        <p:nvSpPr>
          <p:cNvPr id="2" name="AutoShape 2">
            <a:extLst>
              <a:ext uri="{FF2B5EF4-FFF2-40B4-BE49-F238E27FC236}">
                <a16:creationId xmlns:a16="http://schemas.microsoft.com/office/drawing/2014/main" id="{FB3DCD5A-3547-B95B-5B88-37EAE7CEE5E2}"/>
              </a:ext>
            </a:extLst>
          </p:cNvPr>
          <p:cNvSpPr>
            <a:spLocks noChangeAspect="1" noChangeArrowheads="1"/>
          </p:cNvSpPr>
          <p:nvPr/>
        </p:nvSpPr>
        <p:spPr bwMode="auto">
          <a:xfrm>
            <a:off x="8996263" y="5023669"/>
            <a:ext cx="267568" cy="26756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813B0527-49EB-FE16-5248-B55B446C85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878" y="1870830"/>
            <a:ext cx="17897905" cy="71906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reeform 2"/>
          <p:cNvSpPr/>
          <p:nvPr/>
        </p:nvSpPr>
        <p:spPr>
          <a:xfrm rot="-5400000">
            <a:off x="4000500" y="-4000501"/>
            <a:ext cx="10286999" cy="18288000"/>
          </a:xfrm>
          <a:custGeom>
            <a:avLst/>
            <a:gdLst/>
            <a:ahLst/>
            <a:cxnLst>
              <a:cxn ang="0">
                <a:pos x="0" y="0"/>
              </a:cxn>
              <a:cxn ang="0">
                <a:pos x="11718925" y="0"/>
              </a:cxn>
              <a:cxn ang="0">
                <a:pos x="11718925" y="20832762"/>
              </a:cxn>
              <a:cxn ang="0">
                <a:pos x="0" y="20832762"/>
              </a:cxn>
              <a:cxn ang="0">
                <a:pos x="0" y="0"/>
              </a:cxn>
            </a:cxnLst>
            <a:rect l="0" t="0" r="0" b="0"/>
            <a:pathLst>
              <a:path w="11718479" h="20832852">
                <a:moveTo>
                  <a:pt x="0" y="0"/>
                </a:moveTo>
                <a:lnTo>
                  <a:pt x="11718479" y="0"/>
                </a:lnTo>
                <a:lnTo>
                  <a:pt x="11718479" y="20832851"/>
                </a:lnTo>
                <a:lnTo>
                  <a:pt x="0" y="20832851"/>
                </a:lnTo>
                <a:lnTo>
                  <a:pt x="0" y="0"/>
                </a:lnTo>
                <a:close/>
              </a:path>
            </a:pathLst>
          </a:custGeom>
          <a:blipFill rotWithShape="1">
            <a:blip r:embed="rId2"/>
            <a:stretch>
              <a:fillRect/>
            </a:stretch>
          </a:blipFill>
          <a:ln w="9525">
            <a:noFill/>
          </a:ln>
        </p:spPr>
        <p:txBody>
          <a:bodyPr/>
          <a:lstStyle/>
          <a:p>
            <a:endParaRPr lang="en-US"/>
          </a:p>
        </p:txBody>
      </p:sp>
      <p:sp>
        <p:nvSpPr>
          <p:cNvPr id="12291" name="Freeform 3"/>
          <p:cNvSpPr/>
          <p:nvPr/>
        </p:nvSpPr>
        <p:spPr>
          <a:xfrm flipV="1">
            <a:off x="2416546" y="1540750"/>
            <a:ext cx="2070866" cy="2070778"/>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12292" name="Freeform 4"/>
          <p:cNvSpPr/>
          <p:nvPr/>
        </p:nvSpPr>
        <p:spPr>
          <a:xfrm flipH="1">
            <a:off x="13641758" y="6767594"/>
            <a:ext cx="2070866" cy="2070778"/>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12293" name="Freeform 5"/>
          <p:cNvSpPr/>
          <p:nvPr/>
        </p:nvSpPr>
        <p:spPr>
          <a:xfrm>
            <a:off x="13449143" y="1508908"/>
            <a:ext cx="3612170" cy="3612016"/>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12294" name="Freeform 6"/>
          <p:cNvSpPr/>
          <p:nvPr/>
        </p:nvSpPr>
        <p:spPr>
          <a:xfrm>
            <a:off x="2033328" y="6761520"/>
            <a:ext cx="2364912" cy="2364811"/>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grpSp>
        <p:nvGrpSpPr>
          <p:cNvPr id="12295" name="Group 7"/>
          <p:cNvGrpSpPr/>
          <p:nvPr/>
        </p:nvGrpSpPr>
        <p:grpSpPr>
          <a:xfrm>
            <a:off x="1350257" y="1804765"/>
            <a:ext cx="15719625" cy="6695887"/>
            <a:chOff x="0" y="0"/>
            <a:chExt cx="3259624" cy="1353377"/>
          </a:xfrm>
        </p:grpSpPr>
        <p:sp>
          <p:nvSpPr>
            <p:cNvPr id="12299" name="Freeform 8"/>
            <p:cNvSpPr/>
            <p:nvPr/>
          </p:nvSpPr>
          <p:spPr>
            <a:xfrm>
              <a:off x="0" y="0"/>
              <a:ext cx="3259624" cy="1353377"/>
            </a:xfrm>
            <a:custGeom>
              <a:avLst/>
              <a:gdLst/>
              <a:ahLst/>
              <a:cxnLst>
                <a:cxn ang="0">
                  <a:pos x="31903" y="0"/>
                </a:cxn>
                <a:cxn ang="0">
                  <a:pos x="3227722" y="0"/>
                </a:cxn>
                <a:cxn ang="0">
                  <a:pos x="3250280" y="9344"/>
                </a:cxn>
                <a:cxn ang="0">
                  <a:pos x="3259624" y="31903"/>
                </a:cxn>
                <a:cxn ang="0">
                  <a:pos x="3259624" y="1321475"/>
                </a:cxn>
                <a:cxn ang="0">
                  <a:pos x="3250280" y="1344033"/>
                </a:cxn>
                <a:cxn ang="0">
                  <a:pos x="3227722" y="1353377"/>
                </a:cxn>
                <a:cxn ang="0">
                  <a:pos x="31903" y="1353377"/>
                </a:cxn>
                <a:cxn ang="0">
                  <a:pos x="9344" y="1344033"/>
                </a:cxn>
                <a:cxn ang="0">
                  <a:pos x="0" y="1321475"/>
                </a:cxn>
                <a:cxn ang="0">
                  <a:pos x="0" y="31903"/>
                </a:cxn>
                <a:cxn ang="0">
                  <a:pos x="9344" y="9344"/>
                </a:cxn>
                <a:cxn ang="0">
                  <a:pos x="31903" y="0"/>
                </a:cxn>
              </a:cxnLst>
              <a:rect l="0" t="0" r="0" b="0"/>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alpha val="100000"/>
              </a:srgbClr>
            </a:solidFill>
            <a:ln w="9525">
              <a:noFill/>
            </a:ln>
          </p:spPr>
          <p:txBody>
            <a:bodyPr/>
            <a:lstStyle/>
            <a:p>
              <a:endParaRPr lang="en-US"/>
            </a:p>
          </p:txBody>
        </p:sp>
        <p:sp>
          <p:nvSpPr>
            <p:cNvPr id="12300" name="TextBox 9"/>
            <p:cNvSpPr txBox="1"/>
            <p:nvPr/>
          </p:nvSpPr>
          <p:spPr>
            <a:xfrm>
              <a:off x="0" y="-38100"/>
              <a:ext cx="3259624" cy="1391477"/>
            </a:xfrm>
            <a:prstGeom prst="rect">
              <a:avLst/>
            </a:prstGeom>
            <a:noFill/>
            <a:ln w="9525">
              <a:noFill/>
            </a:ln>
          </p:spPr>
          <p:txBody>
            <a:bodyPr lIns="38100" tIns="38100" rIns="38100" bIns="381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lnSpc>
                  <a:spcPts val="1999"/>
                </a:lnSpc>
                <a:spcBef>
                  <a:spcPct val="0"/>
                </a:spcBef>
                <a:buNone/>
              </a:pPr>
              <a:endParaRPr lang="en-US" altLang="en-US" sz="1350" dirty="0"/>
            </a:p>
          </p:txBody>
        </p:sp>
      </p:grpSp>
      <p:sp>
        <p:nvSpPr>
          <p:cNvPr id="10" name="TextBox 10"/>
          <p:cNvSpPr txBox="1"/>
          <p:nvPr/>
        </p:nvSpPr>
        <p:spPr>
          <a:xfrm>
            <a:off x="3163162" y="-990055"/>
            <a:ext cx="12188284" cy="838052"/>
          </a:xfrm>
          <a:prstGeom prst="rect">
            <a:avLst/>
          </a:prstGeom>
        </p:spPr>
        <p:txBody>
          <a:bodyPr wrap="square" lIns="0" tIns="0" rIns="0" bIns="0">
            <a:spAutoFit/>
          </a:bodyPr>
          <a:lstStyle/>
          <a:p>
            <a:pPr algn="ctr" defTabSz="685800">
              <a:lnSpc>
                <a:spcPts val="6420"/>
              </a:lnSpc>
              <a:defRPr/>
            </a:pPr>
            <a:r>
              <a:rPr lang="en-US" sz="6000" b="1" dirty="0">
                <a:solidFill>
                  <a:srgbClr val="3C3F42"/>
                </a:solidFill>
                <a:ea typeface="Aileron Bold"/>
                <a:cs typeface="Aileron Bold"/>
                <a:sym typeface="Aileron Bold"/>
              </a:rPr>
              <a:t>Hardware/Software Requirements</a:t>
            </a:r>
            <a:endParaRPr lang="en-US" sz="6000" b="1" dirty="0">
              <a:solidFill>
                <a:srgbClr val="000000"/>
              </a:solidFill>
              <a:latin typeface="+mj-lt"/>
              <a:ea typeface="Alegreya Sans SC Bold" panose="00000800000000000000"/>
              <a:cs typeface="Alegreya Sans SC Bold" panose="00000800000000000000"/>
              <a:sym typeface="Alegreya Sans SC Bold" panose="00000800000000000000"/>
            </a:endParaRPr>
          </a:p>
        </p:txBody>
      </p:sp>
      <p:sp>
        <p:nvSpPr>
          <p:cNvPr id="11" name="TextBox 11"/>
          <p:cNvSpPr txBox="1"/>
          <p:nvPr/>
        </p:nvSpPr>
        <p:spPr>
          <a:xfrm>
            <a:off x="3237335" y="3302914"/>
            <a:ext cx="5649589" cy="4083426"/>
          </a:xfrm>
          <a:prstGeom prst="rect">
            <a:avLst/>
          </a:prstGeom>
        </p:spPr>
        <p:txBody>
          <a:bodyPr wrap="square" lIns="0" tIns="0" rIns="0" bIns="0">
            <a:spAutoFit/>
          </a:bodyPr>
          <a:lstStyle/>
          <a:p>
            <a:pPr marL="323850" lvl="1" algn="just" defTabSz="685800">
              <a:lnSpc>
                <a:spcPts val="4620"/>
              </a:lnSpc>
              <a:defRPr/>
            </a:pPr>
            <a:r>
              <a:rPr lang="en-US" sz="3000" b="1" dirty="0">
                <a:solidFill>
                  <a:srgbClr val="3C3F42"/>
                </a:solidFill>
                <a:ea typeface="Aileron Bold"/>
                <a:cs typeface="Aileron Bold"/>
                <a:sym typeface="Aileron Bold"/>
              </a:rPr>
              <a:t>Hardware Requirements</a:t>
            </a:r>
            <a:endParaRPr lang="en-US" sz="3000" b="1" dirty="0">
              <a:solidFill>
                <a:srgbClr val="3C3F42"/>
              </a:solidFill>
              <a:latin typeface="+mj-lt"/>
              <a:ea typeface="Aileron Bold"/>
              <a:cs typeface="Aileron Bold"/>
              <a:sym typeface="Aileron Bold"/>
            </a:endParaRPr>
          </a:p>
          <a:p>
            <a:pPr marL="647700" lvl="1" indent="-323850" algn="just" defTabSz="685800">
              <a:lnSpc>
                <a:spcPts val="4620"/>
              </a:lnSpc>
              <a:buFont typeface="Arial" panose="020B0604020202020204"/>
              <a:buChar char="•"/>
              <a:defRPr/>
            </a:pPr>
            <a:r>
              <a:rPr lang="en-IN" sz="3000" dirty="0" err="1"/>
              <a:t>NodeMCU</a:t>
            </a:r>
            <a:r>
              <a:rPr lang="en-IN" sz="3000" dirty="0"/>
              <a:t> ESP8266</a:t>
            </a:r>
          </a:p>
          <a:p>
            <a:pPr marL="647700" lvl="1" indent="-323850" algn="just" defTabSz="685800">
              <a:lnSpc>
                <a:spcPts val="4620"/>
              </a:lnSpc>
              <a:buFont typeface="Arial" panose="020B0604020202020204"/>
              <a:buChar char="•"/>
              <a:defRPr/>
            </a:pPr>
            <a:r>
              <a:rPr lang="en-IN" sz="3000" dirty="0"/>
              <a:t>Ultrasonic sensor</a:t>
            </a:r>
          </a:p>
          <a:p>
            <a:pPr marL="647700" lvl="1" indent="-323850" algn="just" defTabSz="685800">
              <a:lnSpc>
                <a:spcPts val="4620"/>
              </a:lnSpc>
              <a:buFont typeface="Arial" panose="020B0604020202020204"/>
              <a:buChar char="•"/>
              <a:defRPr/>
            </a:pPr>
            <a:r>
              <a:rPr lang="en-IN" sz="3000" dirty="0"/>
              <a:t>Jumper wires</a:t>
            </a:r>
          </a:p>
          <a:p>
            <a:pPr marL="647700" lvl="1" indent="-323850" algn="just" defTabSz="685800">
              <a:lnSpc>
                <a:spcPts val="4620"/>
              </a:lnSpc>
              <a:buFont typeface="Arial" panose="020B0604020202020204"/>
              <a:buChar char="•"/>
              <a:defRPr/>
            </a:pPr>
            <a:r>
              <a:rPr lang="en-IN" sz="3000" dirty="0"/>
              <a:t>Buzzer</a:t>
            </a:r>
          </a:p>
          <a:p>
            <a:pPr marL="647700" lvl="1" indent="-323850" algn="just" defTabSz="685800">
              <a:lnSpc>
                <a:spcPts val="4620"/>
              </a:lnSpc>
              <a:buFont typeface="Arial" panose="020B0604020202020204"/>
              <a:buChar char="•"/>
              <a:defRPr/>
            </a:pPr>
            <a:r>
              <a:rPr lang="en-IN" sz="3000" dirty="0"/>
              <a:t>LED</a:t>
            </a:r>
          </a:p>
          <a:p>
            <a:pPr marL="647700" lvl="1" indent="-323850" algn="just" defTabSz="685800">
              <a:lnSpc>
                <a:spcPts val="4620"/>
              </a:lnSpc>
              <a:buFont typeface="Arial" panose="020B0604020202020204"/>
              <a:buChar char="•"/>
              <a:defRPr/>
            </a:pPr>
            <a:r>
              <a:rPr lang="en-IN" sz="3000" dirty="0"/>
              <a:t>USB Cable</a:t>
            </a:r>
          </a:p>
        </p:txBody>
      </p:sp>
      <p:sp>
        <p:nvSpPr>
          <p:cNvPr id="12" name="TextBox 11"/>
          <p:cNvSpPr txBox="1"/>
          <p:nvPr/>
        </p:nvSpPr>
        <p:spPr>
          <a:xfrm>
            <a:off x="9038362" y="3248031"/>
            <a:ext cx="6771424" cy="4673331"/>
          </a:xfrm>
          <a:prstGeom prst="rect">
            <a:avLst/>
          </a:prstGeom>
        </p:spPr>
        <p:txBody>
          <a:bodyPr wrap="square" lIns="0" tIns="0" rIns="0" bIns="0">
            <a:spAutoFit/>
          </a:bodyPr>
          <a:lstStyle/>
          <a:p>
            <a:pPr marL="323850" lvl="1" algn="just" defTabSz="685800">
              <a:lnSpc>
                <a:spcPts val="4620"/>
              </a:lnSpc>
              <a:defRPr/>
            </a:pPr>
            <a:r>
              <a:rPr lang="en-US" sz="3000" b="1" dirty="0">
                <a:solidFill>
                  <a:srgbClr val="3C3F42"/>
                </a:solidFill>
                <a:ea typeface="Aileron Bold"/>
                <a:cs typeface="Aileron Bold"/>
                <a:sym typeface="Aileron Bold"/>
              </a:rPr>
              <a:t>Software Requirements</a:t>
            </a:r>
          </a:p>
          <a:p>
            <a:pPr marL="647700" lvl="1" indent="-323850" algn="just" defTabSz="685800">
              <a:lnSpc>
                <a:spcPts val="4620"/>
              </a:lnSpc>
              <a:buFont typeface="Arial" panose="020B0604020202020204"/>
              <a:buChar char="•"/>
              <a:defRPr/>
            </a:pPr>
            <a:r>
              <a:rPr lang="en-IN" sz="3000" dirty="0"/>
              <a:t>Isolation Forest Machine Learning</a:t>
            </a:r>
          </a:p>
          <a:p>
            <a:pPr marL="647700" lvl="1" indent="-323850" algn="just" defTabSz="685800">
              <a:lnSpc>
                <a:spcPts val="4620"/>
              </a:lnSpc>
              <a:buFont typeface="Arial" panose="020B0604020202020204"/>
              <a:buChar char="•"/>
              <a:defRPr/>
            </a:pPr>
            <a:r>
              <a:rPr lang="en-IN" sz="3000" dirty="0"/>
              <a:t>Federated Machine Learning</a:t>
            </a:r>
          </a:p>
          <a:p>
            <a:pPr marL="647700" lvl="1" indent="-323850" algn="just" defTabSz="685800">
              <a:lnSpc>
                <a:spcPts val="4620"/>
              </a:lnSpc>
              <a:buFont typeface="Arial" panose="020B0604020202020204"/>
              <a:buChar char="•"/>
              <a:defRPr/>
            </a:pPr>
            <a:r>
              <a:rPr lang="en-IN" sz="3000" dirty="0">
                <a:solidFill>
                  <a:srgbClr val="000000"/>
                </a:solidFill>
                <a:ea typeface="Aileron"/>
                <a:cs typeface="Aileron"/>
                <a:sym typeface="Aileron"/>
              </a:rPr>
              <a:t>Visual Studio Code</a:t>
            </a:r>
          </a:p>
          <a:p>
            <a:pPr marL="647700" lvl="1" indent="-323850" algn="just" defTabSz="685800">
              <a:lnSpc>
                <a:spcPts val="4620"/>
              </a:lnSpc>
              <a:buFont typeface="Arial" panose="020B0604020202020204"/>
              <a:buChar char="•"/>
              <a:defRPr/>
            </a:pPr>
            <a:r>
              <a:rPr lang="en-IN" sz="3000" dirty="0">
                <a:solidFill>
                  <a:srgbClr val="000000"/>
                </a:solidFill>
                <a:ea typeface="Aileron"/>
                <a:cs typeface="Aileron"/>
                <a:sym typeface="Aileron"/>
              </a:rPr>
              <a:t>Arduino IDE</a:t>
            </a:r>
          </a:p>
          <a:p>
            <a:pPr marL="647700" lvl="1" indent="-323850" algn="just" defTabSz="685800">
              <a:lnSpc>
                <a:spcPts val="4620"/>
              </a:lnSpc>
              <a:buFont typeface="Arial" panose="020B0604020202020204"/>
              <a:buChar char="•"/>
              <a:defRPr/>
            </a:pPr>
            <a:r>
              <a:rPr lang="en-IN" sz="3000" dirty="0">
                <a:solidFill>
                  <a:srgbClr val="000000"/>
                </a:solidFill>
                <a:ea typeface="Aileron"/>
                <a:cs typeface="Aileron"/>
                <a:sym typeface="Aileron"/>
              </a:rPr>
              <a:t>React.js and Tailwind CSS</a:t>
            </a:r>
          </a:p>
          <a:p>
            <a:pPr marL="647700" lvl="1" indent="-323850" algn="just" defTabSz="685800">
              <a:lnSpc>
                <a:spcPts val="4620"/>
              </a:lnSpc>
              <a:buFont typeface="Arial" panose="020B0604020202020204"/>
              <a:buChar char="•"/>
              <a:defRPr/>
            </a:pPr>
            <a:r>
              <a:rPr lang="en-IN" sz="3000" dirty="0">
                <a:solidFill>
                  <a:srgbClr val="000000"/>
                </a:solidFill>
                <a:ea typeface="Aileron"/>
                <a:cs typeface="Aileron"/>
                <a:sym typeface="Aileron"/>
              </a:rPr>
              <a:t>FLASK API</a:t>
            </a:r>
          </a:p>
          <a:p>
            <a:pPr marL="647700" lvl="1" indent="-323850" algn="just" defTabSz="685800">
              <a:lnSpc>
                <a:spcPts val="4620"/>
              </a:lnSpc>
              <a:buFont typeface="Arial" panose="020B0604020202020204"/>
              <a:buChar char="•"/>
              <a:defRPr/>
            </a:pPr>
            <a:r>
              <a:rPr lang="en-IN" sz="3000" dirty="0">
                <a:solidFill>
                  <a:srgbClr val="000000"/>
                </a:solidFill>
                <a:ea typeface="Aileron"/>
                <a:cs typeface="Aileron"/>
                <a:sym typeface="Aileron"/>
              </a:rPr>
              <a:t>Postman</a:t>
            </a:r>
            <a:endParaRPr lang="en-US" sz="3000" dirty="0">
              <a:solidFill>
                <a:srgbClr val="000000"/>
              </a:solidFill>
              <a:ea typeface="Aileron"/>
              <a:cs typeface="Aileron"/>
              <a:sym typeface="Ailero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reeform 2"/>
          <p:cNvSpPr/>
          <p:nvPr/>
        </p:nvSpPr>
        <p:spPr>
          <a:xfrm rot="-5400000">
            <a:off x="4106764" y="-3894238"/>
            <a:ext cx="10074474" cy="18288002"/>
          </a:xfrm>
          <a:custGeom>
            <a:avLst/>
            <a:gdLst/>
            <a:ahLst/>
            <a:cxnLst>
              <a:cxn ang="0">
                <a:pos x="0" y="0"/>
              </a:cxn>
              <a:cxn ang="0">
                <a:pos x="11718925" y="0"/>
              </a:cxn>
              <a:cxn ang="0">
                <a:pos x="11718925" y="20832762"/>
              </a:cxn>
              <a:cxn ang="0">
                <a:pos x="0" y="20832762"/>
              </a:cxn>
              <a:cxn ang="0">
                <a:pos x="0" y="0"/>
              </a:cxn>
            </a:cxnLst>
            <a:rect l="0" t="0" r="0" b="0"/>
            <a:pathLst>
              <a:path w="11718479" h="20832852">
                <a:moveTo>
                  <a:pt x="0" y="0"/>
                </a:moveTo>
                <a:lnTo>
                  <a:pt x="11718479" y="0"/>
                </a:lnTo>
                <a:lnTo>
                  <a:pt x="11718479" y="20832851"/>
                </a:lnTo>
                <a:lnTo>
                  <a:pt x="0" y="20832851"/>
                </a:lnTo>
                <a:lnTo>
                  <a:pt x="0" y="0"/>
                </a:lnTo>
                <a:close/>
              </a:path>
            </a:pathLst>
          </a:custGeom>
          <a:blipFill rotWithShape="1">
            <a:blip r:embed="rId2"/>
            <a:stretch>
              <a:fillRect/>
            </a:stretch>
          </a:blipFill>
          <a:ln w="9525">
            <a:noFill/>
          </a:ln>
        </p:spPr>
        <p:txBody>
          <a:bodyPr/>
          <a:lstStyle/>
          <a:p>
            <a:endParaRPr lang="en-US"/>
          </a:p>
        </p:txBody>
      </p:sp>
      <p:sp>
        <p:nvSpPr>
          <p:cNvPr id="13315" name="Freeform 3"/>
          <p:cNvSpPr/>
          <p:nvPr/>
        </p:nvSpPr>
        <p:spPr>
          <a:xfrm flipV="1">
            <a:off x="2416545" y="1583528"/>
            <a:ext cx="2070866" cy="2027997"/>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13316" name="Freeform 4"/>
          <p:cNvSpPr/>
          <p:nvPr/>
        </p:nvSpPr>
        <p:spPr>
          <a:xfrm flipH="1">
            <a:off x="13641755" y="6810376"/>
            <a:ext cx="2070866" cy="2027997"/>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13317" name="Freeform 5"/>
          <p:cNvSpPr/>
          <p:nvPr/>
        </p:nvSpPr>
        <p:spPr>
          <a:xfrm>
            <a:off x="13449143" y="1583531"/>
            <a:ext cx="3612170" cy="3537393"/>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13318" name="Freeform 6"/>
          <p:cNvSpPr/>
          <p:nvPr/>
        </p:nvSpPr>
        <p:spPr>
          <a:xfrm>
            <a:off x="2033326" y="6810377"/>
            <a:ext cx="2364913" cy="2315956"/>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grpSp>
        <p:nvGrpSpPr>
          <p:cNvPr id="13319" name="Group 7"/>
          <p:cNvGrpSpPr/>
          <p:nvPr/>
        </p:nvGrpSpPr>
        <p:grpSpPr>
          <a:xfrm>
            <a:off x="1350257" y="1583531"/>
            <a:ext cx="15719626" cy="8161116"/>
            <a:chOff x="0" y="0"/>
            <a:chExt cx="3259624" cy="1353377"/>
          </a:xfrm>
        </p:grpSpPr>
        <p:sp>
          <p:nvSpPr>
            <p:cNvPr id="13322" name="Freeform 8"/>
            <p:cNvSpPr/>
            <p:nvPr/>
          </p:nvSpPr>
          <p:spPr>
            <a:xfrm>
              <a:off x="0" y="0"/>
              <a:ext cx="3259624" cy="1353377"/>
            </a:xfrm>
            <a:custGeom>
              <a:avLst/>
              <a:gdLst/>
              <a:ahLst/>
              <a:cxnLst>
                <a:cxn ang="0">
                  <a:pos x="31903" y="0"/>
                </a:cxn>
                <a:cxn ang="0">
                  <a:pos x="3227722" y="0"/>
                </a:cxn>
                <a:cxn ang="0">
                  <a:pos x="3250280" y="9344"/>
                </a:cxn>
                <a:cxn ang="0">
                  <a:pos x="3259624" y="31903"/>
                </a:cxn>
                <a:cxn ang="0">
                  <a:pos x="3259624" y="1321475"/>
                </a:cxn>
                <a:cxn ang="0">
                  <a:pos x="3250280" y="1344033"/>
                </a:cxn>
                <a:cxn ang="0">
                  <a:pos x="3227722" y="1353377"/>
                </a:cxn>
                <a:cxn ang="0">
                  <a:pos x="31903" y="1353377"/>
                </a:cxn>
                <a:cxn ang="0">
                  <a:pos x="9344" y="1344033"/>
                </a:cxn>
                <a:cxn ang="0">
                  <a:pos x="0" y="1321475"/>
                </a:cxn>
                <a:cxn ang="0">
                  <a:pos x="0" y="31903"/>
                </a:cxn>
                <a:cxn ang="0">
                  <a:pos x="9344" y="9344"/>
                </a:cxn>
                <a:cxn ang="0">
                  <a:pos x="31903" y="0"/>
                </a:cxn>
              </a:cxnLst>
              <a:rect l="0" t="0" r="0" b="0"/>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alpha val="100000"/>
              </a:srgbClr>
            </a:solidFill>
            <a:ln w="9525">
              <a:noFill/>
            </a:ln>
          </p:spPr>
          <p:txBody>
            <a:bodyPr/>
            <a:lstStyle/>
            <a:p>
              <a:endParaRPr lang="en-US"/>
            </a:p>
          </p:txBody>
        </p:sp>
        <p:sp>
          <p:nvSpPr>
            <p:cNvPr id="13323" name="TextBox 9"/>
            <p:cNvSpPr txBox="1"/>
            <p:nvPr/>
          </p:nvSpPr>
          <p:spPr>
            <a:xfrm>
              <a:off x="0" y="-38100"/>
              <a:ext cx="3259624" cy="1391477"/>
            </a:xfrm>
            <a:prstGeom prst="rect">
              <a:avLst/>
            </a:prstGeom>
            <a:noFill/>
            <a:ln w="9525">
              <a:noFill/>
            </a:ln>
          </p:spPr>
          <p:txBody>
            <a:bodyPr lIns="38100" tIns="38100" rIns="38100" bIns="381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eaLnBrk="1" hangingPunct="1">
                <a:lnSpc>
                  <a:spcPts val="1999"/>
                </a:lnSpc>
                <a:spcBef>
                  <a:spcPct val="0"/>
                </a:spcBef>
                <a:buNone/>
              </a:pPr>
              <a:endParaRPr lang="en-US" altLang="en-US" sz="1350" dirty="0"/>
            </a:p>
          </p:txBody>
        </p:sp>
      </p:grpSp>
      <p:sp>
        <p:nvSpPr>
          <p:cNvPr id="10" name="TextBox 10"/>
          <p:cNvSpPr txBox="1"/>
          <p:nvPr/>
        </p:nvSpPr>
        <p:spPr>
          <a:xfrm>
            <a:off x="3206402" y="717947"/>
            <a:ext cx="11708891" cy="820738"/>
          </a:xfrm>
          <a:prstGeom prst="rect">
            <a:avLst/>
          </a:prstGeom>
        </p:spPr>
        <p:txBody>
          <a:bodyPr wrap="square" lIns="0" tIns="0" rIns="0" bIns="0">
            <a:spAutoFit/>
          </a:bodyPr>
          <a:lstStyle/>
          <a:p>
            <a:pPr algn="ctr" defTabSz="685800">
              <a:lnSpc>
                <a:spcPts val="6420"/>
              </a:lnSpc>
              <a:defRPr/>
            </a:pPr>
            <a:r>
              <a:rPr lang="en-US" sz="6000" b="1" dirty="0">
                <a:solidFill>
                  <a:srgbClr val="3C3F42"/>
                </a:solidFill>
                <a:ea typeface="Aileron Bold"/>
                <a:cs typeface="Aileron Bold"/>
                <a:sym typeface="Aileron Bold"/>
              </a:rPr>
              <a:t>Base Paper Information</a:t>
            </a:r>
            <a:endParaRPr lang="en-US" sz="6000" b="1" dirty="0">
              <a:solidFill>
                <a:srgbClr val="000000"/>
              </a:solidFill>
              <a:latin typeface="+mj-lt"/>
              <a:ea typeface="Alegreya Sans SC Bold" panose="00000800000000000000"/>
              <a:cs typeface="Alegreya Sans SC Bold" panose="00000800000000000000"/>
              <a:sym typeface="Alegreya Sans SC Bold" panose="00000800000000000000"/>
            </a:endParaRPr>
          </a:p>
        </p:txBody>
      </p:sp>
      <p:sp>
        <p:nvSpPr>
          <p:cNvPr id="12" name="TextBox 11"/>
          <p:cNvSpPr txBox="1"/>
          <p:nvPr/>
        </p:nvSpPr>
        <p:spPr>
          <a:xfrm>
            <a:off x="2063805" y="2044106"/>
            <a:ext cx="14190869" cy="103222367"/>
          </a:xfrm>
          <a:prstGeom prst="rect">
            <a:avLst/>
          </a:prstGeom>
          <a:noFill/>
        </p:spPr>
        <p:txBody>
          <a:bodyPr>
            <a:noAutofit/>
          </a:bodyPr>
          <a:lstStyle/>
          <a:p>
            <a:pPr lvl="0" defTabSz="914400" eaLnBrk="0" fontAlgn="base" hangingPunct="0">
              <a:spcBef>
                <a:spcPct val="0"/>
              </a:spcBef>
              <a:spcAft>
                <a:spcPct val="0"/>
              </a:spcAft>
            </a:pPr>
            <a:r>
              <a:rPr lang="en-US" altLang="en-US" sz="3200" dirty="0">
                <a:latin typeface="Times New Roman" panose="02020603050405020304" pitchFamily="18" charset="0"/>
                <a:cs typeface="Times New Roman" panose="02020603050405020304" pitchFamily="18" charset="0"/>
              </a:rPr>
              <a:t>1. S. </a:t>
            </a:r>
            <a:r>
              <a:rPr lang="en-US" altLang="en-US" sz="3200" dirty="0" err="1">
                <a:latin typeface="Times New Roman" panose="02020603050405020304" pitchFamily="18" charset="0"/>
                <a:cs typeface="Times New Roman" panose="02020603050405020304" pitchFamily="18" charset="0"/>
              </a:rPr>
              <a:t>Kurundkar</a:t>
            </a:r>
            <a:r>
              <a:rPr lang="en-US" altLang="en-US" sz="3200" dirty="0">
                <a:latin typeface="Times New Roman" panose="02020603050405020304" pitchFamily="18" charset="0"/>
                <a:cs typeface="Times New Roman" panose="02020603050405020304" pitchFamily="18" charset="0"/>
              </a:rPr>
              <a:t>, S. Rathod, R. </a:t>
            </a:r>
            <a:r>
              <a:rPr lang="en-US" altLang="en-US" sz="3200" dirty="0" err="1">
                <a:latin typeface="Times New Roman" panose="02020603050405020304" pitchFamily="18" charset="0"/>
                <a:cs typeface="Times New Roman" panose="02020603050405020304" pitchFamily="18" charset="0"/>
              </a:rPr>
              <a:t>Sapate</a:t>
            </a:r>
            <a:r>
              <a:rPr lang="en-US" altLang="en-US" sz="3200" dirty="0">
                <a:latin typeface="Times New Roman" panose="02020603050405020304" pitchFamily="18" charset="0"/>
                <a:cs typeface="Times New Roman" panose="02020603050405020304" pitchFamily="18" charset="0"/>
              </a:rPr>
              <a:t>, S. Raut, and S. </a:t>
            </a:r>
            <a:r>
              <a:rPr lang="en-US" altLang="en-US" sz="3200" dirty="0" err="1">
                <a:latin typeface="Times New Roman" panose="02020603050405020304" pitchFamily="18" charset="0"/>
                <a:cs typeface="Times New Roman" panose="02020603050405020304" pitchFamily="18" charset="0"/>
              </a:rPr>
              <a:t>Khopade</a:t>
            </a:r>
            <a:r>
              <a:rPr lang="en-US" altLang="en-US" sz="3200" dirty="0">
                <a:latin typeface="Times New Roman" panose="02020603050405020304" pitchFamily="18" charset="0"/>
                <a:cs typeface="Times New Roman" panose="02020603050405020304" pitchFamily="18" charset="0"/>
              </a:rPr>
              <a:t>, "Vehicle Fuel Theft Detection System," in </a:t>
            </a:r>
            <a:r>
              <a:rPr lang="en-US" altLang="en-US" sz="3200" i="1" dirty="0">
                <a:latin typeface="Times New Roman" panose="02020603050405020304" pitchFamily="18" charset="0"/>
                <a:cs typeface="Times New Roman" panose="02020603050405020304" pitchFamily="18" charset="0"/>
              </a:rPr>
              <a:t>2024 International Conference on Sustainable Communication Networks and Application (ICSCNA)</a:t>
            </a:r>
            <a:r>
              <a:rPr lang="en-US" altLang="en-US" sz="3200" dirty="0">
                <a:latin typeface="Times New Roman" panose="02020603050405020304" pitchFamily="18" charset="0"/>
                <a:cs typeface="Times New Roman" panose="02020603050405020304" pitchFamily="18" charset="0"/>
              </a:rPr>
              <a:t>, Pune, India, 2024, pp. 1570-1577, </a:t>
            </a:r>
            <a:r>
              <a:rPr lang="en-US" altLang="en-US" sz="3200" dirty="0" err="1">
                <a:latin typeface="Times New Roman" panose="02020603050405020304" pitchFamily="18" charset="0"/>
                <a:cs typeface="Times New Roman" panose="02020603050405020304" pitchFamily="18" charset="0"/>
              </a:rPr>
              <a:t>doi</a:t>
            </a:r>
            <a:r>
              <a:rPr lang="en-US" altLang="en-US" sz="3200" dirty="0">
                <a:latin typeface="Times New Roman" panose="02020603050405020304" pitchFamily="18" charset="0"/>
                <a:cs typeface="Times New Roman" panose="02020603050405020304" pitchFamily="18" charset="0"/>
              </a:rPr>
              <a:t>: 10.1109/ICSCNA63714.2024.10864281. </a:t>
            </a:r>
          </a:p>
          <a:p>
            <a:pPr lvl="0" defTabSz="914400" eaLnBrk="0" fontAlgn="base" hangingPunct="0">
              <a:spcBef>
                <a:spcPct val="0"/>
              </a:spcBef>
              <a:spcAft>
                <a:spcPct val="0"/>
              </a:spcAft>
            </a:pPr>
            <a:endParaRPr lang="en-US" altLang="en-US" sz="3200" dirty="0">
              <a:latin typeface="Times New Roman" panose="02020603050405020304" pitchFamily="18" charset="0"/>
              <a:cs typeface="Times New Roman" panose="02020603050405020304" pitchFamily="18" charset="0"/>
            </a:endParaRPr>
          </a:p>
          <a:p>
            <a:pPr algn="just">
              <a:lnSpc>
                <a:spcPct val="150000"/>
              </a:lnSpc>
            </a:pPr>
            <a:r>
              <a:rPr lang="en-US" altLang="en-US" sz="3200" dirty="0">
                <a:latin typeface="Times New Roman" panose="02020603050405020304" pitchFamily="18" charset="0"/>
                <a:cs typeface="Times New Roman" panose="02020603050405020304" pitchFamily="18" charset="0"/>
              </a:rPr>
              <a:t>2.</a:t>
            </a:r>
            <a:r>
              <a:rPr lang="en-IN" sz="3200" b="1"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A. Madhavan, S. Sivan J, </a:t>
            </a:r>
            <a:r>
              <a:rPr lang="en-IN" sz="3200" dirty="0" err="1">
                <a:latin typeface="Times New Roman" panose="02020603050405020304" pitchFamily="18" charset="0"/>
                <a:cs typeface="Times New Roman" panose="02020603050405020304" pitchFamily="18" charset="0"/>
              </a:rPr>
              <a:t>Ayyarraja</a:t>
            </a:r>
            <a:r>
              <a:rPr lang="en-IN" sz="3200" dirty="0">
                <a:latin typeface="Times New Roman" panose="02020603050405020304" pitchFamily="18" charset="0"/>
                <a:cs typeface="Times New Roman" panose="02020603050405020304" pitchFamily="18" charset="0"/>
              </a:rPr>
              <a:t>, and S. A, "Detecting Fuel Theft with Arduino," in </a:t>
            </a:r>
            <a:r>
              <a:rPr lang="en-IN" sz="3200" i="1" dirty="0">
                <a:latin typeface="Times New Roman" panose="02020603050405020304" pitchFamily="18" charset="0"/>
                <a:cs typeface="Times New Roman" panose="02020603050405020304" pitchFamily="18" charset="0"/>
              </a:rPr>
              <a:t>2024 Second International Conference on Emerging Trends in Information Technology and Engineering (ICETITE)</a:t>
            </a:r>
            <a:r>
              <a:rPr lang="en-IN" sz="3200" dirty="0">
                <a:latin typeface="Times New Roman" panose="02020603050405020304" pitchFamily="18" charset="0"/>
                <a:cs typeface="Times New Roman" panose="02020603050405020304" pitchFamily="18" charset="0"/>
              </a:rPr>
              <a:t>, Chennai, India, 2024, pp. 1-6, </a:t>
            </a:r>
            <a:r>
              <a:rPr lang="en-IN" sz="3200" dirty="0" err="1">
                <a:latin typeface="Times New Roman" panose="02020603050405020304" pitchFamily="18" charset="0"/>
                <a:cs typeface="Times New Roman" panose="02020603050405020304" pitchFamily="18" charset="0"/>
              </a:rPr>
              <a:t>doi</a:t>
            </a:r>
            <a:r>
              <a:rPr lang="en-IN" sz="3200" dirty="0">
                <a:latin typeface="Times New Roman" panose="02020603050405020304" pitchFamily="18" charset="0"/>
                <a:cs typeface="Times New Roman" panose="02020603050405020304" pitchFamily="18" charset="0"/>
              </a:rPr>
              <a:t>: 10.1109/IC-ETITE58242.2024.10493392</a:t>
            </a:r>
            <a:endParaRPr lang="en-US" alt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EE4D4-0919-9554-9FEF-8907751CF127}"/>
            </a:ext>
          </a:extLst>
        </p:cNvPr>
        <p:cNvGrpSpPr/>
        <p:nvPr/>
      </p:nvGrpSpPr>
      <p:grpSpPr>
        <a:xfrm>
          <a:off x="0" y="0"/>
          <a:ext cx="0" cy="0"/>
          <a:chOff x="0" y="0"/>
          <a:chExt cx="0" cy="0"/>
        </a:xfrm>
      </p:grpSpPr>
      <p:sp>
        <p:nvSpPr>
          <p:cNvPr id="14338" name="Freeform 2">
            <a:extLst>
              <a:ext uri="{FF2B5EF4-FFF2-40B4-BE49-F238E27FC236}">
                <a16:creationId xmlns:a16="http://schemas.microsoft.com/office/drawing/2014/main" id="{E0F2391D-B1A0-11DF-6409-47A5FE81807A}"/>
              </a:ext>
            </a:extLst>
          </p:cNvPr>
          <p:cNvSpPr/>
          <p:nvPr/>
        </p:nvSpPr>
        <p:spPr>
          <a:xfrm rot="-5400000">
            <a:off x="4000500" y="-3886200"/>
            <a:ext cx="10286999" cy="18288000"/>
          </a:xfrm>
          <a:custGeom>
            <a:avLst/>
            <a:gdLst/>
            <a:ahLst/>
            <a:cxnLst>
              <a:cxn ang="0">
                <a:pos x="0" y="0"/>
              </a:cxn>
              <a:cxn ang="0">
                <a:pos x="11718925" y="0"/>
              </a:cxn>
              <a:cxn ang="0">
                <a:pos x="11718925" y="20832762"/>
              </a:cxn>
              <a:cxn ang="0">
                <a:pos x="0" y="20832762"/>
              </a:cxn>
              <a:cxn ang="0">
                <a:pos x="0" y="0"/>
              </a:cxn>
            </a:cxnLst>
            <a:rect l="0" t="0" r="0" b="0"/>
            <a:pathLst>
              <a:path w="11718479" h="20832852">
                <a:moveTo>
                  <a:pt x="0" y="0"/>
                </a:moveTo>
                <a:lnTo>
                  <a:pt x="11718479" y="0"/>
                </a:lnTo>
                <a:lnTo>
                  <a:pt x="11718479" y="20832851"/>
                </a:lnTo>
                <a:lnTo>
                  <a:pt x="0" y="20832851"/>
                </a:lnTo>
                <a:lnTo>
                  <a:pt x="0" y="0"/>
                </a:lnTo>
                <a:close/>
              </a:path>
            </a:pathLst>
          </a:custGeom>
          <a:blipFill rotWithShape="1">
            <a:blip r:embed="rId2"/>
            <a:stretch>
              <a:fillRect/>
            </a:stretch>
          </a:blipFill>
          <a:ln w="9525">
            <a:noFill/>
          </a:ln>
        </p:spPr>
        <p:txBody>
          <a:bodyPr/>
          <a:lstStyle/>
          <a:p>
            <a:endParaRPr lang="en-US"/>
          </a:p>
        </p:txBody>
      </p:sp>
      <p:sp>
        <p:nvSpPr>
          <p:cNvPr id="14339" name="Freeform 3">
            <a:extLst>
              <a:ext uri="{FF2B5EF4-FFF2-40B4-BE49-F238E27FC236}">
                <a16:creationId xmlns:a16="http://schemas.microsoft.com/office/drawing/2014/main" id="{DE924AFB-DB6D-4BBD-982B-A965BAF8F7BB}"/>
              </a:ext>
            </a:extLst>
          </p:cNvPr>
          <p:cNvSpPr/>
          <p:nvPr/>
        </p:nvSpPr>
        <p:spPr>
          <a:xfrm flipV="1">
            <a:off x="2424230" y="1432778"/>
            <a:ext cx="2070866" cy="2070778"/>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14340" name="Freeform 4">
            <a:extLst>
              <a:ext uri="{FF2B5EF4-FFF2-40B4-BE49-F238E27FC236}">
                <a16:creationId xmlns:a16="http://schemas.microsoft.com/office/drawing/2014/main" id="{AE5504F0-4ACE-EBD5-68D7-20B9F56DEAE6}"/>
              </a:ext>
            </a:extLst>
          </p:cNvPr>
          <p:cNvSpPr/>
          <p:nvPr/>
        </p:nvSpPr>
        <p:spPr>
          <a:xfrm flipH="1">
            <a:off x="13649441" y="6659622"/>
            <a:ext cx="2070866" cy="2070778"/>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14341" name="Freeform 5">
            <a:extLst>
              <a:ext uri="{FF2B5EF4-FFF2-40B4-BE49-F238E27FC236}">
                <a16:creationId xmlns:a16="http://schemas.microsoft.com/office/drawing/2014/main" id="{4E55532C-A675-E747-E61E-393FF0A5763C}"/>
              </a:ext>
            </a:extLst>
          </p:cNvPr>
          <p:cNvSpPr/>
          <p:nvPr/>
        </p:nvSpPr>
        <p:spPr>
          <a:xfrm>
            <a:off x="13462548" y="1320573"/>
            <a:ext cx="3612169" cy="3612016"/>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14342" name="Freeform 6">
            <a:extLst>
              <a:ext uri="{FF2B5EF4-FFF2-40B4-BE49-F238E27FC236}">
                <a16:creationId xmlns:a16="http://schemas.microsoft.com/office/drawing/2014/main" id="{67DCCAC1-6AF2-E73B-E836-82629DACAFA2}"/>
              </a:ext>
            </a:extLst>
          </p:cNvPr>
          <p:cNvSpPr/>
          <p:nvPr/>
        </p:nvSpPr>
        <p:spPr>
          <a:xfrm>
            <a:off x="2042104" y="6638216"/>
            <a:ext cx="2364912" cy="2364811"/>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grpSp>
        <p:nvGrpSpPr>
          <p:cNvPr id="14343" name="Group 7">
            <a:extLst>
              <a:ext uri="{FF2B5EF4-FFF2-40B4-BE49-F238E27FC236}">
                <a16:creationId xmlns:a16="http://schemas.microsoft.com/office/drawing/2014/main" id="{0878780D-F5F8-3552-2D8A-FB78C8B5D480}"/>
              </a:ext>
            </a:extLst>
          </p:cNvPr>
          <p:cNvGrpSpPr/>
          <p:nvPr/>
        </p:nvGrpSpPr>
        <p:grpSpPr>
          <a:xfrm>
            <a:off x="1403667" y="976862"/>
            <a:ext cx="15760260" cy="8333277"/>
            <a:chOff x="0" y="0"/>
            <a:chExt cx="3268050" cy="1353377"/>
          </a:xfrm>
        </p:grpSpPr>
        <p:sp>
          <p:nvSpPr>
            <p:cNvPr id="14346" name="Freeform 8">
              <a:extLst>
                <a:ext uri="{FF2B5EF4-FFF2-40B4-BE49-F238E27FC236}">
                  <a16:creationId xmlns:a16="http://schemas.microsoft.com/office/drawing/2014/main" id="{3058D761-561A-1FBE-18FE-B0060B85E59C}"/>
                </a:ext>
              </a:extLst>
            </p:cNvPr>
            <p:cNvSpPr/>
            <p:nvPr/>
          </p:nvSpPr>
          <p:spPr>
            <a:xfrm>
              <a:off x="0" y="0"/>
              <a:ext cx="3259624" cy="1353377"/>
            </a:xfrm>
            <a:custGeom>
              <a:avLst/>
              <a:gdLst/>
              <a:ahLst/>
              <a:cxnLst>
                <a:cxn ang="0">
                  <a:pos x="31903" y="0"/>
                </a:cxn>
                <a:cxn ang="0">
                  <a:pos x="3227722" y="0"/>
                </a:cxn>
                <a:cxn ang="0">
                  <a:pos x="3250280" y="9344"/>
                </a:cxn>
                <a:cxn ang="0">
                  <a:pos x="3259624" y="31903"/>
                </a:cxn>
                <a:cxn ang="0">
                  <a:pos x="3259624" y="1321475"/>
                </a:cxn>
                <a:cxn ang="0">
                  <a:pos x="3250280" y="1344033"/>
                </a:cxn>
                <a:cxn ang="0">
                  <a:pos x="3227722" y="1353377"/>
                </a:cxn>
                <a:cxn ang="0">
                  <a:pos x="31903" y="1353377"/>
                </a:cxn>
                <a:cxn ang="0">
                  <a:pos x="9344" y="1344033"/>
                </a:cxn>
                <a:cxn ang="0">
                  <a:pos x="0" y="1321475"/>
                </a:cxn>
                <a:cxn ang="0">
                  <a:pos x="0" y="31903"/>
                </a:cxn>
                <a:cxn ang="0">
                  <a:pos x="9344" y="9344"/>
                </a:cxn>
                <a:cxn ang="0">
                  <a:pos x="31903" y="0"/>
                </a:cxn>
              </a:cxnLst>
              <a:rect l="0" t="0" r="0" b="0"/>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alpha val="100000"/>
              </a:srgbClr>
            </a:solidFill>
            <a:ln w="9525">
              <a:noFill/>
            </a:ln>
          </p:spPr>
          <p:txBody>
            <a:bodyPr/>
            <a:lstStyle/>
            <a:p>
              <a:endParaRPr lang="en-US"/>
            </a:p>
          </p:txBody>
        </p:sp>
        <p:sp>
          <p:nvSpPr>
            <p:cNvPr id="14347" name="TextBox 9">
              <a:extLst>
                <a:ext uri="{FF2B5EF4-FFF2-40B4-BE49-F238E27FC236}">
                  <a16:creationId xmlns:a16="http://schemas.microsoft.com/office/drawing/2014/main" id="{94C5ED77-060B-74B5-C128-8014A60655DA}"/>
                </a:ext>
              </a:extLst>
            </p:cNvPr>
            <p:cNvSpPr txBox="1"/>
            <p:nvPr/>
          </p:nvSpPr>
          <p:spPr>
            <a:xfrm>
              <a:off x="63909" y="88490"/>
              <a:ext cx="3204141" cy="1176397"/>
            </a:xfrm>
            <a:prstGeom prst="rect">
              <a:avLst/>
            </a:prstGeom>
            <a:noFill/>
            <a:ln w="9525">
              <a:noFill/>
            </a:ln>
          </p:spPr>
          <p:txBody>
            <a:bodyPr lIns="38100" tIns="38100" rIns="38100" bIns="381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557213" indent="-557213">
                <a:spcBef>
                  <a:spcPct val="0"/>
                </a:spcBef>
                <a:buFont typeface="+mj-lt"/>
                <a:buAutoNum type="arabicPeriod"/>
              </a:pPr>
              <a:r>
                <a:rPr lang="en-US" altLang="en-US" sz="2400" b="1" dirty="0">
                  <a:latin typeface="Arial" panose="020B0604020202020204" pitchFamily="34" charset="0"/>
                </a:rPr>
                <a:t>Madhusudhana Rao, G., et al.</a:t>
              </a:r>
              <a:r>
                <a:rPr lang="en-US" altLang="en-US" sz="2400" dirty="0">
                  <a:latin typeface="Arial" panose="020B0604020202020204" pitchFamily="34" charset="0"/>
                </a:rPr>
                <a:t> "Fuel Theft Detection System with Automated Calling and Alert Using GSM." </a:t>
              </a:r>
              <a:r>
                <a:rPr lang="en-US" altLang="en-US" sz="2400" i="1" dirty="0">
                  <a:latin typeface="Arial" panose="020B0604020202020204" pitchFamily="34" charset="0"/>
                </a:rPr>
                <a:t>International Journal of Innovative Research in Science, Engineering and Technology</a:t>
              </a:r>
              <a:r>
                <a:rPr lang="en-US" altLang="en-US" sz="2400" dirty="0">
                  <a:latin typeface="Arial" panose="020B0604020202020204" pitchFamily="34" charset="0"/>
                </a:rPr>
                <a:t>, 2024.</a:t>
              </a:r>
            </a:p>
            <a:p>
              <a:pPr marL="557213" indent="-557213">
                <a:spcBef>
                  <a:spcPct val="0"/>
                </a:spcBef>
                <a:buFont typeface="+mj-lt"/>
                <a:buAutoNum type="arabicPeriod"/>
              </a:pPr>
              <a:endParaRPr lang="en-US" altLang="en-US" sz="2400" dirty="0">
                <a:latin typeface="Arial" panose="020B0604020202020204" pitchFamily="34" charset="0"/>
              </a:endParaRPr>
            </a:p>
            <a:p>
              <a:pPr marL="557213" indent="-557213">
                <a:spcBef>
                  <a:spcPct val="0"/>
                </a:spcBef>
                <a:buFont typeface="+mj-lt"/>
                <a:buAutoNum type="arabicPeriod"/>
              </a:pPr>
              <a:r>
                <a:rPr lang="en-US" altLang="en-US" sz="2400" b="1" dirty="0">
                  <a:latin typeface="Arial" panose="020B0604020202020204" pitchFamily="34" charset="0"/>
                </a:rPr>
                <a:t>Chaudhari, Durvesh S., et al.</a:t>
              </a:r>
              <a:r>
                <a:rPr lang="en-US" altLang="en-US" sz="2400" dirty="0">
                  <a:latin typeface="Arial" panose="020B0604020202020204" pitchFamily="34" charset="0"/>
                </a:rPr>
                <a:t> "Fuel Monitoring System Using IoT Device." </a:t>
              </a:r>
              <a:r>
                <a:rPr lang="en-US" altLang="en-US" sz="2400" i="1" dirty="0">
                  <a:latin typeface="Arial" panose="020B0604020202020204" pitchFamily="34" charset="0"/>
                </a:rPr>
                <a:t>International Research Journal of Modernization in Engineering Technology and Science</a:t>
              </a:r>
              <a:r>
                <a:rPr lang="en-US" altLang="en-US" sz="2400" dirty="0">
                  <a:latin typeface="Arial" panose="020B0604020202020204" pitchFamily="34" charset="0"/>
                </a:rPr>
                <a:t>, 2024.</a:t>
              </a:r>
            </a:p>
            <a:p>
              <a:pPr marL="557213" indent="-557213">
                <a:spcBef>
                  <a:spcPct val="0"/>
                </a:spcBef>
                <a:buFont typeface="+mj-lt"/>
                <a:buAutoNum type="arabicPeriod"/>
              </a:pPr>
              <a:endParaRPr lang="en-US" altLang="en-US" sz="2400" dirty="0">
                <a:latin typeface="Arial" panose="020B0604020202020204" pitchFamily="34" charset="0"/>
              </a:endParaRPr>
            </a:p>
            <a:p>
              <a:pPr marL="557213" indent="-557213">
                <a:spcBef>
                  <a:spcPct val="0"/>
                </a:spcBef>
                <a:buFont typeface="+mj-lt"/>
                <a:buAutoNum type="arabicPeriod"/>
              </a:pPr>
              <a:r>
                <a:rPr lang="en-US" altLang="en-US" sz="2400" b="1" dirty="0" err="1">
                  <a:latin typeface="Arial" panose="020B0604020202020204" pitchFamily="34" charset="0"/>
                </a:rPr>
                <a:t>Pillutla</a:t>
              </a:r>
              <a:r>
                <a:rPr lang="en-US" altLang="en-US" sz="2400" b="1" dirty="0">
                  <a:latin typeface="Arial" panose="020B0604020202020204" pitchFamily="34" charset="0"/>
                </a:rPr>
                <a:t>, Siva Ramakrishna, et al.</a:t>
              </a:r>
              <a:r>
                <a:rPr lang="en-US" altLang="en-US" sz="2400" dirty="0">
                  <a:latin typeface="Arial" panose="020B0604020202020204" pitchFamily="34" charset="0"/>
                </a:rPr>
                <a:t> "Design and Implementation of Vehicle Theft Prevention by Operating Fuel Injector." </a:t>
              </a:r>
              <a:r>
                <a:rPr lang="en-US" altLang="en-US" sz="2400" i="1" dirty="0">
                  <a:latin typeface="Arial" panose="020B0604020202020204" pitchFamily="34" charset="0"/>
                </a:rPr>
                <a:t>Third International Conference on Augmented Intelligence and Sustainable Systems (ICAISS)</a:t>
              </a:r>
              <a:r>
                <a:rPr lang="en-US" altLang="en-US" sz="2400" dirty="0">
                  <a:latin typeface="Arial" panose="020B0604020202020204" pitchFamily="34" charset="0"/>
                </a:rPr>
                <a:t>, 2025.</a:t>
              </a:r>
            </a:p>
            <a:p>
              <a:pPr marL="557213" indent="-557213">
                <a:spcBef>
                  <a:spcPct val="0"/>
                </a:spcBef>
                <a:buFont typeface="+mj-lt"/>
                <a:buAutoNum type="arabicPeriod"/>
              </a:pPr>
              <a:endParaRPr lang="en-US" altLang="en-US" sz="2400" dirty="0">
                <a:latin typeface="Arial" panose="020B0604020202020204" pitchFamily="34" charset="0"/>
              </a:endParaRPr>
            </a:p>
            <a:p>
              <a:pPr marL="557213" indent="-557213">
                <a:spcBef>
                  <a:spcPct val="0"/>
                </a:spcBef>
                <a:buFont typeface="+mj-lt"/>
                <a:buAutoNum type="arabicPeriod"/>
              </a:pPr>
              <a:r>
                <a:rPr lang="en-US" altLang="en-US" sz="2400" b="1" dirty="0">
                  <a:latin typeface="Arial" panose="020B0604020202020204" pitchFamily="34" charset="0"/>
                </a:rPr>
                <a:t>Sharma, Rashika A., et al.</a:t>
              </a:r>
              <a:r>
                <a:rPr lang="en-US" altLang="en-US" sz="2400" dirty="0">
                  <a:latin typeface="Arial" panose="020B0604020202020204" pitchFamily="34" charset="0"/>
                </a:rPr>
                <a:t> "IoT Based Fuel Tank Monitoring System." </a:t>
              </a:r>
              <a:r>
                <a:rPr lang="en-US" altLang="en-US" sz="2400" i="1" dirty="0">
                  <a:latin typeface="Arial" panose="020B0604020202020204" pitchFamily="34" charset="0"/>
                </a:rPr>
                <a:t>International Research Journal of Modernization in Engineering Technology and Science</a:t>
              </a:r>
              <a:r>
                <a:rPr lang="en-US" altLang="en-US" sz="2400" dirty="0">
                  <a:latin typeface="Arial" panose="020B0604020202020204" pitchFamily="34" charset="0"/>
                </a:rPr>
                <a:t>, 2025.</a:t>
              </a:r>
            </a:p>
            <a:p>
              <a:pPr marL="557213" indent="-557213">
                <a:spcBef>
                  <a:spcPct val="0"/>
                </a:spcBef>
                <a:buFont typeface="+mj-lt"/>
                <a:buAutoNum type="arabicPeriod"/>
              </a:pPr>
              <a:endParaRPr lang="en-US" altLang="en-US" sz="2400" dirty="0">
                <a:latin typeface="Arial" panose="020B0604020202020204" pitchFamily="34" charset="0"/>
              </a:endParaRPr>
            </a:p>
            <a:p>
              <a:pPr marL="557213" indent="-557213">
                <a:spcBef>
                  <a:spcPct val="0"/>
                </a:spcBef>
                <a:buFont typeface="+mj-lt"/>
                <a:buAutoNum type="arabicPeriod"/>
              </a:pPr>
              <a:r>
                <a:rPr lang="en-US" altLang="en-US" sz="2400" b="1" dirty="0">
                  <a:latin typeface="Arial" panose="020B0604020202020204" pitchFamily="34" charset="0"/>
                </a:rPr>
                <a:t>Deekshitha, R., et al.</a:t>
              </a:r>
              <a:r>
                <a:rPr lang="en-US" altLang="en-US" sz="2400" dirty="0">
                  <a:latin typeface="Arial" panose="020B0604020202020204" pitchFamily="34" charset="0"/>
                </a:rPr>
                <a:t> "Smart Fuel Level Monitoring and Alerting System Based on IoT." </a:t>
              </a:r>
              <a:r>
                <a:rPr lang="en-US" altLang="en-US" sz="2400" i="1" dirty="0">
                  <a:latin typeface="Arial" panose="020B0604020202020204" pitchFamily="34" charset="0"/>
                </a:rPr>
                <a:t>Futuristic Trends in IOT</a:t>
              </a:r>
              <a:r>
                <a:rPr lang="en-US" altLang="en-US" sz="2400" dirty="0">
                  <a:latin typeface="Arial" panose="020B0604020202020204" pitchFamily="34" charset="0"/>
                </a:rPr>
                <a:t>, 2024.</a:t>
              </a:r>
            </a:p>
            <a:p>
              <a:pPr marL="557213" indent="-557213" algn="ctr" eaLnBrk="1" hangingPunct="1">
                <a:lnSpc>
                  <a:spcPts val="1999"/>
                </a:lnSpc>
                <a:spcBef>
                  <a:spcPct val="0"/>
                </a:spcBef>
                <a:buFont typeface="+mj-lt"/>
                <a:buAutoNum type="arabicPeriod"/>
              </a:pPr>
              <a:endParaRPr lang="en-US" altLang="en-US" sz="2400" dirty="0"/>
            </a:p>
          </p:txBody>
        </p:sp>
      </p:grpSp>
      <p:sp>
        <p:nvSpPr>
          <p:cNvPr id="10" name="TextBox 10">
            <a:extLst>
              <a:ext uri="{FF2B5EF4-FFF2-40B4-BE49-F238E27FC236}">
                <a16:creationId xmlns:a16="http://schemas.microsoft.com/office/drawing/2014/main" id="{8DEBE1B9-49DA-07DB-83C0-83F239F7DFAA}"/>
              </a:ext>
            </a:extLst>
          </p:cNvPr>
          <p:cNvSpPr txBox="1"/>
          <p:nvPr/>
        </p:nvSpPr>
        <p:spPr>
          <a:xfrm>
            <a:off x="3727170" y="1122362"/>
            <a:ext cx="11708890" cy="820738"/>
          </a:xfrm>
          <a:prstGeom prst="rect">
            <a:avLst/>
          </a:prstGeom>
        </p:spPr>
        <p:txBody>
          <a:bodyPr wrap="square" lIns="0" tIns="0" rIns="0" bIns="0">
            <a:spAutoFit/>
          </a:bodyPr>
          <a:lstStyle/>
          <a:p>
            <a:pPr algn="ctr" defTabSz="685800">
              <a:lnSpc>
                <a:spcPts val="6420"/>
              </a:lnSpc>
              <a:defRPr/>
            </a:pPr>
            <a:r>
              <a:rPr lang="en-US" sz="6000" b="1" dirty="0">
                <a:solidFill>
                  <a:srgbClr val="3C3F42"/>
                </a:solidFill>
                <a:ea typeface="Aileron Bold"/>
                <a:cs typeface="Aileron Bold"/>
                <a:sym typeface="Aileron Bold"/>
              </a:rPr>
              <a:t>References</a:t>
            </a:r>
            <a:endParaRPr lang="en-US" sz="6000" b="1" dirty="0">
              <a:solidFill>
                <a:srgbClr val="000000"/>
              </a:solidFill>
              <a:latin typeface="+mj-lt"/>
              <a:ea typeface="Alegreya Sans SC Bold" panose="00000800000000000000"/>
              <a:cs typeface="Alegreya Sans SC Bold" panose="00000800000000000000"/>
              <a:sym typeface="Alegreya Sans SC Bold" panose="00000800000000000000"/>
            </a:endParaRPr>
          </a:p>
        </p:txBody>
      </p:sp>
      <p:sp>
        <p:nvSpPr>
          <p:cNvPr id="7" name="Rectangle 5">
            <a:extLst>
              <a:ext uri="{FF2B5EF4-FFF2-40B4-BE49-F238E27FC236}">
                <a16:creationId xmlns:a16="http://schemas.microsoft.com/office/drawing/2014/main" id="{63D1F160-DBCD-60A3-1E91-9890D80C35C2}"/>
              </a:ext>
            </a:extLst>
          </p:cNvPr>
          <p:cNvSpPr>
            <a:spLocks noChangeArrowheads="1"/>
          </p:cNvSpPr>
          <p:nvPr/>
        </p:nvSpPr>
        <p:spPr bwMode="auto">
          <a:xfrm>
            <a:off x="2257697" y="1123775"/>
            <a:ext cx="233407" cy="324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a:buFontTx/>
              <a:buChar char="•"/>
            </a:pPr>
            <a:endParaRPr lang="en-US" altLang="en-US" sz="1350" dirty="0">
              <a:latin typeface="Arial" panose="020B0604020202020204" pitchFamily="34" charset="0"/>
            </a:endParaRPr>
          </a:p>
        </p:txBody>
      </p:sp>
    </p:spTree>
    <p:extLst>
      <p:ext uri="{BB962C8B-B14F-4D97-AF65-F5344CB8AC3E}">
        <p14:creationId xmlns:p14="http://schemas.microsoft.com/office/powerpoint/2010/main" val="2350526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F347B-9B08-BE67-8FE9-4F49D41BE29D}"/>
            </a:ext>
          </a:extLst>
        </p:cNvPr>
        <p:cNvGrpSpPr/>
        <p:nvPr/>
      </p:nvGrpSpPr>
      <p:grpSpPr>
        <a:xfrm>
          <a:off x="0" y="0"/>
          <a:ext cx="0" cy="0"/>
          <a:chOff x="0" y="0"/>
          <a:chExt cx="0" cy="0"/>
        </a:xfrm>
      </p:grpSpPr>
      <p:sp>
        <p:nvSpPr>
          <p:cNvPr id="14338" name="Freeform 2">
            <a:extLst>
              <a:ext uri="{FF2B5EF4-FFF2-40B4-BE49-F238E27FC236}">
                <a16:creationId xmlns:a16="http://schemas.microsoft.com/office/drawing/2014/main" id="{25BF1DB8-BEB2-EEFC-2DE7-DC3281CA569C}"/>
              </a:ext>
            </a:extLst>
          </p:cNvPr>
          <p:cNvSpPr/>
          <p:nvPr/>
        </p:nvSpPr>
        <p:spPr>
          <a:xfrm rot="-5400000">
            <a:off x="4000500" y="-4000501"/>
            <a:ext cx="10286999" cy="18288000"/>
          </a:xfrm>
          <a:custGeom>
            <a:avLst/>
            <a:gdLst/>
            <a:ahLst/>
            <a:cxnLst>
              <a:cxn ang="0">
                <a:pos x="0" y="0"/>
              </a:cxn>
              <a:cxn ang="0">
                <a:pos x="11718925" y="0"/>
              </a:cxn>
              <a:cxn ang="0">
                <a:pos x="11718925" y="20832762"/>
              </a:cxn>
              <a:cxn ang="0">
                <a:pos x="0" y="20832762"/>
              </a:cxn>
              <a:cxn ang="0">
                <a:pos x="0" y="0"/>
              </a:cxn>
            </a:cxnLst>
            <a:rect l="0" t="0" r="0" b="0"/>
            <a:pathLst>
              <a:path w="11718479" h="20832852">
                <a:moveTo>
                  <a:pt x="0" y="0"/>
                </a:moveTo>
                <a:lnTo>
                  <a:pt x="11718479" y="0"/>
                </a:lnTo>
                <a:lnTo>
                  <a:pt x="11718479" y="20832851"/>
                </a:lnTo>
                <a:lnTo>
                  <a:pt x="0" y="20832851"/>
                </a:lnTo>
                <a:lnTo>
                  <a:pt x="0" y="0"/>
                </a:lnTo>
                <a:close/>
              </a:path>
            </a:pathLst>
          </a:custGeom>
          <a:blipFill rotWithShape="1">
            <a:blip r:embed="rId2"/>
            <a:stretch>
              <a:fillRect/>
            </a:stretch>
          </a:blipFill>
          <a:ln w="9525">
            <a:noFill/>
          </a:ln>
        </p:spPr>
        <p:txBody>
          <a:bodyPr/>
          <a:lstStyle/>
          <a:p>
            <a:endParaRPr lang="en-US"/>
          </a:p>
        </p:txBody>
      </p:sp>
      <p:sp>
        <p:nvSpPr>
          <p:cNvPr id="14339" name="Freeform 3">
            <a:extLst>
              <a:ext uri="{FF2B5EF4-FFF2-40B4-BE49-F238E27FC236}">
                <a16:creationId xmlns:a16="http://schemas.microsoft.com/office/drawing/2014/main" id="{AD17FA19-6666-42AB-8C9E-61F2594E9918}"/>
              </a:ext>
            </a:extLst>
          </p:cNvPr>
          <p:cNvSpPr/>
          <p:nvPr/>
        </p:nvSpPr>
        <p:spPr>
          <a:xfrm flipV="1">
            <a:off x="2424230" y="1432778"/>
            <a:ext cx="2070866" cy="2070778"/>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14340" name="Freeform 4">
            <a:extLst>
              <a:ext uri="{FF2B5EF4-FFF2-40B4-BE49-F238E27FC236}">
                <a16:creationId xmlns:a16="http://schemas.microsoft.com/office/drawing/2014/main" id="{0BCC22D5-591C-C73F-3030-CD438F13EABD}"/>
              </a:ext>
            </a:extLst>
          </p:cNvPr>
          <p:cNvSpPr/>
          <p:nvPr/>
        </p:nvSpPr>
        <p:spPr>
          <a:xfrm flipH="1">
            <a:off x="13649441" y="6659622"/>
            <a:ext cx="2070866" cy="2070778"/>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14341" name="Freeform 5">
            <a:extLst>
              <a:ext uri="{FF2B5EF4-FFF2-40B4-BE49-F238E27FC236}">
                <a16:creationId xmlns:a16="http://schemas.microsoft.com/office/drawing/2014/main" id="{7F778E4B-77AE-D96C-0BE6-6B7503702909}"/>
              </a:ext>
            </a:extLst>
          </p:cNvPr>
          <p:cNvSpPr/>
          <p:nvPr/>
        </p:nvSpPr>
        <p:spPr>
          <a:xfrm>
            <a:off x="13462548" y="1320573"/>
            <a:ext cx="3612169" cy="3612016"/>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14342" name="Freeform 6">
            <a:extLst>
              <a:ext uri="{FF2B5EF4-FFF2-40B4-BE49-F238E27FC236}">
                <a16:creationId xmlns:a16="http://schemas.microsoft.com/office/drawing/2014/main" id="{8DE1F583-C9D9-3B76-4DC0-C96A11593B4C}"/>
              </a:ext>
            </a:extLst>
          </p:cNvPr>
          <p:cNvSpPr/>
          <p:nvPr/>
        </p:nvSpPr>
        <p:spPr>
          <a:xfrm>
            <a:off x="2042104" y="6638216"/>
            <a:ext cx="2364912" cy="2364811"/>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grpSp>
        <p:nvGrpSpPr>
          <p:cNvPr id="14343" name="Group 7">
            <a:extLst>
              <a:ext uri="{FF2B5EF4-FFF2-40B4-BE49-F238E27FC236}">
                <a16:creationId xmlns:a16="http://schemas.microsoft.com/office/drawing/2014/main" id="{4DDEF92E-DDB0-9FE8-2785-0CB3EE283AE5}"/>
              </a:ext>
            </a:extLst>
          </p:cNvPr>
          <p:cNvGrpSpPr/>
          <p:nvPr/>
        </p:nvGrpSpPr>
        <p:grpSpPr>
          <a:xfrm>
            <a:off x="1528564" y="1344169"/>
            <a:ext cx="15760260" cy="8333277"/>
            <a:chOff x="0" y="0"/>
            <a:chExt cx="3268050" cy="1353377"/>
          </a:xfrm>
        </p:grpSpPr>
        <p:sp>
          <p:nvSpPr>
            <p:cNvPr id="14346" name="Freeform 8">
              <a:extLst>
                <a:ext uri="{FF2B5EF4-FFF2-40B4-BE49-F238E27FC236}">
                  <a16:creationId xmlns:a16="http://schemas.microsoft.com/office/drawing/2014/main" id="{7698007C-88B9-C051-74F3-38D0B7A4F7DD}"/>
                </a:ext>
              </a:extLst>
            </p:cNvPr>
            <p:cNvSpPr/>
            <p:nvPr/>
          </p:nvSpPr>
          <p:spPr>
            <a:xfrm>
              <a:off x="0" y="0"/>
              <a:ext cx="3259624" cy="1353377"/>
            </a:xfrm>
            <a:custGeom>
              <a:avLst/>
              <a:gdLst/>
              <a:ahLst/>
              <a:cxnLst>
                <a:cxn ang="0">
                  <a:pos x="31903" y="0"/>
                </a:cxn>
                <a:cxn ang="0">
                  <a:pos x="3227722" y="0"/>
                </a:cxn>
                <a:cxn ang="0">
                  <a:pos x="3250280" y="9344"/>
                </a:cxn>
                <a:cxn ang="0">
                  <a:pos x="3259624" y="31903"/>
                </a:cxn>
                <a:cxn ang="0">
                  <a:pos x="3259624" y="1321475"/>
                </a:cxn>
                <a:cxn ang="0">
                  <a:pos x="3250280" y="1344033"/>
                </a:cxn>
                <a:cxn ang="0">
                  <a:pos x="3227722" y="1353377"/>
                </a:cxn>
                <a:cxn ang="0">
                  <a:pos x="31903" y="1353377"/>
                </a:cxn>
                <a:cxn ang="0">
                  <a:pos x="9344" y="1344033"/>
                </a:cxn>
                <a:cxn ang="0">
                  <a:pos x="0" y="1321475"/>
                </a:cxn>
                <a:cxn ang="0">
                  <a:pos x="0" y="31903"/>
                </a:cxn>
                <a:cxn ang="0">
                  <a:pos x="9344" y="9344"/>
                </a:cxn>
                <a:cxn ang="0">
                  <a:pos x="31903" y="0"/>
                </a:cxn>
              </a:cxnLst>
              <a:rect l="0" t="0" r="0" b="0"/>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alpha val="100000"/>
              </a:srgbClr>
            </a:solidFill>
            <a:ln w="9525">
              <a:noFill/>
            </a:ln>
          </p:spPr>
          <p:txBody>
            <a:bodyPr/>
            <a:lstStyle/>
            <a:p>
              <a:endParaRPr lang="en-US" dirty="0"/>
            </a:p>
          </p:txBody>
        </p:sp>
        <p:sp>
          <p:nvSpPr>
            <p:cNvPr id="14347" name="TextBox 9">
              <a:extLst>
                <a:ext uri="{FF2B5EF4-FFF2-40B4-BE49-F238E27FC236}">
                  <a16:creationId xmlns:a16="http://schemas.microsoft.com/office/drawing/2014/main" id="{6630A5DC-6E23-2EBD-2F8D-F5A5DA220D1D}"/>
                </a:ext>
              </a:extLst>
            </p:cNvPr>
            <p:cNvSpPr txBox="1"/>
            <p:nvPr/>
          </p:nvSpPr>
          <p:spPr>
            <a:xfrm>
              <a:off x="63909" y="88490"/>
              <a:ext cx="3204141" cy="1176397"/>
            </a:xfrm>
            <a:prstGeom prst="rect">
              <a:avLst/>
            </a:prstGeom>
            <a:noFill/>
            <a:ln w="9525">
              <a:noFill/>
            </a:ln>
          </p:spPr>
          <p:txBody>
            <a:bodyPr lIns="38100" tIns="38100" rIns="38100" bIns="38100"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85763" indent="-385763">
                <a:spcBef>
                  <a:spcPct val="0"/>
                </a:spcBef>
                <a:buAutoNum type="arabicPeriod" startAt="6"/>
              </a:pPr>
              <a:r>
                <a:rPr lang="en-US" altLang="en-US" sz="2400" b="1" dirty="0">
                  <a:latin typeface="Arial" panose="020B0604020202020204" pitchFamily="34" charset="0"/>
                </a:rPr>
                <a:t>Madhavan, Adhithya, and Sheela A.</a:t>
              </a:r>
              <a:r>
                <a:rPr lang="en-US" altLang="en-US" sz="2400" dirty="0">
                  <a:latin typeface="Arial" panose="020B0604020202020204" pitchFamily="34" charset="0"/>
                </a:rPr>
                <a:t> "Detecting Fuel Theft with Arduino." </a:t>
              </a:r>
              <a:r>
                <a:rPr lang="en-US" altLang="en-US" sz="2400" i="1" dirty="0">
                  <a:latin typeface="Arial" panose="020B0604020202020204" pitchFamily="34" charset="0"/>
                </a:rPr>
                <a:t>Second International Conference on Emerging Trends in Information Technology and Engineering (ICETITE)</a:t>
              </a:r>
              <a:r>
                <a:rPr lang="en-US" altLang="en-US" sz="2400" dirty="0">
                  <a:latin typeface="Arial" panose="020B0604020202020204" pitchFamily="34" charset="0"/>
                </a:rPr>
                <a:t>, 2024.</a:t>
              </a:r>
            </a:p>
            <a:p>
              <a:pPr marL="385763" indent="-385763">
                <a:spcBef>
                  <a:spcPct val="0"/>
                </a:spcBef>
                <a:buAutoNum type="arabicPeriod" startAt="6"/>
              </a:pPr>
              <a:endParaRPr lang="en-US" altLang="en-US" sz="2400" dirty="0">
                <a:latin typeface="Arial" panose="020B0604020202020204" pitchFamily="34" charset="0"/>
              </a:endParaRPr>
            </a:p>
            <a:p>
              <a:pPr marL="0" indent="0">
                <a:spcBef>
                  <a:spcPct val="0"/>
                </a:spcBef>
                <a:buNone/>
              </a:pPr>
              <a:r>
                <a:rPr lang="en-US" altLang="en-US" sz="2400" b="1" dirty="0">
                  <a:latin typeface="Arial" panose="020B0604020202020204" pitchFamily="34" charset="0"/>
                </a:rPr>
                <a:t>7.Kurundkar, Sangeeta, et al.</a:t>
              </a:r>
              <a:r>
                <a:rPr lang="en-US" altLang="en-US" sz="2400" dirty="0">
                  <a:latin typeface="Arial" panose="020B0604020202020204" pitchFamily="34" charset="0"/>
                </a:rPr>
                <a:t> "Vehicle Fuel Theft Detection System." </a:t>
              </a:r>
              <a:r>
                <a:rPr lang="en-US" altLang="en-US" sz="2400" i="1" dirty="0">
                  <a:latin typeface="Arial" panose="020B0604020202020204" pitchFamily="34" charset="0"/>
                </a:rPr>
                <a:t>International Conference on Sustainable Communication Networks and Application (ICSCNA)</a:t>
              </a:r>
              <a:r>
                <a:rPr lang="en-US" altLang="en-US" sz="2400" dirty="0">
                  <a:latin typeface="Arial" panose="020B0604020202020204" pitchFamily="34" charset="0"/>
                </a:rPr>
                <a:t>, 2024</a:t>
              </a:r>
            </a:p>
            <a:p>
              <a:pPr marL="0" indent="0">
                <a:spcBef>
                  <a:spcPct val="0"/>
                </a:spcBef>
                <a:buNone/>
              </a:pPr>
              <a:endParaRPr lang="en-US" altLang="en-US" sz="2400" dirty="0">
                <a:latin typeface="Arial" panose="020B0604020202020204" pitchFamily="34" charset="0"/>
              </a:endParaRPr>
            </a:p>
            <a:p>
              <a:pPr marL="0" indent="0">
                <a:spcBef>
                  <a:spcPct val="0"/>
                </a:spcBef>
                <a:buNone/>
              </a:pPr>
              <a:r>
                <a:rPr lang="en-US" altLang="en-US" sz="2400" b="1" dirty="0">
                  <a:latin typeface="Arial" panose="020B0604020202020204" pitchFamily="34" charset="0"/>
                </a:rPr>
                <a:t>8.Mengstie, Berhanu Abnet, and Eden </a:t>
              </a:r>
              <a:r>
                <a:rPr lang="en-US" altLang="en-US" sz="2400" b="1" dirty="0" err="1">
                  <a:latin typeface="Arial" panose="020B0604020202020204" pitchFamily="34" charset="0"/>
                </a:rPr>
                <a:t>Aragaw</a:t>
              </a:r>
              <a:r>
                <a:rPr lang="en-US" altLang="en-US" sz="2400" b="1" dirty="0">
                  <a:latin typeface="Arial" panose="020B0604020202020204" pitchFamily="34" charset="0"/>
                </a:rPr>
                <a:t> Addisu.</a:t>
              </a:r>
              <a:r>
                <a:rPr lang="en-US" altLang="en-US" sz="2400" dirty="0">
                  <a:latin typeface="Arial" panose="020B0604020202020204" pitchFamily="34" charset="0"/>
                </a:rPr>
                <a:t> "Evaluation of Fuel Theft Prevention System with Integrated Sensors." </a:t>
              </a:r>
              <a:r>
                <a:rPr lang="en-US" altLang="en-US" sz="2400" i="1" dirty="0">
                  <a:latin typeface="Arial" panose="020B0604020202020204" pitchFamily="34" charset="0"/>
                </a:rPr>
                <a:t>SSRN</a:t>
              </a:r>
              <a:r>
                <a:rPr lang="en-US" altLang="en-US" sz="2400" dirty="0">
                  <a:latin typeface="Arial" panose="020B0604020202020204" pitchFamily="34" charset="0"/>
                </a:rPr>
                <a:t>, 2024.</a:t>
              </a:r>
            </a:p>
            <a:p>
              <a:pPr marL="0" indent="0">
                <a:spcBef>
                  <a:spcPct val="0"/>
                </a:spcBef>
                <a:buNone/>
              </a:pPr>
              <a:endParaRPr lang="en-US" altLang="en-US" sz="2400" dirty="0">
                <a:latin typeface="Arial" panose="020B0604020202020204" pitchFamily="34" charset="0"/>
              </a:endParaRPr>
            </a:p>
            <a:p>
              <a:pPr marL="0" indent="0">
                <a:spcBef>
                  <a:spcPct val="0"/>
                </a:spcBef>
                <a:buNone/>
              </a:pPr>
              <a:r>
                <a:rPr lang="en-US" altLang="en-US" sz="2400" b="1" dirty="0">
                  <a:latin typeface="Arial" panose="020B0604020202020204" pitchFamily="34" charset="0"/>
                </a:rPr>
                <a:t>9.Kumar, Vasanth, et al.</a:t>
              </a:r>
              <a:r>
                <a:rPr lang="en-US" altLang="en-US" sz="2400" dirty="0">
                  <a:latin typeface="Arial" panose="020B0604020202020204" pitchFamily="34" charset="0"/>
                </a:rPr>
                <a:t> "Vehicle Fuel Theft Detection and Monitoring System." </a:t>
              </a:r>
              <a:r>
                <a:rPr lang="en-US" altLang="en-US" sz="2400" i="1" dirty="0">
                  <a:latin typeface="Arial" panose="020B0604020202020204" pitchFamily="34" charset="0"/>
                </a:rPr>
                <a:t>Journal of Emerging Technologies and Innovative Research</a:t>
              </a:r>
              <a:r>
                <a:rPr lang="en-US" altLang="en-US" sz="2400" dirty="0">
                  <a:latin typeface="Arial" panose="020B0604020202020204" pitchFamily="34" charset="0"/>
                </a:rPr>
                <a:t>, 2024.</a:t>
              </a:r>
            </a:p>
            <a:p>
              <a:pPr marL="557213" indent="-557213">
                <a:spcBef>
                  <a:spcPct val="0"/>
                </a:spcBef>
                <a:buFont typeface="+mj-lt"/>
                <a:buAutoNum type="arabicPeriod"/>
              </a:pPr>
              <a:endParaRPr lang="en-US" altLang="en-US" sz="2400" dirty="0">
                <a:latin typeface="Arial" panose="020B0604020202020204" pitchFamily="34" charset="0"/>
              </a:endParaRPr>
            </a:p>
            <a:p>
              <a:pPr marL="0" indent="0">
                <a:spcBef>
                  <a:spcPct val="0"/>
                </a:spcBef>
                <a:buNone/>
              </a:pPr>
              <a:r>
                <a:rPr lang="en-US" altLang="en-US" sz="2400" b="1" dirty="0">
                  <a:latin typeface="Arial" panose="020B0604020202020204" pitchFamily="34" charset="0"/>
                </a:rPr>
                <a:t>10.Deepika and Sneha H. R.</a:t>
              </a:r>
              <a:r>
                <a:rPr lang="en-US" altLang="en-US" sz="2400" dirty="0">
                  <a:latin typeface="Arial" panose="020B0604020202020204" pitchFamily="34" charset="0"/>
                </a:rPr>
                <a:t> "Smart Fuel Theft Detection and Monitoring System Using IoT with GPS and GSM Integration." </a:t>
              </a:r>
              <a:r>
                <a:rPr lang="en-US" altLang="en-US" sz="2400" i="1" dirty="0">
                  <a:latin typeface="Arial" panose="020B0604020202020204" pitchFamily="34" charset="0"/>
                </a:rPr>
                <a:t>Journal of Emerging Technologies and Innovative Research (JETIR)</a:t>
              </a:r>
              <a:r>
                <a:rPr lang="en-US" altLang="en-US" sz="2400" dirty="0">
                  <a:latin typeface="Arial" panose="020B0604020202020204" pitchFamily="34" charset="0"/>
                </a:rPr>
                <a:t>, 2025.</a:t>
              </a:r>
            </a:p>
            <a:p>
              <a:pPr marL="557213" indent="-557213" algn="ctr" eaLnBrk="1" hangingPunct="1">
                <a:lnSpc>
                  <a:spcPts val="1999"/>
                </a:lnSpc>
                <a:spcBef>
                  <a:spcPct val="0"/>
                </a:spcBef>
                <a:buFont typeface="+mj-lt"/>
                <a:buAutoNum type="arabicPeriod"/>
              </a:pPr>
              <a:endParaRPr lang="en-US" altLang="en-US" sz="2400" dirty="0"/>
            </a:p>
          </p:txBody>
        </p:sp>
      </p:grpSp>
      <p:sp>
        <p:nvSpPr>
          <p:cNvPr id="10" name="TextBox 10">
            <a:extLst>
              <a:ext uri="{FF2B5EF4-FFF2-40B4-BE49-F238E27FC236}">
                <a16:creationId xmlns:a16="http://schemas.microsoft.com/office/drawing/2014/main" id="{2DF4B78A-446A-01FF-911A-B40734DC200C}"/>
              </a:ext>
            </a:extLst>
          </p:cNvPr>
          <p:cNvSpPr txBox="1"/>
          <p:nvPr/>
        </p:nvSpPr>
        <p:spPr>
          <a:xfrm>
            <a:off x="3559742" y="1409918"/>
            <a:ext cx="11708890" cy="820738"/>
          </a:xfrm>
          <a:prstGeom prst="rect">
            <a:avLst/>
          </a:prstGeom>
        </p:spPr>
        <p:txBody>
          <a:bodyPr wrap="square" lIns="0" tIns="0" rIns="0" bIns="0">
            <a:spAutoFit/>
          </a:bodyPr>
          <a:lstStyle/>
          <a:p>
            <a:pPr algn="ctr" defTabSz="685800">
              <a:lnSpc>
                <a:spcPts val="6420"/>
              </a:lnSpc>
              <a:defRPr/>
            </a:pPr>
            <a:r>
              <a:rPr lang="en-US" sz="6000" b="1" dirty="0">
                <a:solidFill>
                  <a:srgbClr val="3C3F42"/>
                </a:solidFill>
                <a:ea typeface="Aileron Bold"/>
                <a:cs typeface="Aileron Bold"/>
                <a:sym typeface="Aileron Bold"/>
              </a:rPr>
              <a:t>References</a:t>
            </a:r>
            <a:endParaRPr lang="en-US" sz="6000" b="1" dirty="0">
              <a:solidFill>
                <a:srgbClr val="000000"/>
              </a:solidFill>
              <a:latin typeface="+mj-lt"/>
              <a:ea typeface="Alegreya Sans SC Bold" panose="00000800000000000000"/>
              <a:cs typeface="Alegreya Sans SC Bold" panose="00000800000000000000"/>
              <a:sym typeface="Alegreya Sans SC Bold" panose="00000800000000000000"/>
            </a:endParaRPr>
          </a:p>
        </p:txBody>
      </p:sp>
      <p:sp>
        <p:nvSpPr>
          <p:cNvPr id="7" name="Rectangle 5">
            <a:extLst>
              <a:ext uri="{FF2B5EF4-FFF2-40B4-BE49-F238E27FC236}">
                <a16:creationId xmlns:a16="http://schemas.microsoft.com/office/drawing/2014/main" id="{0AA4CB84-FC90-012F-D80B-F542B4B96FBE}"/>
              </a:ext>
            </a:extLst>
          </p:cNvPr>
          <p:cNvSpPr>
            <a:spLocks noChangeArrowheads="1"/>
          </p:cNvSpPr>
          <p:nvPr/>
        </p:nvSpPr>
        <p:spPr bwMode="auto">
          <a:xfrm>
            <a:off x="2257697" y="1123775"/>
            <a:ext cx="233407" cy="324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a:buFontTx/>
              <a:buChar char="•"/>
            </a:pPr>
            <a:endParaRPr lang="en-US" altLang="en-US" sz="1350" dirty="0">
              <a:latin typeface="Arial" panose="020B0604020202020204" pitchFamily="34" charset="0"/>
            </a:endParaRPr>
          </a:p>
        </p:txBody>
      </p:sp>
      <p:sp>
        <p:nvSpPr>
          <p:cNvPr id="3" name="Rectangle 2">
            <a:extLst>
              <a:ext uri="{FF2B5EF4-FFF2-40B4-BE49-F238E27FC236}">
                <a16:creationId xmlns:a16="http://schemas.microsoft.com/office/drawing/2014/main" id="{CAE706DA-DB0A-833C-30D7-D9A9F02A12BB}"/>
              </a:ext>
            </a:extLst>
          </p:cNvPr>
          <p:cNvSpPr>
            <a:spLocks noChangeArrowheads="1"/>
          </p:cNvSpPr>
          <p:nvPr/>
        </p:nvSpPr>
        <p:spPr bwMode="auto">
          <a:xfrm>
            <a:off x="2257697" y="1123775"/>
            <a:ext cx="233407" cy="324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a:buFontTx/>
              <a:buChar char="•"/>
            </a:pPr>
            <a:endParaRPr lang="en-US" altLang="en-US" sz="1350" dirty="0">
              <a:latin typeface="Arial" panose="020B0604020202020204" pitchFamily="34" charset="0"/>
            </a:endParaRPr>
          </a:p>
        </p:txBody>
      </p:sp>
    </p:spTree>
    <p:extLst>
      <p:ext uri="{BB962C8B-B14F-4D97-AF65-F5344CB8AC3E}">
        <p14:creationId xmlns:p14="http://schemas.microsoft.com/office/powerpoint/2010/main" val="1277681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reeform 2"/>
          <p:cNvSpPr/>
          <p:nvPr/>
        </p:nvSpPr>
        <p:spPr>
          <a:xfrm rot="-5400000">
            <a:off x="4057651" y="-3943351"/>
            <a:ext cx="10172700" cy="18288002"/>
          </a:xfrm>
          <a:custGeom>
            <a:avLst/>
            <a:gdLst/>
            <a:ahLst/>
            <a:cxnLst>
              <a:cxn ang="0">
                <a:pos x="0" y="0"/>
              </a:cxn>
              <a:cxn ang="0">
                <a:pos x="10287000" y="0"/>
              </a:cxn>
              <a:cxn ang="0">
                <a:pos x="10287000" y="18288000"/>
              </a:cxn>
              <a:cxn ang="0">
                <a:pos x="0" y="18288000"/>
              </a:cxn>
              <a:cxn ang="0">
                <a:pos x="0" y="0"/>
              </a:cxn>
            </a:cxnLst>
            <a:rect l="0" t="0" r="0" b="0"/>
            <a:pathLst>
              <a:path w="10287000" h="18288000">
                <a:moveTo>
                  <a:pt x="0" y="0"/>
                </a:moveTo>
                <a:lnTo>
                  <a:pt x="10287000" y="0"/>
                </a:lnTo>
                <a:lnTo>
                  <a:pt x="10287000" y="18288000"/>
                </a:lnTo>
                <a:lnTo>
                  <a:pt x="0" y="18288000"/>
                </a:lnTo>
                <a:lnTo>
                  <a:pt x="0" y="0"/>
                </a:lnTo>
                <a:close/>
              </a:path>
            </a:pathLst>
          </a:custGeom>
          <a:blipFill rotWithShape="1">
            <a:blip r:embed="rId2"/>
            <a:stretch>
              <a:fillRect/>
            </a:stretch>
          </a:blipFill>
          <a:ln w="9525">
            <a:noFill/>
          </a:ln>
        </p:spPr>
        <p:txBody>
          <a:bodyPr/>
          <a:lstStyle/>
          <a:p>
            <a:endParaRPr lang="en-US"/>
          </a:p>
        </p:txBody>
      </p:sp>
      <p:sp>
        <p:nvSpPr>
          <p:cNvPr id="15363" name="Freeform 3"/>
          <p:cNvSpPr/>
          <p:nvPr/>
        </p:nvSpPr>
        <p:spPr>
          <a:xfrm flipV="1">
            <a:off x="2380458" y="1314865"/>
            <a:ext cx="2359025" cy="2332814"/>
          </a:xfrm>
          <a:custGeom>
            <a:avLst/>
            <a:gdLst/>
            <a:ahLst/>
            <a:cxnLst>
              <a:cxn ang="0">
                <a:pos x="0" y="2359025"/>
              </a:cxn>
              <a:cxn ang="0">
                <a:pos x="2359025" y="2359025"/>
              </a:cxn>
              <a:cxn ang="0">
                <a:pos x="2359025" y="0"/>
              </a:cxn>
              <a:cxn ang="0">
                <a:pos x="0" y="0"/>
              </a:cxn>
              <a:cxn ang="0">
                <a:pos x="0" y="2359025"/>
              </a:cxn>
            </a:cxnLst>
            <a:rect l="0" t="0" r="0" b="0"/>
            <a:pathLst>
              <a:path w="2359274" h="2359274">
                <a:moveTo>
                  <a:pt x="0" y="2359274"/>
                </a:moveTo>
                <a:lnTo>
                  <a:pt x="2359274" y="2359274"/>
                </a:lnTo>
                <a:lnTo>
                  <a:pt x="2359274" y="0"/>
                </a:lnTo>
                <a:lnTo>
                  <a:pt x="0" y="0"/>
                </a:lnTo>
                <a:lnTo>
                  <a:pt x="0" y="2359274"/>
                </a:lnTo>
                <a:close/>
              </a:path>
            </a:pathLst>
          </a:custGeom>
          <a:blipFill rotWithShape="1">
            <a:blip r:embed="rId3"/>
            <a:stretch>
              <a:fillRect/>
            </a:stretch>
          </a:blipFill>
          <a:ln w="9525">
            <a:noFill/>
          </a:ln>
        </p:spPr>
        <p:txBody>
          <a:bodyPr/>
          <a:lstStyle/>
          <a:p>
            <a:endParaRPr lang="en-US"/>
          </a:p>
        </p:txBody>
      </p:sp>
      <p:sp>
        <p:nvSpPr>
          <p:cNvPr id="15364" name="Freeform 4"/>
          <p:cNvSpPr/>
          <p:nvPr/>
        </p:nvSpPr>
        <p:spPr>
          <a:xfrm flipH="1">
            <a:off x="13605669" y="6541710"/>
            <a:ext cx="2359025" cy="2332814"/>
          </a:xfrm>
          <a:custGeom>
            <a:avLst/>
            <a:gdLst/>
            <a:ahLst/>
            <a:cxnLst>
              <a:cxn ang="0">
                <a:pos x="2359025" y="0"/>
              </a:cxn>
              <a:cxn ang="0">
                <a:pos x="0" y="0"/>
              </a:cxn>
              <a:cxn ang="0">
                <a:pos x="0" y="2359025"/>
              </a:cxn>
              <a:cxn ang="0">
                <a:pos x="2359025" y="2359025"/>
              </a:cxn>
              <a:cxn ang="0">
                <a:pos x="2359025" y="0"/>
              </a:cxn>
            </a:cxnLst>
            <a:rect l="0" t="0" r="0" b="0"/>
            <a:pathLst>
              <a:path w="2359274" h="2359274">
                <a:moveTo>
                  <a:pt x="2359274" y="0"/>
                </a:moveTo>
                <a:lnTo>
                  <a:pt x="0" y="0"/>
                </a:lnTo>
                <a:lnTo>
                  <a:pt x="0" y="2359274"/>
                </a:lnTo>
                <a:lnTo>
                  <a:pt x="2359274" y="2359274"/>
                </a:lnTo>
                <a:lnTo>
                  <a:pt x="2359274" y="0"/>
                </a:lnTo>
                <a:close/>
              </a:path>
            </a:pathLst>
          </a:custGeom>
          <a:blipFill rotWithShape="1">
            <a:blip r:embed="rId3"/>
            <a:stretch>
              <a:fillRect/>
            </a:stretch>
          </a:blipFill>
          <a:ln w="9525">
            <a:noFill/>
          </a:ln>
        </p:spPr>
        <p:txBody>
          <a:bodyPr/>
          <a:lstStyle/>
          <a:p>
            <a:endParaRPr lang="en-US"/>
          </a:p>
        </p:txBody>
      </p:sp>
      <p:sp>
        <p:nvSpPr>
          <p:cNvPr id="15365" name="Freeform 5"/>
          <p:cNvSpPr/>
          <p:nvPr/>
        </p:nvSpPr>
        <p:spPr>
          <a:xfrm>
            <a:off x="13386197" y="1114901"/>
            <a:ext cx="4114800" cy="4069080"/>
          </a:xfrm>
          <a:custGeom>
            <a:avLst/>
            <a:gdLst/>
            <a:ahLst/>
            <a:cxnLst>
              <a:cxn ang="0">
                <a:pos x="0" y="0"/>
              </a:cxn>
              <a:cxn ang="0">
                <a:pos x="4114800" y="0"/>
              </a:cxn>
              <a:cxn ang="0">
                <a:pos x="4114800" y="4114800"/>
              </a:cxn>
              <a:cxn ang="0">
                <a:pos x="0" y="4114800"/>
              </a:cxn>
              <a:cxn ang="0">
                <a:pos x="0" y="0"/>
              </a:cxn>
            </a:cxnLst>
            <a:rect l="0" t="0" r="0" b="0"/>
            <a:pathLst>
              <a:path w="4114800" h="4114800">
                <a:moveTo>
                  <a:pt x="0" y="0"/>
                </a:moveTo>
                <a:lnTo>
                  <a:pt x="4114800" y="0"/>
                </a:lnTo>
                <a:lnTo>
                  <a:pt x="4114800" y="4114800"/>
                </a:lnTo>
                <a:lnTo>
                  <a:pt x="0" y="4114800"/>
                </a:lnTo>
                <a:lnTo>
                  <a:pt x="0" y="0"/>
                </a:lnTo>
                <a:close/>
              </a:path>
            </a:pathLst>
          </a:custGeom>
          <a:blipFill rotWithShape="1">
            <a:blip r:embed="rId4">
              <a:alphaModFix amt="24001"/>
            </a:blip>
            <a:stretch>
              <a:fillRect/>
            </a:stretch>
          </a:blipFill>
          <a:ln w="9525">
            <a:noFill/>
          </a:ln>
        </p:spPr>
        <p:txBody>
          <a:bodyPr/>
          <a:lstStyle/>
          <a:p>
            <a:endParaRPr lang="en-US"/>
          </a:p>
        </p:txBody>
      </p:sp>
      <p:sp>
        <p:nvSpPr>
          <p:cNvPr id="6" name="TextBox 6"/>
          <p:cNvSpPr txBox="1"/>
          <p:nvPr/>
        </p:nvSpPr>
        <p:spPr>
          <a:xfrm>
            <a:off x="3354349" y="3745290"/>
            <a:ext cx="12709526" cy="1833835"/>
          </a:xfrm>
          <a:prstGeom prst="rect">
            <a:avLst/>
          </a:prstGeom>
        </p:spPr>
        <p:txBody>
          <a:bodyPr wrap="square" lIns="0" tIns="0" rIns="0" bIns="0">
            <a:spAutoFit/>
          </a:bodyPr>
          <a:lstStyle/>
          <a:p>
            <a:pPr defTabSz="685800">
              <a:lnSpc>
                <a:spcPts val="14276"/>
              </a:lnSpc>
              <a:defRPr/>
            </a:pPr>
            <a:r>
              <a:rPr lang="en-US" sz="13343" dirty="0">
                <a:solidFill>
                  <a:srgbClr val="000000"/>
                </a:solidFill>
                <a:latin typeface="Alegreya Sans SC" panose="00000500000000000000"/>
                <a:ea typeface="Alegreya Sans SC" panose="00000500000000000000"/>
                <a:cs typeface="Alegreya Sans SC" panose="00000500000000000000"/>
                <a:sym typeface="Alegreya Sans SC" panose="00000500000000000000"/>
              </a:rPr>
              <a:t>Thank</a:t>
            </a:r>
          </a:p>
        </p:txBody>
      </p:sp>
      <p:sp>
        <p:nvSpPr>
          <p:cNvPr id="7" name="TextBox 7"/>
          <p:cNvSpPr txBox="1"/>
          <p:nvPr/>
        </p:nvSpPr>
        <p:spPr>
          <a:xfrm>
            <a:off x="8391525" y="3799912"/>
            <a:ext cx="6019800" cy="1833835"/>
          </a:xfrm>
          <a:prstGeom prst="rect">
            <a:avLst/>
          </a:prstGeom>
        </p:spPr>
        <p:txBody>
          <a:bodyPr wrap="square" lIns="0" tIns="0" rIns="0" bIns="0">
            <a:spAutoFit/>
          </a:bodyPr>
          <a:lstStyle/>
          <a:p>
            <a:pPr defTabSz="685800">
              <a:lnSpc>
                <a:spcPts val="14284"/>
              </a:lnSpc>
              <a:defRPr/>
            </a:pPr>
            <a:r>
              <a:rPr lang="en-US" sz="13350" b="1" dirty="0">
                <a:solidFill>
                  <a:srgbClr val="000000"/>
                </a:solidFill>
                <a:latin typeface="Alegreya Sans SC Bold" panose="00000800000000000000"/>
                <a:ea typeface="Alegreya Sans SC Bold" panose="00000800000000000000"/>
                <a:cs typeface="Alegreya Sans SC Bold" panose="00000800000000000000"/>
                <a:sym typeface="Alegreya Sans SC Bold" panose="00000800000000000000"/>
              </a:rPr>
              <a:t>You</a:t>
            </a:r>
          </a:p>
        </p:txBody>
      </p:sp>
      <p:sp>
        <p:nvSpPr>
          <p:cNvPr id="15368" name="Freeform 8"/>
          <p:cNvSpPr/>
          <p:nvPr/>
        </p:nvSpPr>
        <p:spPr>
          <a:xfrm>
            <a:off x="1992115" y="6503561"/>
            <a:ext cx="2693989" cy="2664055"/>
          </a:xfrm>
          <a:custGeom>
            <a:avLst/>
            <a:gdLst/>
            <a:ahLst/>
            <a:cxnLst>
              <a:cxn ang="0">
                <a:pos x="0" y="0"/>
              </a:cxn>
              <a:cxn ang="0">
                <a:pos x="2693988" y="0"/>
              </a:cxn>
              <a:cxn ang="0">
                <a:pos x="2693988" y="2693988"/>
              </a:cxn>
              <a:cxn ang="0">
                <a:pos x="0" y="2693988"/>
              </a:cxn>
              <a:cxn ang="0">
                <a:pos x="0" y="0"/>
              </a:cxn>
            </a:cxnLst>
            <a:rect l="0" t="0" r="0" b="0"/>
            <a:pathLst>
              <a:path w="2693378" h="2693378">
                <a:moveTo>
                  <a:pt x="0" y="0"/>
                </a:moveTo>
                <a:lnTo>
                  <a:pt x="2693378" y="0"/>
                </a:lnTo>
                <a:lnTo>
                  <a:pt x="2693378" y="2693378"/>
                </a:lnTo>
                <a:lnTo>
                  <a:pt x="0" y="2693378"/>
                </a:lnTo>
                <a:lnTo>
                  <a:pt x="0" y="0"/>
                </a:lnTo>
                <a:close/>
              </a:path>
            </a:pathLst>
          </a:custGeom>
          <a:blipFill rotWithShape="1">
            <a:blip r:embed="rId4">
              <a:alphaModFix amt="24001"/>
            </a:blip>
            <a:stretch>
              <a:fillRect/>
            </a:stretch>
          </a:blipFill>
          <a:ln w="9525">
            <a:no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87</TotalTime>
  <Words>1505</Words>
  <Application>Microsoft Office PowerPoint</Application>
  <PresentationFormat>Custom</PresentationFormat>
  <Paragraphs>120</Paragraphs>
  <Slides>15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Wingdings</vt:lpstr>
      <vt:lpstr>Calibri</vt:lpstr>
      <vt:lpstr>Aileron Bold</vt:lpstr>
      <vt:lpstr>Arial</vt:lpstr>
      <vt:lpstr>Alegreya Sans SC</vt:lpstr>
      <vt:lpstr>Calibri (Body)</vt:lpstr>
      <vt:lpstr>Calibri Light</vt:lpstr>
      <vt:lpstr>Times New Roman</vt:lpstr>
      <vt:lpstr>Alegreya Sans SC Bold</vt:lpstr>
      <vt:lpstr>Aileron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Merry Ida</dc:creator>
  <cp:lastModifiedBy>abdul rahman</cp:lastModifiedBy>
  <cp:revision>15</cp:revision>
  <dcterms:created xsi:type="dcterms:W3CDTF">2006-08-16T00:00:00Z</dcterms:created>
  <dcterms:modified xsi:type="dcterms:W3CDTF">2025-12-08T11:45:45Z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7D11AF9516C94E0D993B4B6503A8FD3E_13</vt:lpwstr>
  </property>
  <property fmtid="{D5CDD505-2E9C-101B-9397-08002B2CF9AE}" pid="3" name="KSOProductBuildVer">
    <vt:lpwstr>1033-12.2.0.22549</vt:lpwstr>
  </property>
</Properties>
</file>